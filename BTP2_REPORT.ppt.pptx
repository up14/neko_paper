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54864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88952" cy="54864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9B00"/>
                </a:solidFill>
                <a:latin typeface="Calibri"/>
              </a:rPr>
              <a:t>Indian Institute of Technology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Calibri"/>
              </a:rPr>
              <a:t>Department of Energy Science and Engineering  |  BTP2 — Spring Semester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KGMiner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F4FA"/>
                </a:solidFill>
                <a:latin typeface="Calibri"/>
              </a:rPr>
              <a:t>Enhanced Knowledge Graph Mining with
Ontology-Constrained Multi-Pass Extraction
and Graph-RAG for Scientific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Upanshu Jain  |  Roll No: 22BT10035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Supervisor: Prof. Amit Ghosh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56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Calibri"/>
              </a:rPr>
              <a:t>Mentor: Mr. Sayan Saha Roy (PhD Scholar)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114800"/>
            <a:ext cx="1920240" cy="77724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4,722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4517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Typed Triples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4114800"/>
            <a:ext cx="1920240" cy="77724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2,996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517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Unique 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029200"/>
            <a:ext cx="1920240" cy="77724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226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5431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PubMed Articles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5029200"/>
            <a:ext cx="1920240" cy="77724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+170.6%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5431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Recall 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  <a:latin typeface="Calibri"/>
              </a:rPr>
              <a:t>Biotechnology and Biochemical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188720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2252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54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BTP1 achievements and identified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75688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75688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1122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Objectives of BTP2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414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Four core limitations to address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62656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62656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962656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999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KGMiner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3284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6-stage automated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9624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49624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849624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Key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21538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4,722 triples, 170.6% recall gain, Graph-RAG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36592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36592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36592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Query Output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1023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BTP1 vs KGMiner verbatim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23559"/>
            <a:ext cx="50292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59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59B00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623559"/>
            <a:ext cx="10881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6601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6E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989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6E"/>
                </a:solidFill>
                <a:latin typeface="Calibri"/>
              </a:rPr>
              <a:t>Contributions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Background: BTP1 (NEKO Implementation)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What we achieved — and what remained unsolved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577840" cy="3657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BTP1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114411"/>
                </a:solidFill>
                <a:latin typeface="Calibri"/>
              </a:rPr>
              <a:t>▸  Implemented NEKO workflow locally (free-tier LLMs)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14411"/>
                </a:solidFill>
                <a:latin typeface="Calibri"/>
              </a:rPr>
              <a:t>▸  Processed 1,088 Rhodococcus abstracts from PubMed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14411"/>
                </a:solidFill>
                <a:latin typeface="Calibri"/>
              </a:rPr>
              <a:t>▸  Built knowledge graph with 180+ unique nodes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14411"/>
                </a:solidFill>
                <a:latin typeface="Calibri"/>
              </a:rPr>
              <a:t>▸  Demonstrated advantage over zero-shot GPT-4 queries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14411"/>
                </a:solidFill>
                <a:latin typeface="Calibri"/>
              </a:rPr>
              <a:t>▸  Validated data provenance and traceability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365760"/>
          </a:xfrm>
          <a:prstGeom prst="rect">
            <a:avLst/>
          </a:prstGeom>
          <a:solidFill>
            <a:srgbClr val="99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070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  Critical Gaps 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771111"/>
                </a:solidFill>
                <a:latin typeface="Calibri"/>
              </a:rPr>
              <a:t>▸  Untyped relationships — no activation vs inhibition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771111"/>
                </a:solidFill>
                <a:latin typeface="Calibri"/>
              </a:rPr>
              <a:t>▸  Single-pass extraction missed secondary details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771111"/>
                </a:solidFill>
                <a:latin typeface="Calibri"/>
              </a:rPr>
              <a:t>▸  Keyword-only queries — required exact entity names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771111"/>
                </a:solidFill>
                <a:latin typeface="Calibri"/>
              </a:rPr>
              <a:t>▸  Hallucination risk in answer synthesis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771111"/>
                </a:solidFill>
                <a:latin typeface="Calibri"/>
              </a:rPr>
              <a:t>▸  No quantitative metric capture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989320"/>
            <a:ext cx="11548872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076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64400"/>
                </a:solidFill>
                <a:latin typeface="Calibri"/>
              </a:rPr>
              <a:t>BTP2 Goal: Directly address each of these 4 limitations through the KGMiner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Objectives of BTP2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Four targeted architectural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669280" cy="237744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59B0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Ontology-Constrained
Triple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  <a:latin typeface="Calibri"/>
              </a:rPr>
              <a:t>Replace untyped associations with (Subject, Relation, Object)
triples using a 13-relation controlled biological vocabulary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69280" cy="23774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59B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Multi-Pass Extraction
with Refinement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  <a:latin typeface="Calibri"/>
              </a:rPr>
              <a:t>Apply 3 sequential extraction passes + 1 independent
validation pass per abstract to improve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5669280" cy="2377440"/>
          </a:xfrm>
          <a:prstGeom prst="rect">
            <a:avLst/>
          </a:prstGeom>
          <a:solidFill>
            <a:srgbClr val="7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59B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Graph-RAG Querying
with Semantic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5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  <a:latin typeface="Calibri"/>
              </a:rPr>
              <a:t>Enable full natural-language queries via embedding-based
semantic search over 4,722 typed triple embeddings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669280" cy="237744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7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59B00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Anti-Hallucination
Answer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5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  <a:latin typeface="Calibri"/>
              </a:rPr>
              <a:t>Trace every claim in generated answers to specific extracted
triples and source PMIDs — no ungrounded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KGMiner: 6-Stage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783080" cy="5029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C8A"/>
                </a:solidFill>
                <a:latin typeface="Calibri"/>
              </a:rPr>
              <a:t>Automated
Query 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LLM decomposes research
goal → 3 PubMed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16916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1408" y="1188720"/>
            <a:ext cx="1783080" cy="5029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7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A"/>
                </a:solidFill>
                <a:latin typeface="Calibri"/>
              </a:rPr>
              <a:t>Literature
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7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PubMed Entrez API
with relevance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16916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14215" y="1188720"/>
            <a:ext cx="1783080" cy="502920"/>
          </a:xfrm>
          <a:prstGeom prst="rect">
            <a:avLst/>
          </a:prstGeom>
          <a:solidFill>
            <a:srgbClr val="7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14215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9935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3A8A"/>
                </a:solidFill>
                <a:latin typeface="Calibri"/>
              </a:rPr>
              <a:t>Ontology
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5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3-pass LLM extraction
13-relation vocabulary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6916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7023" y="1188720"/>
            <a:ext cx="1783080" cy="502920"/>
          </a:xfrm>
          <a:prstGeom prst="rect">
            <a:avLst/>
          </a:prstGeom>
          <a:solidFill>
            <a:srgbClr val="8A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2743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7023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3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6A0A"/>
                </a:solidFill>
                <a:latin typeface="Calibri"/>
              </a:rPr>
              <a:t>Normaliz-
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3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Embedding-based entity
deduplication + chains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7" y="16916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188720"/>
            <a:ext cx="1783080" cy="50292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9831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3A1A"/>
                </a:solidFill>
                <a:latin typeface="Calibri"/>
              </a:rPr>
              <a:t>Graph
Construction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NetworkX directed
multigraph with typed edges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5" y="16916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1188720"/>
            <a:ext cx="1783080" cy="502920"/>
          </a:xfrm>
          <a:prstGeom prst="rect">
            <a:avLst/>
          </a:prstGeom>
          <a:solidFill>
            <a:srgbClr val="2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1207008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1719072"/>
            <a:ext cx="178308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1737360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5A6A"/>
                </a:solidFill>
                <a:latin typeface="Calibri"/>
              </a:rPr>
              <a:t>Graph-RAG
Querying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2331720"/>
            <a:ext cx="16916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Semantic search + anti-
hallucination synthesis</a:t>
            </a:r>
          </a:p>
        </p:txBody>
      </p:sp>
      <p:pic>
        <p:nvPicPr>
          <p:cNvPr id="42" name="Picture 41" descr="fig1_pip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54680"/>
            <a:ext cx="115214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Controlled Ontology: 13-Relation Biological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Replaces untyped associations with semantically typed predicates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618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activates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88720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80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promotes activity of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26187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inhibits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88720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280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suppresses activity of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01952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97510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produces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901952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9933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synthesizes compound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01952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97510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encodes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901952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9933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Gene A → encodes protein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15184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68833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is_a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615184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7066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is a subtype/class of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615184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68833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has_capability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15184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7066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Organism A → can perform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28415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40156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increases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328415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41985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upregulates quantity of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328415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40156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decreases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328415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41985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→ downregulates quantity of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041648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1148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has_metric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4041648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41330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Entity A → has measured value 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041648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41148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integrated_in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041648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41330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Gene/pathway A → embedded in 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754880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48280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is_host_for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4754880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4846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Organism A → hosts pathway/gene 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4754880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48280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is_variant_of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754880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46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Strain A → variant of organism 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468112"/>
            <a:ext cx="2103120" cy="56692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554126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9B00"/>
                </a:solidFill>
                <a:latin typeface="Calibri"/>
              </a:rPr>
              <a:t>depends_on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5468112"/>
            <a:ext cx="3749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5559551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Process A → requires factor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053328"/>
            <a:ext cx="11548872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511"/>
                </a:solidFill>
                <a:latin typeface="Calibri"/>
              </a:rPr>
              <a:t>Result: 73.5% of 4,722 triples use canonical vocabulary  •  41 raw relation synonyms → 13 canonical types  •  26.5% non-canonical captured as extended triples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Multi-Pass Extraction: Closing the Recall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3 sequential passes + 1 independent validation pass per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E"/>
                </a:solidFill>
                <a:latin typeface="Calibri"/>
              </a:rPr>
              <a:t>Pass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2860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 1 — Exhaustive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0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Extract ALL entity-relation triples from the full abstract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68880"/>
            <a:ext cx="22860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420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 2 — Overlooked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60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Re-read abstract focusing on secondary/implied relationships missed in Pass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29000"/>
            <a:ext cx="22860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0215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 3 — Gap-Filling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520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Extract implied relationships and supporting context not yet captured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89120"/>
            <a:ext cx="2286000" cy="7772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4622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Validation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4805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Independent single-pass extraction; used to compute Jaccard stability score</a:t>
            </a:r>
          </a:p>
        </p:txBody>
      </p:sp>
      <p:pic>
        <p:nvPicPr>
          <p:cNvPr id="21" name="Picture 20" descr="fig10_ab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6035040" cy="4114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0040" y="5961888"/>
            <a:ext cx="5486400" cy="658368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511"/>
                </a:solidFill>
                <a:latin typeface="Calibri"/>
              </a:rPr>
              <a:t>316 triples (single-pass)  →  855 triples (multi-pass)
+170.6% recall on 15-article ablation study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5961888"/>
            <a:ext cx="6035040" cy="6583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598017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E"/>
                </a:solidFill>
                <a:latin typeface="Calibri"/>
              </a:rPr>
              <a:t>Pass 1: 45.7%  •  Pass 2: 35.3%  •  Pass 3: 18.9%
Each pass contributes meaningfully — diminishing returns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Results: Beta-Carotene Biosynthesis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226 PubMed articles processed — beta-carotene production in microorganisms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657600" cy="1600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4,722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Typed Triples
Extracted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16002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325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2,996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Normalized
Entities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657600" cy="1600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PubMed Articles
Processed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3657600" cy="16002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598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has_metric Triples
(Quantitative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017520"/>
            <a:ext cx="3657600" cy="1600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1546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73.5%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Canonical Ontology
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017520"/>
            <a:ext cx="3657600" cy="16002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1546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9B00"/>
                </a:solidFill>
                <a:latin typeface="Calibri"/>
              </a:rPr>
              <a:t>+170.6%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Recall Gain
(Multi-Pass vs Single)</a:t>
            </a:r>
          </a:p>
        </p:txBody>
      </p:sp>
      <p:pic>
        <p:nvPicPr>
          <p:cNvPr id="26" name="Picture 25" descr="fig2_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937760"/>
            <a:ext cx="115214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Knowledge Graph: Structure and Relation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Directed multigraph with 13 typed edge types across 2,996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_graph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13232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1143000"/>
            <a:ext cx="4297680" cy="38404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161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 Canonical Relations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72768"/>
            <a:ext cx="4297680" cy="5486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62763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has_metric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62763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62763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12.7%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167128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2219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is_a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2199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22199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11.5%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761488"/>
            <a:ext cx="4297680" cy="5486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81635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has_capability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1635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81635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11.1%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355848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4107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produces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1071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41071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11.1%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950208"/>
            <a:ext cx="4297680" cy="5486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00507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activates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00507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487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00507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10.3%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544568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4599431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increases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599431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402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599431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8.5%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5138928"/>
            <a:ext cx="4297680" cy="5486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51937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encodes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519379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5193792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8.0%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733288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5788151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  <a:latin typeface="Calibri"/>
              </a:rPr>
              <a:t>inhibits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5788151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5788151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6E"/>
                </a:solidFill>
                <a:latin typeface="Calibri"/>
              </a:rPr>
              <a:t>6.2%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Jaccard Stability Score: Article Quality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Measures consistency between extraction passes and independent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56E"/>
                </a:solidFill>
                <a:latin typeface="Calibri"/>
              </a:rPr>
              <a:t>Stability = |Extraction ∩ Validation| / |Extraction ∪ Validation|</a:t>
            </a:r>
          </a:p>
        </p:txBody>
      </p:sp>
      <p:pic>
        <p:nvPicPr>
          <p:cNvPr id="9" name="Picture 8" descr="fig5_stability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6583680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40880" y="1691640"/>
            <a:ext cx="4846320" cy="21031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7373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511"/>
                </a:solidFill>
                <a:latin typeface="Calibri"/>
              </a:rPr>
              <a:t>Peak at 0.0 — 95 articles (42.0%)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031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Extraction and validation found complementary, non-overlapping triples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Low Jaccard does NOT mean failure — indicates extra coverage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Both triple sets are preserved via set union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931920"/>
            <a:ext cx="4846320" cy="2103120"/>
          </a:xfrm>
          <a:prstGeom prst="rect">
            <a:avLst/>
          </a:prstGeom>
          <a:solidFill>
            <a:srgbClr val="F4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97763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71111"/>
                </a:solidFill>
                <a:latin typeface="Calibri"/>
              </a:rPr>
              <a:t>Peak at 1.0 — 123 articles (54.4%)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Both extraction and validation found ZERO relationships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Articles retrieved by broad PubMed query but irrelevant to beta-carotene production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▸  Reliably filtered from productive article pool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Graph-RAG: Semantic Querying with Anti-Hallucination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Natural language → embedding search → evidence-grounded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① Natural Language
Query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2743200" cy="2286000"/>
          </a:xfrm>
          <a:prstGeom prst="rect">
            <a:avLst/>
          </a:prstGeom>
          <a:solidFill>
            <a:srgbClr val="F0F4FA"/>
          </a:solidFill>
          <a:ln w="127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User enters full question:
"How can we increase
beta-carotene production?"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207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② Triple
Embedding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37360"/>
            <a:ext cx="2743200" cy="2286000"/>
          </a:xfrm>
          <a:prstGeom prst="rect">
            <a:avLst/>
          </a:prstGeom>
          <a:solidFill>
            <a:srgbClr val="F0F4FA"/>
          </a:solidFill>
          <a:ln w="127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828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all-MiniLM-L6-v2 encodes query;
cosine similarity over 4,722
embedded triples; top-k=50 retrieved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07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③ Evidence-Grounded
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737360"/>
            <a:ext cx="2743200" cy="2286000"/>
          </a:xfrm>
          <a:prstGeom prst="rect">
            <a:avLst/>
          </a:prstGeom>
          <a:solidFill>
            <a:srgbClr val="F0F4FA"/>
          </a:solidFill>
          <a:ln w="127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 synthesizes answer ONLY
from retrieved triples; each claim
traced to triple ID + PMID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6E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188720"/>
            <a:ext cx="274320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207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④ Structured
Report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737360"/>
            <a:ext cx="2743200" cy="2286000"/>
          </a:xfrm>
          <a:prstGeom prst="rect">
            <a:avLst/>
          </a:prstGeom>
          <a:solidFill>
            <a:srgbClr val="F0F4FA"/>
          </a:solidFill>
          <a:ln w="127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828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Sections, tables, quantitative
metrics — all with source citations;
'NOT FOUND' for missing data</a:t>
            </a:r>
          </a:p>
        </p:txBody>
      </p:sp>
      <p:pic>
        <p:nvPicPr>
          <p:cNvPr id="27" name="Picture 26" descr="fig6_query_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60520"/>
            <a:ext cx="11612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Query Output Comparison: BTP1 vs KGMiner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Query: "How we can increase beta carotene production"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457200"/>
          </a:xfrm>
          <a:prstGeom prst="rect">
            <a:avLst/>
          </a:prstGeom>
          <a:solidFill>
            <a:srgbClr val="993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BTP1 / NEKO-Style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5669280" cy="4389120"/>
          </a:xfrm>
          <a:prstGeom prst="rect">
            <a:avLst/>
          </a:prstGeom>
          <a:solidFill>
            <a:srgbClr val="FFF5F0"/>
          </a:solidFill>
          <a:ln w="12700">
            <a:solidFill>
              <a:srgbClr val="CC8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Keyword: "beta-carotene"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Entities in graph: Yarrowia lipolytica,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E. coli, crtYB gene, lycopene, IPP,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MVA pathway, glucose...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Summary: Beta-carotene production involves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carotenoid pathway engineering. Metabolic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engineering including pathway overexpression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and carbon source optimization reported.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Further studies needed.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❌  No relation types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❌  No yield values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❌  No citations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441100"/>
                </a:solidFill>
                <a:latin typeface="Calibri"/>
              </a:rPr>
              <a:t>❌  Generic, untraced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669280" cy="457200"/>
          </a:xfrm>
          <a:prstGeom prst="rect">
            <a:avLst/>
          </a:prstGeom>
          <a:solidFill>
            <a:srgbClr val="1A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612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KGMiner — Verbatim System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27632"/>
            <a:ext cx="5669280" cy="4389120"/>
          </a:xfrm>
          <a:prstGeom prst="rect">
            <a:avLst/>
          </a:prstGeom>
          <a:solidFill>
            <a:srgbClr val="F0FFF0"/>
          </a:solidFill>
          <a:ln w="12700">
            <a:solidFill>
              <a:srgbClr val="77A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Metabolic Engineering: Overexpression of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all-trans-beta-carotene hydroxylase →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11.3-fold increase (PMID: 31193511).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Gene deletions → 107.3% increase.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Culture Medium: Glucose/peptone →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107.22 mg/L yield (PMID: 18633963).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pH 30°C → 78.9% decrease in H2O2.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Host Strategies: Yarrowia lipolytica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142 mg/L highest yield (PMID: 34983533).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✓  13 typed relations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✓  Specific yield metrics + PMIDs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004411"/>
                </a:solidFill>
                <a:latin typeface="Calibri"/>
              </a:rPr>
              <a:t>✓  23 papers synthesized, 50 triples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BTP1 vs BTP2: System-Level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KGMiner directly addresses each structural limitation of BTP1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103120" cy="4754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978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143000"/>
            <a:ext cx="3657600" cy="4754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19786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BTP1: NEKO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120640" cy="475488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197864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BTP2: KGMiner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64207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1907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Query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664207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7190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Manual keyword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664207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719072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Natural language (auto-decomposed)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85415"/>
            <a:ext cx="21031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240279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Relation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2185415"/>
            <a:ext cx="365760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312" y="224027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Untyped (any string)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85415"/>
            <a:ext cx="5120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2240279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13-relation controlled vocabulary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06624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76148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Extraction Passes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2706624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12" y="27614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Single 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706624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76148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3 extraction + 1 validation 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27832"/>
            <a:ext cx="21031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28269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Recall (15 articles)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3227832"/>
            <a:ext cx="365760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6312" y="32826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~316 triples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227832"/>
            <a:ext cx="5120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328269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855 triples (+170.6%)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49039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80390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Entity Deduplication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3749039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96312" y="3803903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Cosine sim &gt; 0.80, first-seen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749039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803903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Cosine sim &gt; 0.85, longest 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270248"/>
            <a:ext cx="21031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3251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Query Interface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4270248"/>
            <a:ext cx="365760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96312" y="43251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Keyword graph traversal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270248"/>
            <a:ext cx="5120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9632" y="4325112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Semantic search over triple embeddings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9145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8463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Hallucination Guard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23160" y="479145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96312" y="48463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None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79145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484632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Anti-hallucination + PMID tracing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12664"/>
            <a:ext cx="21031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367527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Metric Capture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23160" y="5312664"/>
            <a:ext cx="365760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6312" y="5367527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Embedded in entity names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5312664"/>
            <a:ext cx="5120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5367527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Structured has_metric triples (598)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83387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588873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Deployment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23160" y="583387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96312" y="588873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1111"/>
                </a:solidFill>
                <a:latin typeface="Calibri"/>
              </a:rPr>
              <a:t>Local Python scripts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583387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9632" y="588873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5511"/>
                </a:solidFill>
                <a:latin typeface="Calibri"/>
              </a:rPr>
              <a:t>FastAPI web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KGMiner: A complete solution to all four BTP1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1548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 Ontology-constrained extraction: 73.5% of 4,722 triples use the 13-relation canonical vocabulary, enabling mechanistic reasoning (activation vs inhibition, production vs encoding)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 Multi-pass extraction: +170.6% recall on 15-article ablation (855 vs 316 triples); Pass 2 alone contributes 35.3% — nearly equal to Pass 1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 Graph-RAG with semantic search: Full natural-language queries over 2,996-entity graph; top-50 triple retrieval with cosine similarity ranking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 Anti-hallucination protocol: Every quantitative claim (11.3-fold, 107.22 mg/L, 142 mg/L) traceable to a specific triple and source PMID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 Deployed as FastAPI web application using free-tier LLMs (Groq + Cerebras) — accessible without GPU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943600"/>
            <a:ext cx="11548872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98017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9B00"/>
                </a:solidFill>
                <a:latin typeface="Calibri"/>
              </a:rPr>
              <a:t>BTP2 transforms a static knowledge graph visualizer into an active scientific research assistant that synthesizes multi-paper evidence into structured, citation-backed answers.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9B00"/>
                </a:solidFill>
                <a:latin typeface="Calibri"/>
              </a:rPr>
              <a:t>Five priority extensions to KGMiner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749039" cy="25603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B0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6479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Ontology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67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FF"/>
                </a:solidFill>
                <a:latin typeface="Calibri"/>
              </a:rPr>
              <a:t>Analyze 512 non-canonical relation strings; add 5-7 types
(is_substrate_of, competes_with, is_precursor_to) → &gt;85%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70432"/>
            <a:ext cx="3749039" cy="2560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B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76479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Full-Text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267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FF"/>
                </a:solidFill>
                <a:latin typeface="Calibri"/>
              </a:rPr>
              <a:t>Extend from abstracts to full-text via PubMed Central Open Access;
substantially increase triple density and metric capture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70432"/>
            <a:ext cx="3749039" cy="2560320"/>
          </a:xfrm>
          <a:prstGeom prst="rect">
            <a:avLst/>
          </a:prstGeom>
          <a:solidFill>
            <a:srgbClr val="7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B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76479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Neo4j Graph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267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FF"/>
                </a:solidFill>
                <a:latin typeface="Calibri"/>
              </a:rPr>
              <a:t>Replace in-memory NetworkX with Neo4j; enable Cypher queries,
multi-hop path finding, and real-time literature updates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59352"/>
            <a:ext cx="3749039" cy="2560320"/>
          </a:xfrm>
          <a:prstGeom prst="rect">
            <a:avLst/>
          </a:prstGeom>
          <a:solidFill>
            <a:srgbClr val="8A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05079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B00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55371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Hypothesis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5663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FF"/>
                </a:solidFill>
                <a:latin typeface="Calibri"/>
              </a:rPr>
              <a:t>Use typed graph to suggest unexplored combinations:
if Organism A has_capability lipid accumulation and B produces
beta-carotene → test A as host for B's pathway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959352"/>
            <a:ext cx="3749039" cy="256032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405079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B00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55371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Cross-Domain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05663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FF"/>
                </a:solidFill>
                <a:latin typeface="Calibri"/>
              </a:rPr>
              <a:t>Benchmark against BRENDA / MetaCyc / ChEMBL curated databases;
rigorously measure precision and recall at scale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C5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5544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59B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Upanshu Jain  |  Roll No: 22BT10035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8444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59B00"/>
                </a:solidFill>
                <a:latin typeface="Calibri"/>
              </a:rPr>
              <a:t>Supervisor: Prof. Amit Ghosh  •  Mentor: Mr. Sayan Saha Roy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Calibri"/>
              </a:rPr>
              <a:t>BTP2 — Spring Semester 2025-26
Energy Science and Engineering, IIT Kharagpur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FF"/>
                </a:solidFill>
                <a:latin typeface="Calibri"/>
              </a:rPr>
              <a:t>Code: github.com/Up14/Knowledge   •   Report: github.com/Up14/NEKO_PAPER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035040"/>
            <a:ext cx="2437790" cy="82296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605332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B00"/>
                </a:solidFill>
                <a:latin typeface="Calibri"/>
              </a:rPr>
              <a:t>4,722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" y="6428232"/>
            <a:ext cx="23463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Typed Triples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7790" y="6035040"/>
            <a:ext cx="2437790" cy="82296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3510" y="605332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B00"/>
                </a:solidFill>
                <a:latin typeface="Calibri"/>
              </a:rPr>
              <a:t>2,996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3510" y="6428232"/>
            <a:ext cx="23463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Entities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5580" y="6035040"/>
            <a:ext cx="2437790" cy="82296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1300" y="605332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B00"/>
                </a:solidFill>
                <a:latin typeface="Calibri"/>
              </a:rPr>
              <a:t>226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1300" y="6428232"/>
            <a:ext cx="23463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Articles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3371" y="6035040"/>
            <a:ext cx="2437790" cy="82296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9091" y="605332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B00"/>
                </a:solidFill>
                <a:latin typeface="Calibri"/>
              </a:rPr>
              <a:t>+170.6%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9091" y="6428232"/>
            <a:ext cx="23463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Recall Gain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1161" y="6035040"/>
            <a:ext cx="2437790" cy="822960"/>
          </a:xfrm>
          <a:prstGeom prst="rect">
            <a:avLst/>
          </a:prstGeom>
          <a:solidFill>
            <a:srgbClr val="2A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6881" y="6053328"/>
            <a:ext cx="23463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B00"/>
                </a:solidFill>
                <a:latin typeface="Calibri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6881" y="6428232"/>
            <a:ext cx="23463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Report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