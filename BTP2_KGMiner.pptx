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201168"/>
            <a:ext cx="2926080" cy="41148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BTP2 — Course Project</a:t>
            </a:r>
          </a:p>
        </p:txBody>
      </p:sp>
      <p:pic>
        <p:nvPicPr>
          <p:cNvPr id="4" name="Picture 3" descr="i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22960"/>
            <a:ext cx="1399032" cy="13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3774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3864"/>
                </a:solidFill>
                <a:latin typeface="Calibri"/>
              </a:rPr>
              <a:t>KGMiner: Enhanced Knowledge Graph Mining
with Ontology-Constrained Multi-Pass Extraction
and Graph-RAG for Scientific Literature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9445752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Upanshu Jain
Roll No: 22BT10035
Dept. of Biotechnology &amp; Biochemical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42976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04040"/>
                </a:solidFill>
                <a:latin typeface="Calibri"/>
              </a:rPr>
              <a:t>Supervised by
Prof. Amit Ghosh
Energy Science and Engineering
IIT Kharagpur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1.  Introduction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2.  Motivation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3.  Literature Review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4.  Research Gaps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5. 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6.  Methodology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7.  Results &amp; Discussion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8.  BTP1 vs BTP2 Comparison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9.  Conclusion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10.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Background &amp;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The Biomedical Literature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404040"/>
                </a:solidFill>
                <a:latin typeface="Calibri"/>
              </a:rPr>
              <a:t>▸  PubMed indexes 36M+ citations — growing by thousands daily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04040"/>
                </a:solidFill>
                <a:latin typeface="Calibri"/>
              </a:rPr>
              <a:t>▸  Synthesizing knowledge on a specific topic (e.g., metabolic engineering) takes weeks manually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04040"/>
                </a:solidFill>
                <a:latin typeface="Calibri"/>
              </a:rPr>
              <a:t>▸  Hypothesis formulation and experimental planning are severely delayed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24612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BTP1 Established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703320"/>
            <a:ext cx="11430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404040"/>
                </a:solidFill>
                <a:latin typeface="Calibri"/>
              </a:rPr>
              <a:t>▸  LLMs can reliably extract entity-relationship pairs from biological abstracts (no domain training needed)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04040"/>
                </a:solidFill>
                <a:latin typeface="Calibri"/>
              </a:rPr>
              <a:t>▸  NEKO-based KG on 1,088 Rhodococcus abstracts → 180+ unique nodes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04040"/>
                </a:solidFill>
                <a:latin typeface="Calibri"/>
              </a:rPr>
              <a:t>▸  Higher data provenance and traceability vs. zero-shot GPT-4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72C4"/>
                </a:solidFill>
                <a:latin typeface="Calibri"/>
              </a:rPr>
              <a:t>BTP1 also exposed 4 structural limitations → motivates KGMiner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From NEKO (BTP1) to KGMiner (BTP2)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BTP1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1A6B1A"/>
                </a:solidFill>
                <a:latin typeface="Calibri"/>
              </a:rPr>
              <a:t>✓  Automated PubMed abstract ingestion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6B1A"/>
                </a:solidFill>
                <a:latin typeface="Calibri"/>
              </a:rPr>
              <a:t>✓  LLM-based entity-relation extraction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6B1A"/>
                </a:solidFill>
                <a:latin typeface="Calibri"/>
              </a:rPr>
              <a:t>✓  Knowledge graph with 180+ nodes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6B1A"/>
                </a:solidFill>
                <a:latin typeface="Calibri"/>
              </a:rPr>
              <a:t>✓  Better provenance than zero-shot LLM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6B1A"/>
                </a:solidFill>
                <a:latin typeface="Calibri"/>
              </a:rPr>
              <a:t>✓  Free-tier API deployment (no GPU needed)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BTP1 Limitations (KGMiner targets)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BB0000"/>
                </a:solidFill>
                <a:latin typeface="Calibri"/>
              </a:rPr>
              <a:t>✗  Untyped relationships — no activation vs inhibition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BB0000"/>
                </a:solidFill>
                <a:latin typeface="Calibri"/>
              </a:rPr>
              <a:t>✗  Single-pass extraction misses secondary details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BB0000"/>
                </a:solidFill>
                <a:latin typeface="Calibri"/>
              </a:rPr>
              <a:t>✗  Keyword-only graph queries — exact name required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BB0000"/>
                </a:solidFill>
                <a:latin typeface="Calibri"/>
              </a:rPr>
              <a:t>✗  Hallucination risk — LLM adds unsupported claims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36576" cy="3108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5166360"/>
            <a:ext cx="11640312" cy="594360"/>
          </a:xfrm>
          <a:prstGeom prst="round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21208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KGMiner directly addresses each of the 4 BTP1 gaps through 3 core innovations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Prior Work and 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447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NEKO  (Xiao et al.,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4475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Full pipeline: PubMed retrieval → LLM extraction → KG construction. BTP1 foundation.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579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PubTator / BERN2  (Wei 2024, Kim 2022)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57984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State-of-art supervised NER — high precision but rigid entity types, needs annotated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7121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AI4BioKnowledge  (Lee et al., 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87121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BioBERT NER + dependency parsing → SBML/BioPAX output. Not adaptable to novel domains.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584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GraphRAG  (Edge et al., 2024 — Microsoft)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5844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Graph-based RAG outperforms flat RAG on multi-document synthesis tasks.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97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BioMedLM / BioGPT  (Bolton 2024, Luo 2022)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2976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Domain-adapted LMs with strong bio understanding — but still hallucinate post-cutoff knowledge.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0109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RAG  (Lewis et al., 2020)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01091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Grounding LLM output in retrieved docs reduces hallucination. KGMiner applies at triple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4 Critical Limitations of BTP1 / NEKO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5760720" cy="201168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1  Untyped 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KG records 'A relates to B' — cannot distinguish activates / inhibits / encodes.
Critical for mechanistic reasoning.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760720" cy="201168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72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2  Single-Pass Extraction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One LLM pass per abstract misses secondary interactions in subordinate clauses.
Significant triple yield left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749039"/>
            <a:ext cx="5760720" cy="201168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58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3  Keyword-Only Graph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79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Users must enter exact node names for graph traversal.
Natural-language research questions are unsupported.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49039"/>
            <a:ext cx="5760720" cy="201168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58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4  Hallucination in Answer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97679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LLM may draw on training knowledge rather than extracted evidence.
Unverifiable claims presented alongside grounded facts.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KGMiner — Three Core Innovations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444752"/>
            <a:ext cx="141732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Innovation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6304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Ontology-Constrained Triple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01952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Constrain LLM outputs to typed (Subject, Relation, Object) triples
using a curated 13-relation biological vocabulary.
Fixes: untyped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17520"/>
            <a:ext cx="141732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Innovation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03580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Multi-Pass Extraction with Progressive Refinement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474720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Apply 3 sequential extraction passes + 1 independent validation
pass per abstract to maximize triple yield.
Fixes: single-pass extraction gaps.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590288"/>
            <a:ext cx="141732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Innovation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608575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Graph-RAG with Anti-Hallucination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047488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Embedding-based semantic search over triple store enables
natural-language queries. Every claim traced to source PMID.
Fixes: keyword-only queries + hallucination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System Architecture — KGMiner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286000"/>
            <a:ext cx="1691640" cy="914400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Automated
Query
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246888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12848" y="2286000"/>
            <a:ext cx="1691640" cy="914400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PubMed
Literature
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2776" y="246888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05656" y="2286000"/>
            <a:ext cx="1691640" cy="914400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Ontology-
Constrained
Triple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3" y="246888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98464" y="2286000"/>
            <a:ext cx="1691640" cy="914400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Multi-Pass
Refinement
&amp;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246888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91272" y="2286000"/>
            <a:ext cx="1691640" cy="914400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KG
Construction
(NetworkX)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46888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286000"/>
            <a:ext cx="1691640" cy="914400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Graph-RAG
Querying
(Anti-Halluc.)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3375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72C4"/>
                </a:solidFill>
                <a:latin typeface="Calibri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3375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72C4"/>
                </a:solidFill>
                <a:latin typeface="Calibri"/>
              </a:rPr>
              <a:t>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5656" y="33375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72C4"/>
                </a:solidFill>
                <a:latin typeface="Calibri"/>
              </a:rPr>
              <a:t>Ontology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3375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72C4"/>
                </a:solidFill>
                <a:latin typeface="Calibri"/>
              </a:rPr>
              <a:t>3+1 Passes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33375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72C4"/>
                </a:solidFill>
                <a:latin typeface="Calibri"/>
              </a:rPr>
              <a:t>Graph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3375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72C4"/>
                </a:solidFill>
                <a:latin typeface="Calibri"/>
              </a:rPr>
              <a:t>FastAPI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84048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Input: research topic keyword  →  Output: FastAPI web app with citation-backed answers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4805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Technology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864608"/>
            <a:ext cx="11521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LLMs: Groq (LLaMA-3) &amp; Cerebras APIs — free tier, no GPU required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Embeddings: sentence-transformers (all-MiniLM-L6-v2) for semantic triple search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KG: NetworkX + PyVis  |  Web app: FastAPI  |  Storage: JSON triple 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Ontology-Constrained Triple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13-Relation Biological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Each extracted triple is constrained to the form:
(Subject Entity,  Relation,  Object Entity)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2697480"/>
          <a:ext cx="6126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</a:tblGrid>
              <a:tr h="254725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Relation Type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Meaning / Example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activates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Gene X activates pathway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inhibits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Compound A inhibits enzyme 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encodes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Gene crtB encodes phytoene synthase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produces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E. coli produces beta-carotene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regulates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TetR regulates promoter pTet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interacts_with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Protein P1 interacts with P2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is_substrate_of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Geranyl-PP is substrate of GGPPS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is_product_of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Beta-carotene is product of CrtY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located_in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Gene cluster located in chromosome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belongs_to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CrtI belongs to carotenoid pathway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upregulates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Overexpression upregulates flux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downregulates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Deletion downregulates NADPH drain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473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associated_with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SNP associated with 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Key 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LLM prompt explicitly enumerates all 13 allowed relations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Triples outside vocabulary are rejected at parse time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Enables typed graph traversal (e.g., 'find all genes that activate ...')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Subject and Object are free-form biological entities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Post-extraction: entities normalised by embedding similarity (≥0.85 cosine)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Result: semantically typed, deduplicated triple store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Multi-Pass Extraction with Progressive Refinement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Why multiple passes?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74519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Scientific abstracts contain multiple interactions at varying detail levels. A single LLM pass captures the most prominent relationships but misses secondary details in subordinate clauses. Progressive passes explicitly target what was missed.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743200"/>
            <a:ext cx="5394960" cy="658368"/>
          </a:xfrm>
          <a:prstGeom prst="roundRect">
            <a:avLst/>
          </a:prstGeom>
          <a:solidFill>
            <a:srgbClr val="FFE599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980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Pass 1 — Initial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Standard extraction of all entity-relation triples from the abstract.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2743200"/>
            <a:ext cx="5394960" cy="658368"/>
          </a:xfrm>
          <a:prstGeom prst="roundRect">
            <a:avLst/>
          </a:prstGeom>
          <a:solidFill>
            <a:srgbClr val="FFE599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980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Pass 2 — Gap-Targeted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0906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Re-prompt LLM with existing triples; extract relationships not yet captured.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694176"/>
            <a:ext cx="5394960" cy="658368"/>
          </a:xfrm>
          <a:prstGeom prst="roundRect">
            <a:avLst/>
          </a:prstGeom>
          <a:solidFill>
            <a:srgbClr val="FFE599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Pass 3 — Clause-Level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Focus on subordinate clauses, quantitative results, and numerical findings.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3694176"/>
            <a:ext cx="5394960" cy="658368"/>
          </a:xfrm>
          <a:prstGeom prst="roundRect">
            <a:avLst/>
          </a:prstGeom>
          <a:solidFill>
            <a:srgbClr val="D5E8D4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3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Validation Pass — Independent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416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Independent LLM pass verifies and scores consistency of all extracted triples.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0807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Result: 170.6% increase in triple yield over single-pass  (316 → 855 triples on 15-article ablation)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Graph-RAG Querying with Anti-Hallucination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Query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920240"/>
            <a:ext cx="5120640" cy="475488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Natural-language query from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39572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633472"/>
            <a:ext cx="5120640" cy="475488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Embed query using sentence-transformers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10896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346704"/>
            <a:ext cx="5120640" cy="475488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Cosine similarity search over triple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822191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059936"/>
            <a:ext cx="5120640" cy="475488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Retrieve Top-K most relevant triples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53542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773168"/>
            <a:ext cx="5120640" cy="475488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Provide triples as grounded context to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248656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486400"/>
            <a:ext cx="5120640" cy="475488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LLM generates answer — ONLY from supplied triples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96188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6199632"/>
            <a:ext cx="5120640" cy="475488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Every claim annotated with source PMID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Anti-Hallucination Protocol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2024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LLM instructed: answer ONLY from provided triples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Any claim not in retrieved triples must be marked [UNSUPPORTED]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Each sentence in answer cites its source triple(s)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Source PMIDs listed for every factual statement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Enables post-hoc verification of every result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04040"/>
                </a:solidFill>
                <a:latin typeface="Calibri"/>
              </a:rPr>
              <a:t>▸  Compared to BTP1: NEKO had no grounding constraint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37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Sample Answer Fragment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303520"/>
            <a:ext cx="5394960" cy="822960"/>
          </a:xfrm>
          <a:prstGeom prst="rect">
            <a:avLst/>
          </a:prstGeom>
          <a:solidFill>
            <a:srgbClr val="F2F2F2"/>
          </a:solidFill>
          <a:ln w="1016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3492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  <a:latin typeface="Calibri"/>
              </a:rPr>
              <a:t>"CrtI enzyme activates lycopene biosynthesis [PMID: 38012345]; overexpression upregulates beta-carotene yield 11.3-fold [PMID: 37654321]"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Results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Quantitative Overview — Beta-Carotene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" y="1444752"/>
            <a:ext cx="2103120" cy="10058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481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9339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PubMed
articles processed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1444752"/>
            <a:ext cx="2103120" cy="10058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4056" y="1481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4,722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199339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Typed triples
extracted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444752"/>
            <a:ext cx="2103120" cy="10058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1481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2,996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199339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Normalised
entities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34071" y="1444752"/>
            <a:ext cx="2103120" cy="10058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1" y="1481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1" y="199339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Relation
types covered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444752"/>
            <a:ext cx="2103120" cy="10058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481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170.6 %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99339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Triple yield
increase (multi-pass)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65176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Entity Type Distribution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0040" y="310896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Entity Type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Genes / Proteins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1,124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37.5 %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Metabolites / Compounds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748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24.9 %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Pathways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13.7 %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Organisms / Strains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389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13.0 %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Other Biological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10.9 %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0" y="26517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Top Relation Types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0" y="3108960"/>
          <a:ext cx="53949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46888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Relation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Triple Count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activates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produces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751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encodes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inhibits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548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regulates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upregulates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441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is_product_of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associated_with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591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Results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Multi-Pass Ablation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Calibri"/>
              </a:rPr>
              <a:t>15-article ablation set — comparing single-pass vs. multi-pass extraction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96596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01168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Triples Extracted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Unique Entities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Avg Triples/Abstract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Single-Pass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21.1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Standard NEKO-style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Two-Pass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601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498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40.1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+90.2% over baseline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Three-Pass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54.1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+157% over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Three-Pass +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855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673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57.0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Calibri"/>
                        </a:rPr>
                        <a:t>+170.6% — final KGMiner config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06908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Key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4526280"/>
            <a:ext cx="3794760" cy="1600200"/>
          </a:xfrm>
          <a:prstGeom prst="roundRect">
            <a:avLst/>
          </a:prstGeom>
          <a:solidFill>
            <a:srgbClr val="FFE599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Pass 2 contributes +90%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Second pass primarily captures quantitative results and numerical data in abstracts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4526280"/>
            <a:ext cx="3794760" cy="1600200"/>
          </a:xfrm>
          <a:prstGeom prst="roundRect">
            <a:avLst/>
          </a:prstGeom>
          <a:solidFill>
            <a:srgbClr val="FFE599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457200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Pass 3 focuses on clauses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4983480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Third pass targets subordinate/relative clauses with nested biological interactions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4526280"/>
            <a:ext cx="3794760" cy="1600200"/>
          </a:xfrm>
          <a:prstGeom prst="roundRect">
            <a:avLst/>
          </a:prstGeom>
          <a:solidFill>
            <a:srgbClr val="FFE599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457200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Validation pass adds ~5%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4983480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Independent validation pass catches inconsistencies and adds cross-verified triples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Results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BTP1 (NEKO) vs. BTP2 (KGMiner) — System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481328"/>
          <a:ext cx="115214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926080"/>
                <a:gridCol w="329184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BTP1 — NEKO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BTP2 — KGMiner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Improvement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Relationship 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Untyped (A relates to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13-relation ontology vocabulary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Enables mechanistic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Extraction strategy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Single-pass LLM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3-pass + validation per abstract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170.6% more triples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Query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Keyword / exact node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Natural-language semantic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Accessible to domain experts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Hallucination control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No explicit grounding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Anti-hallucination protocol + PMID citation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Fully verifiable answers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Scale (abstracts)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1,088 (Rhodococcus)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226 (beta-carotene, deeper)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Higher density per 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Entities extracted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180+ nodes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2,996 normalised entities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16× more entities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Triples extracted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~400 (untyped)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4,722 typed triples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~12× more, all typed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Script / Jupyter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FastAPI web application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04040"/>
                          </a:solidFill>
                          <a:latin typeface="Calibri"/>
                        </a:rPr>
                        <a:t>Production-ready interface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Summary of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08760"/>
            <a:ext cx="457200" cy="438912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All 4 BTP1 gaps addressed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93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Untyped relations → 13-relation ontology | Single-pass → 3+1 pass pipeline | Keyword queries → semantic search | Hallucination → anti-hallucination protocol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862072"/>
            <a:ext cx="457200" cy="438912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Quantified extraction gains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82696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4,722 typed triples from 226 abstracts; 170.6% improvement in triple yield over single-pass baseline (855 vs. 316 triples, 15-article ablation)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215383"/>
            <a:ext cx="457200" cy="438912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1538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Production-ready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36007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FastAPI web application; free-tier LLM APIs (Groq LLaMA-3, Cerebras); no dedicated GPU required — fully reproducible on standard hardware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5568696"/>
            <a:ext cx="457200" cy="438912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686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Novel Graph-RAG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Triple-level semantic retrieval + strict evidence grounding produces citation-backed answers with specific quantitative metrics traceable to PMIDs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64592"/>
            <a:ext cx="2194560" cy="3840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Planned Extensions to KGMiner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11731752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481328"/>
            <a:ext cx="5760720" cy="141732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72768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Dynamic Graph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84248"/>
            <a:ext cx="5440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Replace JSON triple store with Neo4j or ArangoDB for scalable multi-hop traversal and real-time graph updates as new literature is ingested.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81328"/>
            <a:ext cx="5760720" cy="141732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572768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Hypothesis Generation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984248"/>
            <a:ext cx="5440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Use extracted triple patterns to automatically propose novel metabolic engineering hypotheses (e.g., untested gene-pathway combinations) for experimental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035808"/>
            <a:ext cx="5760720" cy="141732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127248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Multi-Domain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538728"/>
            <a:ext cx="5440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Apply KGMiner to domains beyond metabolic engineering: drug repurposing, protein interaction networks, disease–gene associations.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035808"/>
            <a:ext cx="5760720" cy="141732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3127248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Active Learning for Relation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538728"/>
            <a:ext cx="5440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Iteratively improve the 13-relation ontology by identifying extraction errors through expert feedback loops and expanding the vocabulary with new validated relations.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590288"/>
            <a:ext cx="5760720" cy="141732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681727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Cross-Paper Triple 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5093207"/>
            <a:ext cx="5440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Aggregate triples that express the same biological fact from multiple papers to assign confidence scores and identify consensus vs. conflicting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590288"/>
            <a:ext cx="5760720" cy="141732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4681727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Quantitative Claim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5093207"/>
            <a:ext cx="5440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Structured extraction of numerical experimental results (fold-change, yield, titre) linked to organism, gene, and condition entities for meta-analysis.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99032" cy="13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F3864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337560"/>
            <a:ext cx="5788152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52044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04040"/>
                </a:solidFill>
                <a:latin typeface="Calibri"/>
              </a:rPr>
              <a:t>KGMiner — BTP2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605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Calibri"/>
              </a:rPr>
              <a:t>Upanshu Jain  |  Roll: 22BT10035
Dept. of Biotechnology &amp; Biochemical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9834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Supervisor: Prof. Amit Ghosh  |  Energy Science &amp; Engineering  |  IIT Kharagpur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