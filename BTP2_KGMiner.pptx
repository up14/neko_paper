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201168"/>
            <a:ext cx="292608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BTP2 — Course Project</a:t>
            </a:r>
          </a:p>
        </p:txBody>
      </p:sp>
      <p:pic>
        <p:nvPicPr>
          <p:cNvPr id="4" name="Picture 3" descr="iit_logo.png"/>
          <p:cNvPicPr>
            <a:picLocks noChangeAspect="1"/>
          </p:cNvPicPr>
          <p:nvPr/>
        </p:nvPicPr>
        <p:blipFill>
          <a:blip r:embed="rId2"/>
          <a:stretch>
            <a:fillRect/>
          </a:stretch>
        </p:blipFill>
        <p:spPr>
          <a:xfrm>
            <a:off x="5394960" y="777240"/>
            <a:ext cx="1399032" cy="1399032"/>
          </a:xfrm>
          <a:prstGeom prst="rect">
            <a:avLst/>
          </a:prstGeom>
        </p:spPr>
      </p:pic>
      <p:sp>
        <p:nvSpPr>
          <p:cNvPr id="5" name="TextBox 4"/>
          <p:cNvSpPr txBox="1"/>
          <p:nvPr/>
        </p:nvSpPr>
        <p:spPr>
          <a:xfrm>
            <a:off x="548640" y="2331720"/>
            <a:ext cx="11064240" cy="1737360"/>
          </a:xfrm>
          <a:prstGeom prst="rect">
            <a:avLst/>
          </a:prstGeom>
          <a:noFill/>
        </p:spPr>
        <p:txBody>
          <a:bodyPr wrap="square">
            <a:spAutoFit/>
          </a:bodyPr>
          <a:lstStyle/>
          <a:p>
            <a:pPr algn="ctr"/>
            <a:r>
              <a:rPr sz="2300" b="1" i="0">
                <a:solidFill>
                  <a:srgbClr val="1F3864"/>
                </a:solidFill>
                <a:latin typeface="Calibri"/>
              </a:rPr>
              <a:t>KGMiner: Enhanced Knowledge Graph Mining
with Ontology-Constrained Multi-Pass Extraction
and Graph-RAG for Scientific Literature</a:t>
            </a:r>
          </a:p>
        </p:txBody>
      </p:sp>
      <p:sp>
        <p:nvSpPr>
          <p:cNvPr id="6" name="Rectangle 5"/>
          <p:cNvSpPr/>
          <p:nvPr/>
        </p:nvSpPr>
        <p:spPr>
          <a:xfrm>
            <a:off x="1371600" y="4160520"/>
            <a:ext cx="9445752" cy="45720"/>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343400"/>
            <a:ext cx="5486400" cy="1005840"/>
          </a:xfrm>
          <a:prstGeom prst="rect">
            <a:avLst/>
          </a:prstGeom>
          <a:noFill/>
        </p:spPr>
        <p:txBody>
          <a:bodyPr wrap="square">
            <a:spAutoFit/>
          </a:bodyPr>
          <a:lstStyle/>
          <a:p>
            <a:pPr algn="l"/>
            <a:r>
              <a:rPr sz="1300" b="0" i="0">
                <a:solidFill>
                  <a:srgbClr val="404040"/>
                </a:solidFill>
                <a:latin typeface="Calibri"/>
              </a:rPr>
              <a:t>Upanshu Jain  |  Roll No: 22BT10035
Dept. of Biotechnology &amp; Biochemical Engineering</a:t>
            </a:r>
          </a:p>
        </p:txBody>
      </p:sp>
      <p:sp>
        <p:nvSpPr>
          <p:cNvPr id="8" name="TextBox 7"/>
          <p:cNvSpPr txBox="1"/>
          <p:nvPr/>
        </p:nvSpPr>
        <p:spPr>
          <a:xfrm>
            <a:off x="6675120" y="4343400"/>
            <a:ext cx="5029200" cy="1005840"/>
          </a:xfrm>
          <a:prstGeom prst="rect">
            <a:avLst/>
          </a:prstGeom>
          <a:noFill/>
        </p:spPr>
        <p:txBody>
          <a:bodyPr wrap="square">
            <a:spAutoFit/>
          </a:bodyPr>
          <a:lstStyle/>
          <a:p>
            <a:pPr algn="r"/>
            <a:r>
              <a:rPr sz="1300" b="0" i="0">
                <a:solidFill>
                  <a:srgbClr val="404040"/>
                </a:solidFill>
                <a:latin typeface="Calibri"/>
              </a:rPr>
              <a:t>Supervised by
Prof. Amit Ghosh
Energy Science and Engineering
IIT Kharagpur</a:t>
            </a:r>
          </a:p>
        </p:txBody>
      </p:sp>
      <p:sp>
        <p:nvSpPr>
          <p:cNvPr id="9" name="TextBox 8"/>
          <p:cNvSpPr txBox="1"/>
          <p:nvPr/>
        </p:nvSpPr>
        <p:spPr>
          <a:xfrm>
            <a:off x="0" y="5577840"/>
            <a:ext cx="12188952" cy="365760"/>
          </a:xfrm>
          <a:prstGeom prst="rect">
            <a:avLst/>
          </a:prstGeom>
          <a:noFill/>
        </p:spPr>
        <p:txBody>
          <a:bodyPr wrap="square">
            <a:spAutoFit/>
          </a:bodyPr>
          <a:lstStyle/>
          <a:p>
            <a:pPr algn="ctr"/>
            <a:r>
              <a:rPr sz="1100" b="0" i="1">
                <a:solidFill>
                  <a:srgbClr val="4472C4"/>
                </a:solidFill>
                <a:latin typeface="Calibri"/>
              </a:rPr>
              <a:t>Spring Semester 2025-26  |  IIT Kharagpur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Content</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Table of Contents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5029200" cy="4572000"/>
          </a:xfrm>
          <a:prstGeom prst="rect">
            <a:avLst/>
          </a:prstGeom>
          <a:noFill/>
        </p:spPr>
        <p:txBody>
          <a:bodyPr wrap="square">
            <a:spAutoFit/>
          </a:bodyPr>
          <a:lstStyle/>
          <a:p>
            <a:pPr algn="l">
              <a:spcBef>
                <a:spcPts val="300"/>
              </a:spcBef>
            </a:pPr>
            <a:r>
              <a:rPr sz="1600" b="0">
                <a:solidFill>
                  <a:srgbClr val="404040"/>
                </a:solidFill>
                <a:latin typeface="Calibri"/>
              </a:rPr>
              <a:t>1.  Introduction</a:t>
            </a:r>
          </a:p>
          <a:p>
            <a:pPr algn="l">
              <a:spcBef>
                <a:spcPts val="300"/>
              </a:spcBef>
            </a:pPr>
            <a:r>
              <a:rPr sz="1600" b="0">
                <a:solidFill>
                  <a:srgbClr val="404040"/>
                </a:solidFill>
                <a:latin typeface="Calibri"/>
              </a:rPr>
              <a:t>2.  Motivation — BTP1 Limitations</a:t>
            </a:r>
          </a:p>
          <a:p>
            <a:pPr algn="l">
              <a:spcBef>
                <a:spcPts val="300"/>
              </a:spcBef>
            </a:pPr>
            <a:r>
              <a:rPr sz="1600" b="0">
                <a:solidFill>
                  <a:srgbClr val="404040"/>
                </a:solidFill>
                <a:latin typeface="Calibri"/>
              </a:rPr>
              <a:t>3.  Literature Review</a:t>
            </a:r>
          </a:p>
          <a:p>
            <a:pPr algn="l">
              <a:spcBef>
                <a:spcPts val="300"/>
              </a:spcBef>
            </a:pPr>
            <a:r>
              <a:rPr sz="1600" b="0">
                <a:solidFill>
                  <a:srgbClr val="404040"/>
                </a:solidFill>
                <a:latin typeface="Calibri"/>
              </a:rPr>
              <a:t>4.  Research Gaps</a:t>
            </a:r>
          </a:p>
          <a:p>
            <a:pPr algn="l">
              <a:spcBef>
                <a:spcPts val="300"/>
              </a:spcBef>
            </a:pPr>
            <a:r>
              <a:rPr sz="1600" b="0">
                <a:solidFill>
                  <a:srgbClr val="404040"/>
                </a:solidFill>
                <a:latin typeface="Calibri"/>
              </a:rPr>
              <a:t>5.  Objectives</a:t>
            </a:r>
          </a:p>
          <a:p>
            <a:pPr algn="l">
              <a:spcBef>
                <a:spcPts val="300"/>
              </a:spcBef>
            </a:pPr>
            <a:r>
              <a:rPr sz="1600" b="0">
                <a:solidFill>
                  <a:srgbClr val="404040"/>
                </a:solidFill>
                <a:latin typeface="Calibri"/>
              </a:rPr>
              <a:t>6.  NEKO Original Paper — Results &amp; Context</a:t>
            </a:r>
          </a:p>
        </p:txBody>
      </p:sp>
      <p:sp>
        <p:nvSpPr>
          <p:cNvPr id="7" name="TextBox 6"/>
          <p:cNvSpPr txBox="1"/>
          <p:nvPr/>
        </p:nvSpPr>
        <p:spPr>
          <a:xfrm>
            <a:off x="6400800" y="1463040"/>
            <a:ext cx="5212080" cy="4572000"/>
          </a:xfrm>
          <a:prstGeom prst="rect">
            <a:avLst/>
          </a:prstGeom>
          <a:noFill/>
        </p:spPr>
        <p:txBody>
          <a:bodyPr wrap="square">
            <a:spAutoFit/>
          </a:bodyPr>
          <a:lstStyle/>
          <a:p>
            <a:pPr algn="l">
              <a:spcBef>
                <a:spcPts val="300"/>
              </a:spcBef>
            </a:pPr>
            <a:r>
              <a:rPr sz="1600" b="0">
                <a:solidFill>
                  <a:srgbClr val="404040"/>
                </a:solidFill>
                <a:latin typeface="Calibri"/>
              </a:rPr>
              <a:t>7.  Methodology (4 slides)</a:t>
            </a:r>
          </a:p>
          <a:p>
            <a:pPr algn="l">
              <a:spcBef>
                <a:spcPts val="300"/>
              </a:spcBef>
            </a:pPr>
            <a:r>
              <a:rPr sz="1600" b="0">
                <a:solidFill>
                  <a:srgbClr val="404040"/>
                </a:solidFill>
                <a:latin typeface="Calibri"/>
              </a:rPr>
              <a:t>8.  Results — Extraction Statistics</a:t>
            </a:r>
          </a:p>
          <a:p>
            <a:pPr algn="l">
              <a:spcBef>
                <a:spcPts val="300"/>
              </a:spcBef>
            </a:pPr>
            <a:r>
              <a:rPr sz="1600" b="0">
                <a:solidFill>
                  <a:srgbClr val="404040"/>
                </a:solidFill>
                <a:latin typeface="Calibri"/>
              </a:rPr>
              <a:t>9.  Results — Relation Distribution</a:t>
            </a:r>
          </a:p>
          <a:p>
            <a:pPr algn="l">
              <a:spcBef>
                <a:spcPts val="300"/>
              </a:spcBef>
            </a:pPr>
            <a:r>
              <a:rPr sz="1600" b="0">
                <a:solidFill>
                  <a:srgbClr val="404040"/>
                </a:solidFill>
                <a:latin typeface="Calibri"/>
              </a:rPr>
              <a:t>10. Results — Multi-Pass Ablation</a:t>
            </a:r>
          </a:p>
          <a:p>
            <a:pPr algn="l">
              <a:spcBef>
                <a:spcPts val="300"/>
              </a:spcBef>
            </a:pPr>
            <a:r>
              <a:rPr sz="1600" b="0">
                <a:solidFill>
                  <a:srgbClr val="404040"/>
                </a:solidFill>
                <a:latin typeface="Calibri"/>
              </a:rPr>
              <a:t>11. Results — Semantic Search &amp; Metric Triples</a:t>
            </a:r>
          </a:p>
          <a:p>
            <a:pPr algn="l">
              <a:spcBef>
                <a:spcPts val="300"/>
              </a:spcBef>
            </a:pPr>
            <a:r>
              <a:rPr sz="1600" b="0">
                <a:solidFill>
                  <a:srgbClr val="404040"/>
                </a:solidFill>
                <a:latin typeface="Calibri"/>
              </a:rPr>
              <a:t>12. FINAL ANSWER: NEKO vs KGMiner (2 slides)</a:t>
            </a:r>
          </a:p>
          <a:p>
            <a:pPr algn="l">
              <a:spcBef>
                <a:spcPts val="300"/>
              </a:spcBef>
            </a:pPr>
            <a:r>
              <a:rPr sz="1600" b="0">
                <a:solidFill>
                  <a:srgbClr val="404040"/>
                </a:solidFill>
                <a:latin typeface="Calibri"/>
              </a:rPr>
              <a:t>13. BTP1 vs KGMiner Full Comparison</a:t>
            </a:r>
          </a:p>
          <a:p>
            <a:pPr algn="l">
              <a:spcBef>
                <a:spcPts val="300"/>
              </a:spcBef>
            </a:pPr>
            <a:r>
              <a:rPr sz="1600" b="0">
                <a:solidFill>
                  <a:srgbClr val="404040"/>
                </a:solidFill>
                <a:latin typeface="Calibri"/>
              </a:rPr>
              <a:t>14. Conclusion  |  15. Future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Introduction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Background &amp; Problem Statement</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11612880" cy="365760"/>
          </a:xfrm>
          <a:prstGeom prst="rect">
            <a:avLst/>
          </a:prstGeom>
          <a:noFill/>
        </p:spPr>
        <p:txBody>
          <a:bodyPr wrap="square">
            <a:spAutoFit/>
          </a:bodyPr>
          <a:lstStyle/>
          <a:p>
            <a:pPr algn="l"/>
            <a:r>
              <a:rPr sz="1500" b="1" i="0">
                <a:solidFill>
                  <a:srgbClr val="1F3864"/>
                </a:solidFill>
                <a:latin typeface="Calibri"/>
              </a:rPr>
              <a:t>The Biomedical Information Problem</a:t>
            </a:r>
          </a:p>
        </p:txBody>
      </p:sp>
      <p:sp>
        <p:nvSpPr>
          <p:cNvPr id="7" name="TextBox 6"/>
          <p:cNvSpPr txBox="1"/>
          <p:nvPr/>
        </p:nvSpPr>
        <p:spPr>
          <a:xfrm>
            <a:off x="274320" y="1828800"/>
            <a:ext cx="11612880" cy="914400"/>
          </a:xfrm>
          <a:prstGeom prst="rect">
            <a:avLst/>
          </a:prstGeom>
          <a:noFill/>
        </p:spPr>
        <p:txBody>
          <a:bodyPr wrap="square">
            <a:spAutoFit/>
          </a:bodyPr>
          <a:lstStyle/>
          <a:p>
            <a:pPr algn="l">
              <a:spcBef>
                <a:spcPts val="300"/>
              </a:spcBef>
            </a:pPr>
            <a:r>
              <a:rPr sz="1300" b="0">
                <a:solidFill>
                  <a:srgbClr val="404040"/>
                </a:solidFill>
                <a:latin typeface="Calibri"/>
              </a:rPr>
              <a:t>▸  PubMed: 36M+ citations, growing by thousands daily — impossible to manually synthesize</a:t>
            </a:r>
          </a:p>
          <a:p>
            <a:pPr algn="l">
              <a:spcBef>
                <a:spcPts val="300"/>
              </a:spcBef>
            </a:pPr>
            <a:r>
              <a:rPr sz="1300" b="0">
                <a:solidFill>
                  <a:srgbClr val="404040"/>
                </a:solidFill>
                <a:latin typeface="Calibri"/>
              </a:rPr>
              <a:t>▸  Metabolic engineers must read 100s of papers to identify hosts, enzymes, culture conditions</a:t>
            </a:r>
          </a:p>
          <a:p>
            <a:pPr algn="l">
              <a:spcBef>
                <a:spcPts val="300"/>
              </a:spcBef>
            </a:pPr>
            <a:r>
              <a:rPr sz="1300" b="0">
                <a:solidFill>
                  <a:srgbClr val="404040"/>
                </a:solidFill>
                <a:latin typeface="Calibri"/>
              </a:rPr>
              <a:t>▸  Manual synthesis takes weeks → delays hypothesis formulation and experimental planning</a:t>
            </a:r>
          </a:p>
        </p:txBody>
      </p:sp>
      <p:sp>
        <p:nvSpPr>
          <p:cNvPr id="8" name="TextBox 7"/>
          <p:cNvSpPr txBox="1"/>
          <p:nvPr/>
        </p:nvSpPr>
        <p:spPr>
          <a:xfrm>
            <a:off x="274320" y="2880360"/>
            <a:ext cx="11612880" cy="365760"/>
          </a:xfrm>
          <a:prstGeom prst="rect">
            <a:avLst/>
          </a:prstGeom>
          <a:noFill/>
        </p:spPr>
        <p:txBody>
          <a:bodyPr wrap="square">
            <a:spAutoFit/>
          </a:bodyPr>
          <a:lstStyle/>
          <a:p>
            <a:pPr algn="l"/>
            <a:r>
              <a:rPr sz="1500" b="1" i="0">
                <a:solidFill>
                  <a:srgbClr val="1F3864"/>
                </a:solidFill>
                <a:latin typeface="Calibri"/>
              </a:rPr>
              <a:t>What BTP1 (NEKO Implementation) Proved</a:t>
            </a:r>
          </a:p>
        </p:txBody>
      </p:sp>
      <p:sp>
        <p:nvSpPr>
          <p:cNvPr id="9" name="TextBox 8"/>
          <p:cNvSpPr txBox="1"/>
          <p:nvPr/>
        </p:nvSpPr>
        <p:spPr>
          <a:xfrm>
            <a:off x="274320" y="3291840"/>
            <a:ext cx="11612880" cy="1280160"/>
          </a:xfrm>
          <a:prstGeom prst="rect">
            <a:avLst/>
          </a:prstGeom>
          <a:noFill/>
        </p:spPr>
        <p:txBody>
          <a:bodyPr wrap="square">
            <a:spAutoFit/>
          </a:bodyPr>
          <a:lstStyle/>
          <a:p>
            <a:pPr algn="l">
              <a:spcBef>
                <a:spcPts val="300"/>
              </a:spcBef>
            </a:pPr>
            <a:r>
              <a:rPr sz="1300" b="0">
                <a:solidFill>
                  <a:srgbClr val="404040"/>
                </a:solidFill>
                <a:latin typeface="Calibri"/>
              </a:rPr>
              <a:t>▸  LLMs can reliably extract entity-relationship pairs from biological abstracts — no domain training</a:t>
            </a:r>
          </a:p>
          <a:p>
            <a:pPr algn="l">
              <a:spcBef>
                <a:spcPts val="300"/>
              </a:spcBef>
            </a:pPr>
            <a:r>
              <a:rPr sz="1300" b="0">
                <a:solidFill>
                  <a:srgbClr val="404040"/>
                </a:solidFill>
                <a:latin typeface="Calibri"/>
              </a:rPr>
              <a:t>▸  Processed 1,088 Rhodococcus abstracts → knowledge graph with 180+ unique nodes</a:t>
            </a:r>
          </a:p>
          <a:p>
            <a:pPr algn="l">
              <a:spcBef>
                <a:spcPts val="300"/>
              </a:spcBef>
            </a:pPr>
            <a:r>
              <a:rPr sz="1300" b="0">
                <a:solidFill>
                  <a:srgbClr val="404040"/>
                </a:solidFill>
                <a:latin typeface="Calibri"/>
              </a:rPr>
              <a:t>▸  Demonstrated higher data provenance and traceability vs. zero-shot GPT-4 queries</a:t>
            </a:r>
          </a:p>
          <a:p>
            <a:pPr algn="l">
              <a:spcBef>
                <a:spcPts val="300"/>
              </a:spcBef>
            </a:pPr>
            <a:r>
              <a:rPr sz="1300" b="0">
                <a:solidFill>
                  <a:srgbClr val="404040"/>
                </a:solidFill>
                <a:latin typeface="Calibri"/>
              </a:rPr>
              <a:t>▸  Validated that automated AI workflows are feasible for literature synthesis</a:t>
            </a:r>
          </a:p>
        </p:txBody>
      </p:sp>
      <p:sp>
        <p:nvSpPr>
          <p:cNvPr id="10" name="TextBox 9"/>
          <p:cNvSpPr txBox="1"/>
          <p:nvPr/>
        </p:nvSpPr>
        <p:spPr>
          <a:xfrm>
            <a:off x="274320" y="4709160"/>
            <a:ext cx="11612880" cy="457200"/>
          </a:xfrm>
          <a:prstGeom prst="rect">
            <a:avLst/>
          </a:prstGeom>
          <a:noFill/>
        </p:spPr>
        <p:txBody>
          <a:bodyPr wrap="square">
            <a:spAutoFit/>
          </a:bodyPr>
          <a:lstStyle/>
          <a:p>
            <a:pPr algn="l"/>
            <a:r>
              <a:rPr sz="1300" b="1" i="0">
                <a:solidFill>
                  <a:srgbClr val="4472C4"/>
                </a:solidFill>
                <a:latin typeface="Calibri"/>
              </a:rPr>
              <a:t>BTP1 also exposed 4 structural limitations that blocked real-world research use → KGMiner designed to fix each one</a:t>
            </a:r>
          </a:p>
        </p:txBody>
      </p:sp>
      <p:sp>
        <p:nvSpPr>
          <p:cNvPr id="11" name="TextBox 10"/>
          <p:cNvSpPr txBox="1"/>
          <p:nvPr/>
        </p:nvSpPr>
        <p:spPr>
          <a:xfrm>
            <a:off x="274320" y="5303520"/>
            <a:ext cx="11612880" cy="329184"/>
          </a:xfrm>
          <a:prstGeom prst="rect">
            <a:avLst/>
          </a:prstGeom>
          <a:noFill/>
        </p:spPr>
        <p:txBody>
          <a:bodyPr wrap="square">
            <a:spAutoFit/>
          </a:bodyPr>
          <a:lstStyle/>
          <a:p>
            <a:pPr algn="l"/>
            <a:r>
              <a:rPr sz="1300" b="1" i="0">
                <a:solidFill>
                  <a:srgbClr val="1F3864"/>
                </a:solidFill>
                <a:latin typeface="Calibri"/>
              </a:rPr>
              <a:t>KGMiner Case Study: Beta-Carotene Biosynthesis in Microorganisms</a:t>
            </a:r>
          </a:p>
        </p:txBody>
      </p:sp>
      <p:sp>
        <p:nvSpPr>
          <p:cNvPr id="12" name="TextBox 11"/>
          <p:cNvSpPr txBox="1"/>
          <p:nvPr/>
        </p:nvSpPr>
        <p:spPr>
          <a:xfrm>
            <a:off x="274320" y="5669280"/>
            <a:ext cx="11612880" cy="347472"/>
          </a:xfrm>
          <a:prstGeom prst="rect">
            <a:avLst/>
          </a:prstGeom>
          <a:noFill/>
        </p:spPr>
        <p:txBody>
          <a:bodyPr wrap="square">
            <a:spAutoFit/>
          </a:bodyPr>
          <a:lstStyle/>
          <a:p>
            <a:pPr algn="l"/>
            <a:r>
              <a:rPr sz="1200" b="0" i="1">
                <a:solidFill>
                  <a:srgbClr val="404040"/>
                </a:solidFill>
                <a:latin typeface="Calibri"/>
              </a:rPr>
              <a:t>226 PubMed abstracts  →  4,722 typed triples  →  2,996 normalized entities  →  FastAPI web 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Motivation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From NEKO (BTP1) to KGMiner (BTP2)</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486400" cy="365760"/>
          </a:xfrm>
          <a:prstGeom prst="rect">
            <a:avLst/>
          </a:prstGeom>
          <a:noFill/>
        </p:spPr>
        <p:txBody>
          <a:bodyPr wrap="square">
            <a:spAutoFit/>
          </a:bodyPr>
          <a:lstStyle/>
          <a:p>
            <a:pPr algn="l"/>
            <a:r>
              <a:rPr sz="1400" b="1" i="0">
                <a:solidFill>
                  <a:srgbClr val="1F3864"/>
                </a:solidFill>
                <a:latin typeface="Calibri"/>
              </a:rPr>
              <a:t>BTP1 Achievements</a:t>
            </a:r>
          </a:p>
        </p:txBody>
      </p:sp>
      <p:sp>
        <p:nvSpPr>
          <p:cNvPr id="7" name="TextBox 6"/>
          <p:cNvSpPr txBox="1"/>
          <p:nvPr/>
        </p:nvSpPr>
        <p:spPr>
          <a:xfrm>
            <a:off x="274320" y="1828800"/>
            <a:ext cx="5394960" cy="2194560"/>
          </a:xfrm>
          <a:prstGeom prst="rect">
            <a:avLst/>
          </a:prstGeom>
          <a:noFill/>
        </p:spPr>
        <p:txBody>
          <a:bodyPr wrap="square">
            <a:spAutoFit/>
          </a:bodyPr>
          <a:lstStyle/>
          <a:p>
            <a:pPr algn="l">
              <a:spcBef>
                <a:spcPts val="300"/>
              </a:spcBef>
            </a:pPr>
            <a:r>
              <a:rPr sz="1300" b="0">
                <a:solidFill>
                  <a:srgbClr val="1A6B1A"/>
                </a:solidFill>
                <a:latin typeface="Calibri"/>
              </a:rPr>
              <a:t>✓  Automated PubMed retrieval + LLM extraction</a:t>
            </a:r>
          </a:p>
          <a:p>
            <a:pPr algn="l">
              <a:spcBef>
                <a:spcPts val="300"/>
              </a:spcBef>
            </a:pPr>
            <a:r>
              <a:rPr sz="1300" b="0">
                <a:solidFill>
                  <a:srgbClr val="1A6B1A"/>
                </a:solidFill>
                <a:latin typeface="Calibri"/>
              </a:rPr>
              <a:t>✓  1,088 abstracts processed, 180+ KG nodes</a:t>
            </a:r>
          </a:p>
          <a:p>
            <a:pPr algn="l">
              <a:spcBef>
                <a:spcPts val="300"/>
              </a:spcBef>
            </a:pPr>
            <a:r>
              <a:rPr sz="1300" b="0">
                <a:solidFill>
                  <a:srgbClr val="1A6B1A"/>
                </a:solidFill>
                <a:latin typeface="Calibri"/>
              </a:rPr>
              <a:t>✓  Better provenance than zero-shot LLM</a:t>
            </a:r>
          </a:p>
          <a:p>
            <a:pPr algn="l">
              <a:spcBef>
                <a:spcPts val="300"/>
              </a:spcBef>
            </a:pPr>
            <a:r>
              <a:rPr sz="1300" b="0">
                <a:solidFill>
                  <a:srgbClr val="1A6B1A"/>
                </a:solidFill>
                <a:latin typeface="Calibri"/>
              </a:rPr>
              <a:t>✓  Free-tier APIs, no GPU required</a:t>
            </a:r>
          </a:p>
          <a:p>
            <a:pPr algn="l">
              <a:spcBef>
                <a:spcPts val="300"/>
              </a:spcBef>
            </a:pPr>
            <a:r>
              <a:rPr sz="1300" b="0">
                <a:solidFill>
                  <a:srgbClr val="1A6B1A"/>
                </a:solidFill>
                <a:latin typeface="Calibri"/>
              </a:rPr>
              <a:t>✓  End-to-end pipeline validated</a:t>
            </a:r>
          </a:p>
        </p:txBody>
      </p:sp>
      <p:sp>
        <p:nvSpPr>
          <p:cNvPr id="8" name="TextBox 7"/>
          <p:cNvSpPr txBox="1"/>
          <p:nvPr/>
        </p:nvSpPr>
        <p:spPr>
          <a:xfrm>
            <a:off x="6492240" y="1417320"/>
            <a:ext cx="5394960" cy="365760"/>
          </a:xfrm>
          <a:prstGeom prst="rect">
            <a:avLst/>
          </a:prstGeom>
          <a:noFill/>
        </p:spPr>
        <p:txBody>
          <a:bodyPr wrap="square">
            <a:spAutoFit/>
          </a:bodyPr>
          <a:lstStyle/>
          <a:p>
            <a:pPr algn="l"/>
            <a:r>
              <a:rPr sz="1400" b="1" i="0">
                <a:solidFill>
                  <a:srgbClr val="1F3864"/>
                </a:solidFill>
                <a:latin typeface="Calibri"/>
              </a:rPr>
              <a:t>BTP1 Limitations → KGMiner Addresses</a:t>
            </a:r>
          </a:p>
        </p:txBody>
      </p:sp>
      <p:sp>
        <p:nvSpPr>
          <p:cNvPr id="9" name="TextBox 8"/>
          <p:cNvSpPr txBox="1"/>
          <p:nvPr/>
        </p:nvSpPr>
        <p:spPr>
          <a:xfrm>
            <a:off x="6492240" y="1828800"/>
            <a:ext cx="5394960" cy="2194560"/>
          </a:xfrm>
          <a:prstGeom prst="rect">
            <a:avLst/>
          </a:prstGeom>
          <a:noFill/>
        </p:spPr>
        <p:txBody>
          <a:bodyPr wrap="square">
            <a:spAutoFit/>
          </a:bodyPr>
          <a:lstStyle/>
          <a:p>
            <a:pPr algn="l">
              <a:spcBef>
                <a:spcPts val="300"/>
              </a:spcBef>
            </a:pPr>
            <a:r>
              <a:rPr sz="1300" b="0">
                <a:solidFill>
                  <a:srgbClr val="BB0000"/>
                </a:solidFill>
                <a:latin typeface="Calibri"/>
              </a:rPr>
              <a:t>✗  Untyped relations — cannot distinguish activation from inhibition</a:t>
            </a:r>
          </a:p>
          <a:p>
            <a:pPr algn="l">
              <a:spcBef>
                <a:spcPts val="300"/>
              </a:spcBef>
            </a:pPr>
            <a:r>
              <a:rPr sz="1300" b="0">
                <a:solidFill>
                  <a:srgbClr val="BB0000"/>
                </a:solidFill>
                <a:latin typeface="Calibri"/>
              </a:rPr>
              <a:t>✗  Single-pass misses 63% of triples (316 vs 855 in ablation)</a:t>
            </a:r>
          </a:p>
          <a:p>
            <a:pPr algn="l">
              <a:spcBef>
                <a:spcPts val="300"/>
              </a:spcBef>
            </a:pPr>
            <a:r>
              <a:rPr sz="1300" b="0">
                <a:solidFill>
                  <a:srgbClr val="BB0000"/>
                </a:solidFill>
                <a:latin typeface="Calibri"/>
              </a:rPr>
              <a:t>✗  Keyword-only queries — exact entity names required</a:t>
            </a:r>
          </a:p>
          <a:p>
            <a:pPr algn="l">
              <a:spcBef>
                <a:spcPts val="300"/>
              </a:spcBef>
            </a:pPr>
            <a:r>
              <a:rPr sz="1300" b="0">
                <a:solidFill>
                  <a:srgbClr val="BB0000"/>
                </a:solidFill>
                <a:latin typeface="Calibri"/>
              </a:rPr>
              <a:t>✗  Hallucination risk — no evidence grounding constraint</a:t>
            </a:r>
          </a:p>
        </p:txBody>
      </p:sp>
      <p:sp>
        <p:nvSpPr>
          <p:cNvPr id="10" name="Rectangle 9"/>
          <p:cNvSpPr/>
          <p:nvPr/>
        </p:nvSpPr>
        <p:spPr>
          <a:xfrm>
            <a:off x="6236208" y="1371600"/>
            <a:ext cx="36576" cy="32461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4206240"/>
            <a:ext cx="11640312" cy="365760"/>
          </a:xfrm>
          <a:prstGeom prst="rect">
            <a:avLst/>
          </a:prstGeom>
          <a:noFill/>
        </p:spPr>
        <p:txBody>
          <a:bodyPr wrap="square">
            <a:spAutoFit/>
          </a:bodyPr>
          <a:lstStyle/>
          <a:p>
            <a:pPr algn="l"/>
            <a:r>
              <a:rPr sz="1400" b="1" i="0">
                <a:solidFill>
                  <a:srgbClr val="1F3864"/>
                </a:solidFill>
                <a:latin typeface="Calibri"/>
              </a:rPr>
              <a:t>KGMiner's 3 Core Innovations</a:t>
            </a:r>
          </a:p>
        </p:txBody>
      </p:sp>
      <p:sp>
        <p:nvSpPr>
          <p:cNvPr id="12" name="Rounded Rectangle 11"/>
          <p:cNvSpPr/>
          <p:nvPr/>
        </p:nvSpPr>
        <p:spPr>
          <a:xfrm>
            <a:off x="274320" y="4617720"/>
            <a:ext cx="3749039"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Calibri"/>
              </a:rPr>
              <a:t>Innovation 1
Ontology-Constrained
Triple Extraction
(13-relation vocabulary)</a:t>
            </a:r>
          </a:p>
        </p:txBody>
      </p:sp>
      <p:sp>
        <p:nvSpPr>
          <p:cNvPr id="13" name="TextBox 12"/>
          <p:cNvSpPr txBox="1"/>
          <p:nvPr/>
        </p:nvSpPr>
        <p:spPr>
          <a:xfrm>
            <a:off x="4041648" y="4983480"/>
            <a:ext cx="274320" cy="502920"/>
          </a:xfrm>
          <a:prstGeom prst="rect">
            <a:avLst/>
          </a:prstGeom>
          <a:noFill/>
        </p:spPr>
        <p:txBody>
          <a:bodyPr wrap="square">
            <a:spAutoFit/>
          </a:bodyPr>
          <a:lstStyle/>
          <a:p>
            <a:pPr algn="ctr"/>
            <a:r>
              <a:rPr sz="1400" b="0" i="0">
                <a:solidFill>
                  <a:srgbClr val="000000"/>
                </a:solidFill>
                <a:latin typeface="Calibri"/>
              </a:rPr>
              <a:t>►</a:t>
            </a:r>
          </a:p>
        </p:txBody>
      </p:sp>
      <p:sp>
        <p:nvSpPr>
          <p:cNvPr id="14" name="Rounded Rectangle 13"/>
          <p:cNvSpPr/>
          <p:nvPr/>
        </p:nvSpPr>
        <p:spPr>
          <a:xfrm>
            <a:off x="4270248" y="4617720"/>
            <a:ext cx="3749039"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Calibri"/>
              </a:rPr>
              <a:t>Innovation 2
Multi-Pass Extraction
(3 extraction + 1 validation)
170.6% more triples</a:t>
            </a:r>
          </a:p>
        </p:txBody>
      </p:sp>
      <p:sp>
        <p:nvSpPr>
          <p:cNvPr id="15" name="TextBox 14"/>
          <p:cNvSpPr txBox="1"/>
          <p:nvPr/>
        </p:nvSpPr>
        <p:spPr>
          <a:xfrm>
            <a:off x="8037575" y="4983480"/>
            <a:ext cx="274320" cy="502920"/>
          </a:xfrm>
          <a:prstGeom prst="rect">
            <a:avLst/>
          </a:prstGeom>
          <a:noFill/>
        </p:spPr>
        <p:txBody>
          <a:bodyPr wrap="square">
            <a:spAutoFit/>
          </a:bodyPr>
          <a:lstStyle/>
          <a:p>
            <a:pPr algn="ctr"/>
            <a:r>
              <a:rPr sz="1400" b="0" i="0">
                <a:solidFill>
                  <a:srgbClr val="000000"/>
                </a:solidFill>
                <a:latin typeface="Calibri"/>
              </a:rPr>
              <a:t>►</a:t>
            </a:r>
          </a:p>
        </p:txBody>
      </p:sp>
      <p:sp>
        <p:nvSpPr>
          <p:cNvPr id="16" name="Rounded Rectangle 15"/>
          <p:cNvSpPr/>
          <p:nvPr/>
        </p:nvSpPr>
        <p:spPr>
          <a:xfrm>
            <a:off x="8266176" y="4617720"/>
            <a:ext cx="3749039"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Calibri"/>
              </a:rPr>
              <a:t>Innovation 3
Graph-RAG + Anti-
Hallucination Protocol
+ PMID tracing per claim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Literature Review</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Prior Work and KGMiner's Positioning</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44752"/>
            <a:ext cx="3749039" cy="329184"/>
          </a:xfrm>
          <a:prstGeom prst="rect">
            <a:avLst/>
          </a:prstGeom>
          <a:noFill/>
        </p:spPr>
        <p:txBody>
          <a:bodyPr wrap="square">
            <a:spAutoFit/>
          </a:bodyPr>
          <a:lstStyle/>
          <a:p>
            <a:pPr algn="l"/>
            <a:r>
              <a:rPr sz="1100" b="1" i="0">
                <a:solidFill>
                  <a:srgbClr val="1F3864"/>
                </a:solidFill>
                <a:latin typeface="Calibri"/>
              </a:rPr>
              <a:t>NEKO  (Xiao et al., 2025)  —  ScienceDirect</a:t>
            </a:r>
          </a:p>
        </p:txBody>
      </p:sp>
      <p:sp>
        <p:nvSpPr>
          <p:cNvPr id="7" name="TextBox 6"/>
          <p:cNvSpPr txBox="1"/>
          <p:nvPr/>
        </p:nvSpPr>
        <p:spPr>
          <a:xfrm>
            <a:off x="4160520" y="1444752"/>
            <a:ext cx="7772400" cy="566928"/>
          </a:xfrm>
          <a:prstGeom prst="rect">
            <a:avLst/>
          </a:prstGeom>
          <a:noFill/>
        </p:spPr>
        <p:txBody>
          <a:bodyPr wrap="square">
            <a:spAutoFit/>
          </a:bodyPr>
          <a:lstStyle/>
          <a:p>
            <a:pPr algn="l"/>
            <a:r>
              <a:rPr sz="1000" b="0" i="0">
                <a:solidFill>
                  <a:srgbClr val="404040"/>
                </a:solidFill>
                <a:latin typeface="Calibri"/>
              </a:rPr>
              <a:t>Full LLM-driven pipeline: PubMed → Qwen LLM → knowledge graph. Applied to yeast fermentation &amp; cyanobacterial biorefinery. Claims output is 'more informative, specific, and actionable than GPT-4 zero-shot Q&amp;A'. BTP1 implemented NEKO locally.</a:t>
            </a:r>
          </a:p>
        </p:txBody>
      </p:sp>
      <p:sp>
        <p:nvSpPr>
          <p:cNvPr id="8" name="TextBox 7"/>
          <p:cNvSpPr txBox="1"/>
          <p:nvPr/>
        </p:nvSpPr>
        <p:spPr>
          <a:xfrm>
            <a:off x="274320" y="2157984"/>
            <a:ext cx="3749039" cy="329184"/>
          </a:xfrm>
          <a:prstGeom prst="rect">
            <a:avLst/>
          </a:prstGeom>
          <a:noFill/>
        </p:spPr>
        <p:txBody>
          <a:bodyPr wrap="square">
            <a:spAutoFit/>
          </a:bodyPr>
          <a:lstStyle/>
          <a:p>
            <a:pPr algn="l"/>
            <a:r>
              <a:rPr sz="1100" b="1" i="0">
                <a:solidFill>
                  <a:srgbClr val="1F3864"/>
                </a:solidFill>
                <a:latin typeface="Calibri"/>
              </a:rPr>
              <a:t>PubTator / BERN2  (Wei 2024; Kim 2022)</a:t>
            </a:r>
          </a:p>
        </p:txBody>
      </p:sp>
      <p:sp>
        <p:nvSpPr>
          <p:cNvPr id="9" name="TextBox 8"/>
          <p:cNvSpPr txBox="1"/>
          <p:nvPr/>
        </p:nvSpPr>
        <p:spPr>
          <a:xfrm>
            <a:off x="4160520" y="2157984"/>
            <a:ext cx="7772400" cy="566928"/>
          </a:xfrm>
          <a:prstGeom prst="rect">
            <a:avLst/>
          </a:prstGeom>
          <a:noFill/>
        </p:spPr>
        <p:txBody>
          <a:bodyPr wrap="square">
            <a:spAutoFit/>
          </a:bodyPr>
          <a:lstStyle/>
          <a:p>
            <a:pPr algn="l"/>
            <a:r>
              <a:rPr sz="1000" b="0" i="0">
                <a:solidFill>
                  <a:srgbClr val="404040"/>
                </a:solidFill>
                <a:latin typeface="Calibri"/>
              </a:rPr>
              <a:t>Supervised NER for genes/proteins/chemicals. High precision within pre-defined entity types. Cannot extend to novel entity categories without retraining — not suitable for emerging synthetic biology domains.</a:t>
            </a:r>
          </a:p>
        </p:txBody>
      </p:sp>
      <p:sp>
        <p:nvSpPr>
          <p:cNvPr id="10" name="TextBox 9"/>
          <p:cNvSpPr txBox="1"/>
          <p:nvPr/>
        </p:nvSpPr>
        <p:spPr>
          <a:xfrm>
            <a:off x="274320" y="2871216"/>
            <a:ext cx="3749039" cy="329184"/>
          </a:xfrm>
          <a:prstGeom prst="rect">
            <a:avLst/>
          </a:prstGeom>
          <a:noFill/>
        </p:spPr>
        <p:txBody>
          <a:bodyPr wrap="square">
            <a:spAutoFit/>
          </a:bodyPr>
          <a:lstStyle/>
          <a:p>
            <a:pPr algn="l"/>
            <a:r>
              <a:rPr sz="1100" b="1" i="0">
                <a:solidFill>
                  <a:srgbClr val="1F3864"/>
                </a:solidFill>
                <a:latin typeface="Calibri"/>
              </a:rPr>
              <a:t>AI4BioKnowledge  (Lee et al., 2023)</a:t>
            </a:r>
          </a:p>
        </p:txBody>
      </p:sp>
      <p:sp>
        <p:nvSpPr>
          <p:cNvPr id="11" name="TextBox 10"/>
          <p:cNvSpPr txBox="1"/>
          <p:nvPr/>
        </p:nvSpPr>
        <p:spPr>
          <a:xfrm>
            <a:off x="4160520" y="2871216"/>
            <a:ext cx="7772400" cy="566928"/>
          </a:xfrm>
          <a:prstGeom prst="rect">
            <a:avLst/>
          </a:prstGeom>
          <a:noFill/>
        </p:spPr>
        <p:txBody>
          <a:bodyPr wrap="square">
            <a:spAutoFit/>
          </a:bodyPr>
          <a:lstStyle/>
          <a:p>
            <a:pPr algn="l"/>
            <a:r>
              <a:rPr sz="1000" b="0" i="0">
                <a:solidFill>
                  <a:srgbClr val="404040"/>
                </a:solidFill>
                <a:latin typeface="Calibri"/>
              </a:rPr>
              <a:t>BioBERT NER + dependency parsing → SBML/BioPAX output. High precision for established pathways. Rigid: not adaptable to novel domains where concepts appear before formal ontological classification.</a:t>
            </a:r>
          </a:p>
        </p:txBody>
      </p:sp>
      <p:sp>
        <p:nvSpPr>
          <p:cNvPr id="12" name="TextBox 11"/>
          <p:cNvSpPr txBox="1"/>
          <p:nvPr/>
        </p:nvSpPr>
        <p:spPr>
          <a:xfrm>
            <a:off x="274320" y="3584448"/>
            <a:ext cx="3749039" cy="329184"/>
          </a:xfrm>
          <a:prstGeom prst="rect">
            <a:avLst/>
          </a:prstGeom>
          <a:noFill/>
        </p:spPr>
        <p:txBody>
          <a:bodyPr wrap="square">
            <a:spAutoFit/>
          </a:bodyPr>
          <a:lstStyle/>
          <a:p>
            <a:pPr algn="l"/>
            <a:r>
              <a:rPr sz="1100" b="1" i="0">
                <a:solidFill>
                  <a:srgbClr val="1F3864"/>
                </a:solidFill>
                <a:latin typeface="Calibri"/>
              </a:rPr>
              <a:t>GraphRAG  (Edge et al., 2024 — Microsoft)</a:t>
            </a:r>
          </a:p>
        </p:txBody>
      </p:sp>
      <p:sp>
        <p:nvSpPr>
          <p:cNvPr id="13" name="TextBox 12"/>
          <p:cNvSpPr txBox="1"/>
          <p:nvPr/>
        </p:nvSpPr>
        <p:spPr>
          <a:xfrm>
            <a:off x="4160520" y="3584448"/>
            <a:ext cx="7772400" cy="566928"/>
          </a:xfrm>
          <a:prstGeom prst="rect">
            <a:avLst/>
          </a:prstGeom>
          <a:noFill/>
        </p:spPr>
        <p:txBody>
          <a:bodyPr wrap="square">
            <a:spAutoFit/>
          </a:bodyPr>
          <a:lstStyle/>
          <a:p>
            <a:pPr algn="l"/>
            <a:r>
              <a:rPr sz="1000" b="0" i="0">
                <a:solidFill>
                  <a:srgbClr val="404040"/>
                </a:solidFill>
                <a:latin typeface="Calibri"/>
              </a:rPr>
              <a:t>Graph-based RAG outperforms flat RAG on multi-document synthesis. Retrieves subgraphs encoding multi-hop connections. KGMiner applies this principle at triple level for fine-grained semantic retrieval.</a:t>
            </a:r>
          </a:p>
        </p:txBody>
      </p:sp>
      <p:sp>
        <p:nvSpPr>
          <p:cNvPr id="14" name="TextBox 13"/>
          <p:cNvSpPr txBox="1"/>
          <p:nvPr/>
        </p:nvSpPr>
        <p:spPr>
          <a:xfrm>
            <a:off x="274320" y="4297680"/>
            <a:ext cx="3749039" cy="329184"/>
          </a:xfrm>
          <a:prstGeom prst="rect">
            <a:avLst/>
          </a:prstGeom>
          <a:noFill/>
        </p:spPr>
        <p:txBody>
          <a:bodyPr wrap="square">
            <a:spAutoFit/>
          </a:bodyPr>
          <a:lstStyle/>
          <a:p>
            <a:pPr algn="l"/>
            <a:r>
              <a:rPr sz="1100" b="1" i="0">
                <a:solidFill>
                  <a:srgbClr val="1F3864"/>
                </a:solidFill>
                <a:latin typeface="Calibri"/>
              </a:rPr>
              <a:t>RAG  (Lewis et al., 2020)</a:t>
            </a:r>
          </a:p>
        </p:txBody>
      </p:sp>
      <p:sp>
        <p:nvSpPr>
          <p:cNvPr id="15" name="TextBox 14"/>
          <p:cNvSpPr txBox="1"/>
          <p:nvPr/>
        </p:nvSpPr>
        <p:spPr>
          <a:xfrm>
            <a:off x="4160520" y="4297680"/>
            <a:ext cx="7772400" cy="566928"/>
          </a:xfrm>
          <a:prstGeom prst="rect">
            <a:avLst/>
          </a:prstGeom>
          <a:noFill/>
        </p:spPr>
        <p:txBody>
          <a:bodyPr wrap="square">
            <a:spAutoFit/>
          </a:bodyPr>
          <a:lstStyle/>
          <a:p>
            <a:pPr algn="l"/>
            <a:r>
              <a:rPr sz="1000" b="0" i="0">
                <a:solidFill>
                  <a:srgbClr val="404040"/>
                </a:solidFill>
                <a:latin typeface="Calibri"/>
              </a:rPr>
              <a:t>Grounds LLM outputs in retrieved documents to reduce hallucination. KGMiner extends to evidence-grounding at the individual triple level — each claim must cite a specific extracted triple and source PMID.</a:t>
            </a:r>
          </a:p>
        </p:txBody>
      </p:sp>
      <p:sp>
        <p:nvSpPr>
          <p:cNvPr id="16" name="TextBox 15"/>
          <p:cNvSpPr txBox="1"/>
          <p:nvPr/>
        </p:nvSpPr>
        <p:spPr>
          <a:xfrm>
            <a:off x="274320" y="5010912"/>
            <a:ext cx="3749039" cy="329184"/>
          </a:xfrm>
          <a:prstGeom prst="rect">
            <a:avLst/>
          </a:prstGeom>
          <a:noFill/>
        </p:spPr>
        <p:txBody>
          <a:bodyPr wrap="square">
            <a:spAutoFit/>
          </a:bodyPr>
          <a:lstStyle/>
          <a:p>
            <a:pPr algn="l"/>
            <a:r>
              <a:rPr sz="1100" b="1" i="0">
                <a:solidFill>
                  <a:srgbClr val="1F3864"/>
                </a:solidFill>
                <a:latin typeface="Calibri"/>
              </a:rPr>
              <a:t>BioMedLM / BioGPT  (Bolton 2024; Luo 2022)</a:t>
            </a:r>
          </a:p>
        </p:txBody>
      </p:sp>
      <p:sp>
        <p:nvSpPr>
          <p:cNvPr id="17" name="TextBox 16"/>
          <p:cNvSpPr txBox="1"/>
          <p:nvPr/>
        </p:nvSpPr>
        <p:spPr>
          <a:xfrm>
            <a:off x="4160520" y="5010912"/>
            <a:ext cx="7772400" cy="566928"/>
          </a:xfrm>
          <a:prstGeom prst="rect">
            <a:avLst/>
          </a:prstGeom>
          <a:noFill/>
        </p:spPr>
        <p:txBody>
          <a:bodyPr wrap="square">
            <a:spAutoFit/>
          </a:bodyPr>
          <a:lstStyle/>
          <a:p>
            <a:pPr algn="l"/>
            <a:r>
              <a:rPr sz="1000" b="0" i="0">
                <a:solidFill>
                  <a:srgbClr val="404040"/>
                </a:solidFill>
                <a:latin typeface="Calibri"/>
              </a:rPr>
              <a:t>Domain-adapted LMs with strong biomedical understanding. Still hallucinate post-cutoff knowledge. KGMiner's evidence-grounded protocol provides stronger auditable guarantees for research outputs.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Research Gaps</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4 Critical Gaps Identified from BTP1 + Literature</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44752"/>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1536192"/>
            <a:ext cx="5349240" cy="384048"/>
          </a:xfrm>
          <a:prstGeom prst="rect">
            <a:avLst/>
          </a:prstGeom>
          <a:noFill/>
        </p:spPr>
        <p:txBody>
          <a:bodyPr wrap="square">
            <a:spAutoFit/>
          </a:bodyPr>
          <a:lstStyle/>
          <a:p>
            <a:pPr algn="l"/>
            <a:r>
              <a:rPr sz="1300" b="1" i="0">
                <a:solidFill>
                  <a:srgbClr val="1F3864"/>
                </a:solidFill>
                <a:latin typeface="Calibri"/>
              </a:rPr>
              <a:t>Gap 1 — Untyped Entity Associations</a:t>
            </a:r>
          </a:p>
        </p:txBody>
      </p:sp>
      <p:sp>
        <p:nvSpPr>
          <p:cNvPr id="8" name="TextBox 7"/>
          <p:cNvSpPr txBox="1"/>
          <p:nvPr/>
        </p:nvSpPr>
        <p:spPr>
          <a:xfrm>
            <a:off x="438912" y="1956816"/>
            <a:ext cx="5349240" cy="1389888"/>
          </a:xfrm>
          <a:prstGeom prst="rect">
            <a:avLst/>
          </a:prstGeom>
          <a:noFill/>
        </p:spPr>
        <p:txBody>
          <a:bodyPr wrap="square">
            <a:spAutoFit/>
          </a:bodyPr>
          <a:lstStyle/>
          <a:p>
            <a:pPr algn="l"/>
            <a:r>
              <a:rPr sz="1000" b="0" i="0">
                <a:solidFill>
                  <a:srgbClr val="404040"/>
                </a:solidFill>
                <a:latin typeface="Calibri"/>
              </a:rPr>
              <a:t>NEKO and most LLM-based systems produce entity pairs without typed predicates. 'Gene A relates to Pathway B' cannot distinguish activation from inhibition, encoding from production. Fundamental to mechanistic reasoning.</a:t>
            </a:r>
          </a:p>
        </p:txBody>
      </p:sp>
      <p:sp>
        <p:nvSpPr>
          <p:cNvPr id="9" name="Rounded Rectangle 8"/>
          <p:cNvSpPr/>
          <p:nvPr/>
        </p:nvSpPr>
        <p:spPr>
          <a:xfrm>
            <a:off x="6309360" y="1444752"/>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536192"/>
            <a:ext cx="5349240" cy="384048"/>
          </a:xfrm>
          <a:prstGeom prst="rect">
            <a:avLst/>
          </a:prstGeom>
          <a:noFill/>
        </p:spPr>
        <p:txBody>
          <a:bodyPr wrap="square">
            <a:spAutoFit/>
          </a:bodyPr>
          <a:lstStyle/>
          <a:p>
            <a:pPr algn="l"/>
            <a:r>
              <a:rPr sz="1300" b="1" i="0">
                <a:solidFill>
                  <a:srgbClr val="1F3864"/>
                </a:solidFill>
                <a:latin typeface="Calibri"/>
              </a:rPr>
              <a:t>Gap 2 — Single-Pass Extraction Recall</a:t>
            </a:r>
          </a:p>
        </p:txBody>
      </p:sp>
      <p:sp>
        <p:nvSpPr>
          <p:cNvPr id="11" name="TextBox 10"/>
          <p:cNvSpPr txBox="1"/>
          <p:nvPr/>
        </p:nvSpPr>
        <p:spPr>
          <a:xfrm>
            <a:off x="6473952" y="1956816"/>
            <a:ext cx="5349240" cy="1389888"/>
          </a:xfrm>
          <a:prstGeom prst="rect">
            <a:avLst/>
          </a:prstGeom>
          <a:noFill/>
        </p:spPr>
        <p:txBody>
          <a:bodyPr wrap="square">
            <a:spAutoFit/>
          </a:bodyPr>
          <a:lstStyle/>
          <a:p>
            <a:pPr algn="l"/>
            <a:r>
              <a:rPr sz="1000" b="0" i="0">
                <a:solidFill>
                  <a:srgbClr val="404040"/>
                </a:solidFill>
                <a:latin typeface="Calibri"/>
              </a:rPr>
              <a:t>Complex abstracts describe multiple interactions at varying detail. Single-pass LLM identifies prominent interactions but misses secondary/implied relationships. KGMiner ablation: 63% of triples missed by single-pass (316 vs 855).</a:t>
            </a:r>
          </a:p>
        </p:txBody>
      </p:sp>
      <p:sp>
        <p:nvSpPr>
          <p:cNvPr id="12" name="Rounded Rectangle 11"/>
          <p:cNvSpPr/>
          <p:nvPr/>
        </p:nvSpPr>
        <p:spPr>
          <a:xfrm>
            <a:off x="274320" y="3749039"/>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840479"/>
            <a:ext cx="5349240" cy="384048"/>
          </a:xfrm>
          <a:prstGeom prst="rect">
            <a:avLst/>
          </a:prstGeom>
          <a:noFill/>
        </p:spPr>
        <p:txBody>
          <a:bodyPr wrap="square">
            <a:spAutoFit/>
          </a:bodyPr>
          <a:lstStyle/>
          <a:p>
            <a:pPr algn="l"/>
            <a:r>
              <a:rPr sz="1300" b="1" i="0">
                <a:solidFill>
                  <a:srgbClr val="1F3864"/>
                </a:solidFill>
                <a:latin typeface="Calibri"/>
              </a:rPr>
              <a:t>Gap 3 — Vocabulary Inconsistency</a:t>
            </a:r>
          </a:p>
        </p:txBody>
      </p:sp>
      <p:sp>
        <p:nvSpPr>
          <p:cNvPr id="14" name="TextBox 13"/>
          <p:cNvSpPr txBox="1"/>
          <p:nvPr/>
        </p:nvSpPr>
        <p:spPr>
          <a:xfrm>
            <a:off x="438912" y="4261104"/>
            <a:ext cx="5349240" cy="1389888"/>
          </a:xfrm>
          <a:prstGeom prst="rect">
            <a:avLst/>
          </a:prstGeom>
          <a:noFill/>
        </p:spPr>
        <p:txBody>
          <a:bodyPr wrap="square">
            <a:spAutoFit/>
          </a:bodyPr>
          <a:lstStyle/>
          <a:p>
            <a:pPr algn="l"/>
            <a:r>
              <a:rPr sz="1000" b="0" i="0">
                <a:solidFill>
                  <a:srgbClr val="404040"/>
                </a:solidFill>
                <a:latin typeface="Calibri"/>
              </a:rPr>
              <a:t>'activates', 'upregulates', 'induces', 'stimulates', 'promotes' are semantically equivalent but lexicographically distinct. Without normalization, identical relationships appear as distinct edge types, fragmenting the graph.</a:t>
            </a:r>
          </a:p>
        </p:txBody>
      </p:sp>
      <p:sp>
        <p:nvSpPr>
          <p:cNvPr id="15" name="Rounded Rectangle 14"/>
          <p:cNvSpPr/>
          <p:nvPr/>
        </p:nvSpPr>
        <p:spPr>
          <a:xfrm>
            <a:off x="6309360" y="3749039"/>
            <a:ext cx="5669280" cy="2011680"/>
          </a:xfrm>
          <a:prstGeom prst="roundRect">
            <a:avLst/>
          </a:prstGeom>
          <a:solidFill>
            <a:srgbClr val="DAE8FC"/>
          </a:solidFill>
          <a:ln w="1270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840479"/>
            <a:ext cx="5349240" cy="384048"/>
          </a:xfrm>
          <a:prstGeom prst="rect">
            <a:avLst/>
          </a:prstGeom>
          <a:noFill/>
        </p:spPr>
        <p:txBody>
          <a:bodyPr wrap="square">
            <a:spAutoFit/>
          </a:bodyPr>
          <a:lstStyle/>
          <a:p>
            <a:pPr algn="l"/>
            <a:r>
              <a:rPr sz="1300" b="1" i="0">
                <a:solidFill>
                  <a:srgbClr val="1F3864"/>
                </a:solidFill>
                <a:latin typeface="Calibri"/>
              </a:rPr>
              <a:t>Gap 4 — Hallucination in Knowledge Synthesis</a:t>
            </a:r>
          </a:p>
        </p:txBody>
      </p:sp>
      <p:sp>
        <p:nvSpPr>
          <p:cNvPr id="17" name="TextBox 16"/>
          <p:cNvSpPr txBox="1"/>
          <p:nvPr/>
        </p:nvSpPr>
        <p:spPr>
          <a:xfrm>
            <a:off x="6473952" y="4261104"/>
            <a:ext cx="5349240" cy="1389888"/>
          </a:xfrm>
          <a:prstGeom prst="rect">
            <a:avLst/>
          </a:prstGeom>
          <a:noFill/>
        </p:spPr>
        <p:txBody>
          <a:bodyPr wrap="square">
            <a:spAutoFit/>
          </a:bodyPr>
          <a:lstStyle/>
          <a:p>
            <a:pPr algn="l"/>
            <a:r>
              <a:rPr sz="1000" b="0" i="0">
                <a:solidFill>
                  <a:srgbClr val="404040"/>
                </a:solidFill>
                <a:latin typeface="Calibri"/>
              </a:rPr>
              <a:t>Standard RAG uses context but does not enforce fine-grained evidence tracing. LLM blends extracted evidence with pretraining knowledge. No prior system implemented strict PMID-level citation tracing per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Objectives</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KGMiner — Specific Research Objectives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44752"/>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1</a:t>
            </a:r>
          </a:p>
        </p:txBody>
      </p:sp>
      <p:sp>
        <p:nvSpPr>
          <p:cNvPr id="7" name="TextBox 6"/>
          <p:cNvSpPr txBox="1"/>
          <p:nvPr/>
        </p:nvSpPr>
        <p:spPr>
          <a:xfrm>
            <a:off x="1737360" y="1463040"/>
            <a:ext cx="10058400" cy="347472"/>
          </a:xfrm>
          <a:prstGeom prst="rect">
            <a:avLst/>
          </a:prstGeom>
          <a:noFill/>
        </p:spPr>
        <p:txBody>
          <a:bodyPr wrap="square">
            <a:spAutoFit/>
          </a:bodyPr>
          <a:lstStyle/>
          <a:p>
            <a:pPr algn="l"/>
            <a:r>
              <a:rPr sz="1300" b="1" i="0">
                <a:solidFill>
                  <a:srgbClr val="1F3864"/>
                </a:solidFill>
                <a:latin typeface="Calibri"/>
              </a:rPr>
              <a:t>Ontology-constrained triple extraction</a:t>
            </a:r>
          </a:p>
        </p:txBody>
      </p:sp>
      <p:sp>
        <p:nvSpPr>
          <p:cNvPr id="8" name="TextBox 7"/>
          <p:cNvSpPr txBox="1"/>
          <p:nvPr/>
        </p:nvSpPr>
        <p:spPr>
          <a:xfrm>
            <a:off x="1737360" y="1828800"/>
            <a:ext cx="10058400" cy="603504"/>
          </a:xfrm>
          <a:prstGeom prst="rect">
            <a:avLst/>
          </a:prstGeom>
          <a:noFill/>
        </p:spPr>
        <p:txBody>
          <a:bodyPr wrap="square">
            <a:spAutoFit/>
          </a:bodyPr>
          <a:lstStyle/>
          <a:p>
            <a:pPr algn="l"/>
            <a:r>
              <a:rPr sz="1100" b="0" i="0">
                <a:solidFill>
                  <a:srgbClr val="404040"/>
                </a:solidFill>
                <a:latin typeface="Calibri"/>
              </a:rPr>
              <a:t>Constrain LLM to 13-relation vocabulary. Explicit rule: quantitative measurements in dedicated has_metric triples.</a:t>
            </a:r>
          </a:p>
        </p:txBody>
      </p:sp>
      <p:sp>
        <p:nvSpPr>
          <p:cNvPr id="9" name="Rounded Rectangle 8"/>
          <p:cNvSpPr/>
          <p:nvPr/>
        </p:nvSpPr>
        <p:spPr>
          <a:xfrm>
            <a:off x="274320" y="2468880"/>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2</a:t>
            </a:r>
          </a:p>
        </p:txBody>
      </p:sp>
      <p:sp>
        <p:nvSpPr>
          <p:cNvPr id="10" name="TextBox 9"/>
          <p:cNvSpPr txBox="1"/>
          <p:nvPr/>
        </p:nvSpPr>
        <p:spPr>
          <a:xfrm>
            <a:off x="1737360" y="2487168"/>
            <a:ext cx="10058400" cy="347472"/>
          </a:xfrm>
          <a:prstGeom prst="rect">
            <a:avLst/>
          </a:prstGeom>
          <a:noFill/>
        </p:spPr>
        <p:txBody>
          <a:bodyPr wrap="square">
            <a:spAutoFit/>
          </a:bodyPr>
          <a:lstStyle/>
          <a:p>
            <a:pPr algn="l"/>
            <a:r>
              <a:rPr sz="1300" b="1" i="0">
                <a:solidFill>
                  <a:srgbClr val="1F3864"/>
                </a:solidFill>
                <a:latin typeface="Calibri"/>
              </a:rPr>
              <a:t>Multi-pass extraction protocol + ablation</a:t>
            </a:r>
          </a:p>
        </p:txBody>
      </p:sp>
      <p:sp>
        <p:nvSpPr>
          <p:cNvPr id="11" name="TextBox 10"/>
          <p:cNvSpPr txBox="1"/>
          <p:nvPr/>
        </p:nvSpPr>
        <p:spPr>
          <a:xfrm>
            <a:off x="1737360" y="2852928"/>
            <a:ext cx="10058400" cy="603504"/>
          </a:xfrm>
          <a:prstGeom prst="rect">
            <a:avLst/>
          </a:prstGeom>
          <a:noFill/>
        </p:spPr>
        <p:txBody>
          <a:bodyPr wrap="square">
            <a:spAutoFit/>
          </a:bodyPr>
          <a:lstStyle/>
          <a:p>
            <a:pPr algn="l"/>
            <a:r>
              <a:rPr sz="1100" b="0" i="0">
                <a:solidFill>
                  <a:srgbClr val="404040"/>
                </a:solidFill>
                <a:latin typeface="Calibri"/>
              </a:rPr>
              <a:t>3 passes (exhaustive, overlooked scan, gap-filling) + validation. Quantify recall vs. single-pass on 15 articles.</a:t>
            </a:r>
          </a:p>
        </p:txBody>
      </p:sp>
      <p:sp>
        <p:nvSpPr>
          <p:cNvPr id="12" name="Rounded Rectangle 11"/>
          <p:cNvSpPr/>
          <p:nvPr/>
        </p:nvSpPr>
        <p:spPr>
          <a:xfrm>
            <a:off x="274320" y="3493008"/>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3</a:t>
            </a:r>
          </a:p>
        </p:txBody>
      </p:sp>
      <p:sp>
        <p:nvSpPr>
          <p:cNvPr id="13" name="TextBox 12"/>
          <p:cNvSpPr txBox="1"/>
          <p:nvPr/>
        </p:nvSpPr>
        <p:spPr>
          <a:xfrm>
            <a:off x="1737360" y="3511296"/>
            <a:ext cx="10058400" cy="347472"/>
          </a:xfrm>
          <a:prstGeom prst="rect">
            <a:avLst/>
          </a:prstGeom>
          <a:noFill/>
        </p:spPr>
        <p:txBody>
          <a:bodyPr wrap="square">
            <a:spAutoFit/>
          </a:bodyPr>
          <a:lstStyle/>
          <a:p>
            <a:pPr algn="l"/>
            <a:r>
              <a:rPr sz="1300" b="1" i="0">
                <a:solidFill>
                  <a:srgbClr val="1F3864"/>
                </a:solidFill>
                <a:latin typeface="Calibri"/>
              </a:rPr>
              <a:t>Graph-RAG with anti-hallucination answer generation</a:t>
            </a:r>
          </a:p>
        </p:txBody>
      </p:sp>
      <p:sp>
        <p:nvSpPr>
          <p:cNvPr id="14" name="TextBox 13"/>
          <p:cNvSpPr txBox="1"/>
          <p:nvPr/>
        </p:nvSpPr>
        <p:spPr>
          <a:xfrm>
            <a:off x="1737360" y="3877056"/>
            <a:ext cx="10058400" cy="603504"/>
          </a:xfrm>
          <a:prstGeom prst="rect">
            <a:avLst/>
          </a:prstGeom>
          <a:noFill/>
        </p:spPr>
        <p:txBody>
          <a:bodyPr wrap="square">
            <a:spAutoFit/>
          </a:bodyPr>
          <a:lstStyle/>
          <a:p>
            <a:pPr algn="l"/>
            <a:r>
              <a:rPr sz="1100" b="0" i="0">
                <a:solidFill>
                  <a:srgbClr val="404040"/>
                </a:solidFill>
                <a:latin typeface="Calibri"/>
              </a:rPr>
              <a:t>Semantic search over 384-dim embeddings (all-MiniLM-L6-v2). Every claim cites source triple + PMID. No training knowledge.</a:t>
            </a:r>
          </a:p>
        </p:txBody>
      </p:sp>
      <p:sp>
        <p:nvSpPr>
          <p:cNvPr id="15" name="Rounded Rectangle 14"/>
          <p:cNvSpPr/>
          <p:nvPr/>
        </p:nvSpPr>
        <p:spPr>
          <a:xfrm>
            <a:off x="274320" y="4517136"/>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4</a:t>
            </a:r>
          </a:p>
        </p:txBody>
      </p:sp>
      <p:sp>
        <p:nvSpPr>
          <p:cNvPr id="16" name="TextBox 15"/>
          <p:cNvSpPr txBox="1"/>
          <p:nvPr/>
        </p:nvSpPr>
        <p:spPr>
          <a:xfrm>
            <a:off x="1737360" y="4535424"/>
            <a:ext cx="10058400" cy="347472"/>
          </a:xfrm>
          <a:prstGeom prst="rect">
            <a:avLst/>
          </a:prstGeom>
          <a:noFill/>
        </p:spPr>
        <p:txBody>
          <a:bodyPr wrap="square">
            <a:spAutoFit/>
          </a:bodyPr>
          <a:lstStyle/>
          <a:p>
            <a:pPr algn="l"/>
            <a:r>
              <a:rPr sz="1300" b="1" i="0">
                <a:solidFill>
                  <a:srgbClr val="1F3864"/>
                </a:solidFill>
                <a:latin typeface="Calibri"/>
              </a:rPr>
              <a:t>Post-extraction normalization pipeline</a:t>
            </a:r>
          </a:p>
        </p:txBody>
      </p:sp>
      <p:sp>
        <p:nvSpPr>
          <p:cNvPr id="17" name="TextBox 16"/>
          <p:cNvSpPr txBox="1"/>
          <p:nvPr/>
        </p:nvSpPr>
        <p:spPr>
          <a:xfrm>
            <a:off x="1737360" y="4901184"/>
            <a:ext cx="10058400" cy="603504"/>
          </a:xfrm>
          <a:prstGeom prst="rect">
            <a:avLst/>
          </a:prstGeom>
          <a:noFill/>
        </p:spPr>
        <p:txBody>
          <a:bodyPr wrap="square">
            <a:spAutoFit/>
          </a:bodyPr>
          <a:lstStyle/>
          <a:p>
            <a:pPr algn="l"/>
            <a:r>
              <a:rPr sz="1100" b="0" i="0">
                <a:solidFill>
                  <a:srgbClr val="404040"/>
                </a:solidFill>
                <a:latin typeface="Calibri"/>
              </a:rPr>
              <a:t>41 synonym strings → 13 canonical relations. Entity dedup: cosine &gt; 0.85, longest-name canonical, transitive chains resolved.</a:t>
            </a:r>
          </a:p>
        </p:txBody>
      </p:sp>
      <p:sp>
        <p:nvSpPr>
          <p:cNvPr id="18" name="Rounded Rectangle 17"/>
          <p:cNvSpPr/>
          <p:nvPr/>
        </p:nvSpPr>
        <p:spPr>
          <a:xfrm>
            <a:off x="274320" y="5541264"/>
            <a:ext cx="1325880" cy="36576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rPr>
              <a:t>Obj 5</a:t>
            </a:r>
          </a:p>
        </p:txBody>
      </p:sp>
      <p:sp>
        <p:nvSpPr>
          <p:cNvPr id="19" name="TextBox 18"/>
          <p:cNvSpPr txBox="1"/>
          <p:nvPr/>
        </p:nvSpPr>
        <p:spPr>
          <a:xfrm>
            <a:off x="1737360" y="5559552"/>
            <a:ext cx="10058400" cy="347472"/>
          </a:xfrm>
          <a:prstGeom prst="rect">
            <a:avLst/>
          </a:prstGeom>
          <a:noFill/>
        </p:spPr>
        <p:txBody>
          <a:bodyPr wrap="square">
            <a:spAutoFit/>
          </a:bodyPr>
          <a:lstStyle/>
          <a:p>
            <a:pPr algn="l"/>
            <a:r>
              <a:rPr sz="1300" b="1" i="0">
                <a:solidFill>
                  <a:srgbClr val="1F3864"/>
                </a:solidFill>
                <a:latin typeface="Calibri"/>
              </a:rPr>
              <a:t>Real-world case study + deployment</a:t>
            </a:r>
          </a:p>
        </p:txBody>
      </p:sp>
      <p:sp>
        <p:nvSpPr>
          <p:cNvPr id="20" name="TextBox 19"/>
          <p:cNvSpPr txBox="1"/>
          <p:nvPr/>
        </p:nvSpPr>
        <p:spPr>
          <a:xfrm>
            <a:off x="1737360" y="5925312"/>
            <a:ext cx="10058400" cy="603504"/>
          </a:xfrm>
          <a:prstGeom prst="rect">
            <a:avLst/>
          </a:prstGeom>
          <a:noFill/>
        </p:spPr>
        <p:txBody>
          <a:bodyPr wrap="square">
            <a:spAutoFit/>
          </a:bodyPr>
          <a:lstStyle/>
          <a:p>
            <a:pPr algn="l"/>
            <a:r>
              <a:rPr sz="1100" b="0" i="0">
                <a:solidFill>
                  <a:srgbClr val="404040"/>
                </a:solidFill>
                <a:latin typeface="Calibri"/>
              </a:rPr>
              <a:t>226 PubMed abstracts (beta-carotene). Quantitative comparison vs. BTP1 NEKO. FastAPI web app, Groq + Cerebras (13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320040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NEKO Paper Context</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Xiao et al. (2025) — Original Results vs BTP1 vs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11640312" cy="347472"/>
          </a:xfrm>
          <a:prstGeom prst="rect">
            <a:avLst/>
          </a:prstGeom>
          <a:noFill/>
        </p:spPr>
        <p:txBody>
          <a:bodyPr wrap="square">
            <a:spAutoFit/>
          </a:bodyPr>
          <a:lstStyle/>
          <a:p>
            <a:pPr algn="l"/>
            <a:r>
              <a:rPr sz="1200" b="1" i="0">
                <a:solidFill>
                  <a:srgbClr val="1F3864"/>
                </a:solidFill>
                <a:latin typeface="Calibri"/>
              </a:rPr>
              <a:t>NEKO  (Xiao et al., 2025 — Metabolic Engineering Communications, ScienceDirect, DOI: 10.1016/j.mec.2024.e00238)</a:t>
            </a:r>
          </a:p>
        </p:txBody>
      </p:sp>
      <p:graphicFrame>
        <p:nvGraphicFramePr>
          <p:cNvPr id="7" name="Table 6"/>
          <p:cNvGraphicFramePr>
            <a:graphicFrameLocks noGrp="1"/>
          </p:cNvGraphicFramePr>
          <p:nvPr/>
        </p:nvGraphicFramePr>
        <p:xfrm>
          <a:off x="274320" y="1874519"/>
          <a:ext cx="11640312" cy="4754880"/>
        </p:xfrm>
        <a:graphic>
          <a:graphicData uri="http://schemas.openxmlformats.org/drawingml/2006/table">
            <a:tbl>
              <a:tblPr firstRow="1" bandRow="1">
                <a:tableStyleId>{5C22544A-7EE6-4342-B048-85BDC9FD1C3A}</a:tableStyleId>
              </a:tblPr>
              <a:tblGrid>
                <a:gridCol w="2194560"/>
                <a:gridCol w="2743200"/>
                <a:gridCol w="2862072"/>
                <a:gridCol w="3840480"/>
              </a:tblGrid>
              <a:tr h="432261">
                <a:tc>
                  <a:txBody>
                    <a:bodyPr/>
                    <a:lstStyle/>
                    <a:p>
                      <a:pPr algn="ctr"/>
                      <a:r>
                        <a:rPr b="1" sz="1000">
                          <a:solidFill>
                            <a:srgbClr val="FFFFFF"/>
                          </a:solidFill>
                          <a:latin typeface="Calibri"/>
                        </a:rPr>
                        <a:t>Aspect</a:t>
                      </a:r>
                    </a:p>
                  </a:txBody>
                  <a:tcPr>
                    <a:solidFill>
                      <a:srgbClr val="1F3864"/>
                    </a:solidFill>
                  </a:tcPr>
                </a:tc>
                <a:tc>
                  <a:txBody>
                    <a:bodyPr/>
                    <a:lstStyle/>
                    <a:p>
                      <a:pPr algn="ctr"/>
                      <a:r>
                        <a:rPr b="1" sz="1000">
                          <a:solidFill>
                            <a:srgbClr val="FFFFFF"/>
                          </a:solidFill>
                          <a:latin typeface="Calibri"/>
                        </a:rPr>
                        <a:t>NEKO Paper (Xiao et al.)</a:t>
                      </a:r>
                    </a:p>
                  </a:txBody>
                  <a:tcPr>
                    <a:solidFill>
                      <a:srgbClr val="1F3864"/>
                    </a:solidFill>
                  </a:tcPr>
                </a:tc>
                <a:tc>
                  <a:txBody>
                    <a:bodyPr/>
                    <a:lstStyle/>
                    <a:p>
                      <a:pPr algn="ctr"/>
                      <a:r>
                        <a:rPr b="1" sz="1000">
                          <a:solidFill>
                            <a:srgbClr val="FFFFFF"/>
                          </a:solidFill>
                          <a:latin typeface="Calibri"/>
                        </a:rPr>
                        <a:t>BTP1 Adapted NEKO</a:t>
                      </a:r>
                    </a:p>
                  </a:txBody>
                  <a:tcPr>
                    <a:solidFill>
                      <a:srgbClr val="1F3864"/>
                    </a:solidFill>
                  </a:tcPr>
                </a:tc>
                <a:tc>
                  <a:txBody>
                    <a:bodyPr/>
                    <a:lstStyle/>
                    <a:p>
                      <a:pPr algn="ctr"/>
                      <a:r>
                        <a:rPr b="1" sz="1000">
                          <a:solidFill>
                            <a:srgbClr val="FFFFFF"/>
                          </a:solidFill>
                          <a:latin typeface="Calibri"/>
                        </a:rPr>
                        <a:t>KGMiner (BTP2)</a:t>
                      </a:r>
                    </a:p>
                  </a:txBody>
                  <a:tcPr>
                    <a:solidFill>
                      <a:srgbClr val="1F3864"/>
                    </a:solidFill>
                  </a:tcPr>
                </a:tc>
              </a:tr>
              <a:tr h="432261">
                <a:tc>
                  <a:txBody>
                    <a:bodyPr/>
                    <a:lstStyle/>
                    <a:p>
                      <a:r>
                        <a:rPr sz="900">
                          <a:solidFill>
                            <a:srgbClr val="404040"/>
                          </a:solidFill>
                          <a:latin typeface="Calibri"/>
                        </a:rPr>
                        <a:t>LLM Used</a:t>
                      </a:r>
                    </a:p>
                  </a:txBody>
                  <a:tcPr>
                    <a:solidFill>
                      <a:srgbClr val="FFFFFF"/>
                    </a:solidFill>
                  </a:tcPr>
                </a:tc>
                <a:tc>
                  <a:txBody>
                    <a:bodyPr/>
                    <a:lstStyle/>
                    <a:p>
                      <a:r>
                        <a:rPr sz="900">
                          <a:solidFill>
                            <a:srgbClr val="404040"/>
                          </a:solidFill>
                          <a:latin typeface="Calibri"/>
                        </a:rPr>
                        <a:t>Qwen (local deployment)</a:t>
                      </a:r>
                    </a:p>
                  </a:txBody>
                  <a:tcPr>
                    <a:solidFill>
                      <a:srgbClr val="FFFFFF"/>
                    </a:solidFill>
                  </a:tcPr>
                </a:tc>
                <a:tc>
                  <a:txBody>
                    <a:bodyPr/>
                    <a:lstStyle/>
                    <a:p>
                      <a:r>
                        <a:rPr sz="900">
                          <a:solidFill>
                            <a:srgbClr val="404040"/>
                          </a:solidFill>
                          <a:latin typeface="Calibri"/>
                        </a:rPr>
                        <a:t>LLaMA via free-tier APIs</a:t>
                      </a:r>
                    </a:p>
                  </a:txBody>
                  <a:tcPr>
                    <a:solidFill>
                      <a:srgbClr val="FFFFFF"/>
                    </a:solidFill>
                  </a:tcPr>
                </a:tc>
                <a:tc>
                  <a:txBody>
                    <a:bodyPr/>
                    <a:lstStyle/>
                    <a:p>
                      <a:r>
                        <a:rPr sz="900">
                          <a:solidFill>
                            <a:srgbClr val="404040"/>
                          </a:solidFill>
                          <a:latin typeface="Calibri"/>
                        </a:rPr>
                        <a:t>Groq + Cerebras, 13 models, failover</a:t>
                      </a:r>
                    </a:p>
                  </a:txBody>
                  <a:tcPr>
                    <a:solidFill>
                      <a:srgbClr val="FFFFFF"/>
                    </a:solidFill>
                  </a:tcPr>
                </a:tc>
              </a:tr>
              <a:tr h="432261">
                <a:tc>
                  <a:txBody>
                    <a:bodyPr/>
                    <a:lstStyle/>
                    <a:p>
                      <a:r>
                        <a:rPr sz="900">
                          <a:solidFill>
                            <a:srgbClr val="404040"/>
                          </a:solidFill>
                          <a:latin typeface="Calibri"/>
                        </a:rPr>
                        <a:t>Case Study Domain</a:t>
                      </a:r>
                    </a:p>
                  </a:txBody>
                  <a:tcPr>
                    <a:solidFill>
                      <a:srgbClr val="F2F2F2"/>
                    </a:solidFill>
                  </a:tcPr>
                </a:tc>
                <a:tc>
                  <a:txBody>
                    <a:bodyPr/>
                    <a:lstStyle/>
                    <a:p>
                      <a:r>
                        <a:rPr sz="900">
                          <a:solidFill>
                            <a:srgbClr val="404040"/>
                          </a:solidFill>
                          <a:latin typeface="Calibri"/>
                        </a:rPr>
                        <a:t>Yeast fermentation +</a:t>
                      </a:r>
                    </a:p>
                    <a:p>
                      <a:r>
                        <a:t>cyanobacterial biorefinery</a:t>
                      </a:r>
                    </a:p>
                  </a:txBody>
                  <a:tcPr>
                    <a:solidFill>
                      <a:srgbClr val="F2F2F2"/>
                    </a:solidFill>
                  </a:tcPr>
                </a:tc>
                <a:tc>
                  <a:txBody>
                    <a:bodyPr/>
                    <a:lstStyle/>
                    <a:p>
                      <a:r>
                        <a:rPr sz="900">
                          <a:solidFill>
                            <a:srgbClr val="404040"/>
                          </a:solidFill>
                          <a:latin typeface="Calibri"/>
                        </a:rPr>
                        <a:t>Rhodococcus (1,088 abstracts)</a:t>
                      </a:r>
                    </a:p>
                  </a:txBody>
                  <a:tcPr>
                    <a:solidFill>
                      <a:srgbClr val="F2F2F2"/>
                    </a:solidFill>
                  </a:tcPr>
                </a:tc>
                <a:tc>
                  <a:txBody>
                    <a:bodyPr/>
                    <a:lstStyle/>
                    <a:p>
                      <a:r>
                        <a:rPr sz="900">
                          <a:solidFill>
                            <a:srgbClr val="404040"/>
                          </a:solidFill>
                          <a:latin typeface="Calibri"/>
                        </a:rPr>
                        <a:t>Beta-carotene biosynthesis</a:t>
                      </a:r>
                    </a:p>
                    <a:p>
                      <a:r>
                        <a:t>(226 abstracts)</a:t>
                      </a:r>
                    </a:p>
                  </a:txBody>
                  <a:tcPr>
                    <a:solidFill>
                      <a:srgbClr val="F2F2F2"/>
                    </a:solidFill>
                  </a:tcPr>
                </a:tc>
              </a:tr>
              <a:tr h="432261">
                <a:tc>
                  <a:txBody>
                    <a:bodyPr/>
                    <a:lstStyle/>
                    <a:p>
                      <a:r>
                        <a:rPr sz="900">
                          <a:solidFill>
                            <a:srgbClr val="404040"/>
                          </a:solidFill>
                          <a:latin typeface="Calibri"/>
                        </a:rPr>
                        <a:t>Relation Types</a:t>
                      </a:r>
                    </a:p>
                  </a:txBody>
                  <a:tcPr>
                    <a:solidFill>
                      <a:srgbClr val="FFFFFF"/>
                    </a:solidFill>
                  </a:tcPr>
                </a:tc>
                <a:tc>
                  <a:txBody>
                    <a:bodyPr/>
                    <a:lstStyle/>
                    <a:p>
                      <a:r>
                        <a:rPr sz="900">
                          <a:solidFill>
                            <a:srgbClr val="404040"/>
                          </a:solidFill>
                          <a:latin typeface="Calibri"/>
                        </a:rPr>
                        <a:t>Untyped predicates</a:t>
                      </a:r>
                    </a:p>
                  </a:txBody>
                  <a:tcPr>
                    <a:solidFill>
                      <a:srgbClr val="FFFFFF"/>
                    </a:solidFill>
                  </a:tcPr>
                </a:tc>
                <a:tc>
                  <a:txBody>
                    <a:bodyPr/>
                    <a:lstStyle/>
                    <a:p>
                      <a:r>
                        <a:rPr sz="900">
                          <a:solidFill>
                            <a:srgbClr val="404040"/>
                          </a:solidFill>
                          <a:latin typeface="Calibri"/>
                        </a:rPr>
                        <a:t>Untyped predicates</a:t>
                      </a:r>
                    </a:p>
                  </a:txBody>
                  <a:tcPr>
                    <a:solidFill>
                      <a:srgbClr val="FFFFFF"/>
                    </a:solidFill>
                  </a:tcPr>
                </a:tc>
                <a:tc>
                  <a:txBody>
                    <a:bodyPr/>
                    <a:lstStyle/>
                    <a:p>
                      <a:r>
                        <a:rPr sz="900">
                          <a:solidFill>
                            <a:srgbClr val="404040"/>
                          </a:solidFill>
                          <a:latin typeface="Calibri"/>
                        </a:rPr>
                        <a:t>13-relation controlled vocabulary</a:t>
                      </a:r>
                    </a:p>
                  </a:txBody>
                  <a:tcPr>
                    <a:solidFill>
                      <a:srgbClr val="FFFFFF"/>
                    </a:solidFill>
                  </a:tcPr>
                </a:tc>
              </a:tr>
              <a:tr h="432261">
                <a:tc>
                  <a:txBody>
                    <a:bodyPr/>
                    <a:lstStyle/>
                    <a:p>
                      <a:r>
                        <a:rPr sz="900">
                          <a:solidFill>
                            <a:srgbClr val="404040"/>
                          </a:solidFill>
                          <a:latin typeface="Calibri"/>
                        </a:rPr>
                        <a:t>Extraction</a:t>
                      </a:r>
                    </a:p>
                  </a:txBody>
                  <a:tcPr>
                    <a:solidFill>
                      <a:srgbClr val="F2F2F2"/>
                    </a:solidFill>
                  </a:tcPr>
                </a:tc>
                <a:tc>
                  <a:txBody>
                    <a:bodyPr/>
                    <a:lstStyle/>
                    <a:p>
                      <a:r>
                        <a:rPr sz="900">
                          <a:solidFill>
                            <a:srgbClr val="404040"/>
                          </a:solidFill>
                          <a:latin typeface="Calibri"/>
                        </a:rPr>
                        <a:t>Single pass per abstract</a:t>
                      </a:r>
                    </a:p>
                  </a:txBody>
                  <a:tcPr>
                    <a:solidFill>
                      <a:srgbClr val="F2F2F2"/>
                    </a:solidFill>
                  </a:tcPr>
                </a:tc>
                <a:tc>
                  <a:txBody>
                    <a:bodyPr/>
                    <a:lstStyle/>
                    <a:p>
                      <a:r>
                        <a:rPr sz="900">
                          <a:solidFill>
                            <a:srgbClr val="404040"/>
                          </a:solidFill>
                          <a:latin typeface="Calibri"/>
                        </a:rPr>
                        <a:t>Single pass per abstract</a:t>
                      </a:r>
                    </a:p>
                  </a:txBody>
                  <a:tcPr>
                    <a:solidFill>
                      <a:srgbClr val="F2F2F2"/>
                    </a:solidFill>
                  </a:tcPr>
                </a:tc>
                <a:tc>
                  <a:txBody>
                    <a:bodyPr/>
                    <a:lstStyle/>
                    <a:p>
                      <a:r>
                        <a:rPr sz="900">
                          <a:solidFill>
                            <a:srgbClr val="404040"/>
                          </a:solidFill>
                          <a:latin typeface="Calibri"/>
                        </a:rPr>
                        <a:t>3 extraction + 1 validation pass</a:t>
                      </a:r>
                    </a:p>
                  </a:txBody>
                  <a:tcPr>
                    <a:solidFill>
                      <a:srgbClr val="F2F2F2"/>
                    </a:solidFill>
                  </a:tcPr>
                </a:tc>
              </a:tr>
              <a:tr h="432261">
                <a:tc>
                  <a:txBody>
                    <a:bodyPr/>
                    <a:lstStyle/>
                    <a:p>
                      <a:r>
                        <a:rPr sz="900">
                          <a:solidFill>
                            <a:srgbClr val="404040"/>
                          </a:solidFill>
                          <a:latin typeface="Calibri"/>
                        </a:rPr>
                        <a:t>Graph Nodes</a:t>
                      </a:r>
                    </a:p>
                  </a:txBody>
                  <a:tcPr>
                    <a:solidFill>
                      <a:srgbClr val="FFFFFF"/>
                    </a:solidFill>
                  </a:tcPr>
                </a:tc>
                <a:tc>
                  <a:txBody>
                    <a:bodyPr/>
                    <a:lstStyle/>
                    <a:p>
                      <a:r>
                        <a:rPr sz="900">
                          <a:solidFill>
                            <a:srgbClr val="404040"/>
                          </a:solidFill>
                          <a:latin typeface="Calibri"/>
                        </a:rPr>
                        <a:t>Not specified</a:t>
                      </a:r>
                    </a:p>
                  </a:txBody>
                  <a:tcPr>
                    <a:solidFill>
                      <a:srgbClr val="FFFFFF"/>
                    </a:solidFill>
                  </a:tcPr>
                </a:tc>
                <a:tc>
                  <a:txBody>
                    <a:bodyPr/>
                    <a:lstStyle/>
                    <a:p>
                      <a:r>
                        <a:rPr sz="900">
                          <a:solidFill>
                            <a:srgbClr val="404040"/>
                          </a:solidFill>
                          <a:latin typeface="Calibri"/>
                        </a:rPr>
                        <a:t>180+ nodes</a:t>
                      </a:r>
                    </a:p>
                  </a:txBody>
                  <a:tcPr>
                    <a:solidFill>
                      <a:srgbClr val="FFFFFF"/>
                    </a:solidFill>
                  </a:tcPr>
                </a:tc>
                <a:tc>
                  <a:txBody>
                    <a:bodyPr/>
                    <a:lstStyle/>
                    <a:p>
                      <a:r>
                        <a:rPr sz="900">
                          <a:solidFill>
                            <a:srgbClr val="404040"/>
                          </a:solidFill>
                          <a:latin typeface="Calibri"/>
                        </a:rPr>
                        <a:t>2,996 normalized entities</a:t>
                      </a:r>
                    </a:p>
                  </a:txBody>
                  <a:tcPr>
                    <a:solidFill>
                      <a:srgbClr val="FFFFFF"/>
                    </a:solidFill>
                  </a:tcPr>
                </a:tc>
              </a:tr>
              <a:tr h="432261">
                <a:tc>
                  <a:txBody>
                    <a:bodyPr/>
                    <a:lstStyle/>
                    <a:p>
                      <a:r>
                        <a:rPr sz="900">
                          <a:solidFill>
                            <a:srgbClr val="404040"/>
                          </a:solidFill>
                          <a:latin typeface="Calibri"/>
                        </a:rPr>
                        <a:t>Triples</a:t>
                      </a:r>
                    </a:p>
                  </a:txBody>
                  <a:tcPr>
                    <a:solidFill>
                      <a:srgbClr val="F2F2F2"/>
                    </a:solidFill>
                  </a:tcPr>
                </a:tc>
                <a:tc>
                  <a:txBody>
                    <a:bodyPr/>
                    <a:lstStyle/>
                    <a:p>
                      <a:r>
                        <a:rPr sz="900">
                          <a:solidFill>
                            <a:srgbClr val="404040"/>
                          </a:solidFill>
                          <a:latin typeface="Calibri"/>
                        </a:rPr>
                        <a:t>Not specified</a:t>
                      </a:r>
                    </a:p>
                  </a:txBody>
                  <a:tcPr>
                    <a:solidFill>
                      <a:srgbClr val="F2F2F2"/>
                    </a:solidFill>
                  </a:tcPr>
                </a:tc>
                <a:tc>
                  <a:txBody>
                    <a:bodyPr/>
                    <a:lstStyle/>
                    <a:p>
                      <a:r>
                        <a:rPr sz="900">
                          <a:solidFill>
                            <a:srgbClr val="404040"/>
                          </a:solidFill>
                          <a:latin typeface="Calibri"/>
                        </a:rPr>
                        <a:t>~400 untyped (estimated)</a:t>
                      </a:r>
                    </a:p>
                  </a:txBody>
                  <a:tcPr>
                    <a:solidFill>
                      <a:srgbClr val="F2F2F2"/>
                    </a:solidFill>
                  </a:tcPr>
                </a:tc>
                <a:tc>
                  <a:txBody>
                    <a:bodyPr/>
                    <a:lstStyle/>
                    <a:p>
                      <a:r>
                        <a:rPr sz="900">
                          <a:solidFill>
                            <a:srgbClr val="404040"/>
                          </a:solidFill>
                          <a:latin typeface="Calibri"/>
                        </a:rPr>
                        <a:t>4,722 typed triples</a:t>
                      </a:r>
                    </a:p>
                  </a:txBody>
                  <a:tcPr>
                    <a:solidFill>
                      <a:srgbClr val="F2F2F2"/>
                    </a:solidFill>
                  </a:tcPr>
                </a:tc>
              </a:tr>
              <a:tr h="432261">
                <a:tc>
                  <a:txBody>
                    <a:bodyPr/>
                    <a:lstStyle/>
                    <a:p>
                      <a:r>
                        <a:rPr sz="900">
                          <a:solidFill>
                            <a:srgbClr val="404040"/>
                          </a:solidFill>
                          <a:latin typeface="Calibri"/>
                        </a:rPr>
                        <a:t>Metric handling</a:t>
                      </a:r>
                    </a:p>
                  </a:txBody>
                  <a:tcPr>
                    <a:solidFill>
                      <a:srgbClr val="FFFFFF"/>
                    </a:solidFill>
                  </a:tcPr>
                </a:tc>
                <a:tc>
                  <a:txBody>
                    <a:bodyPr/>
                    <a:lstStyle/>
                    <a:p>
                      <a:r>
                        <a:rPr sz="900">
                          <a:solidFill>
                            <a:srgbClr val="404040"/>
                          </a:solidFill>
                          <a:latin typeface="Calibri"/>
                        </a:rPr>
                        <a:t>Embedded in entity names</a:t>
                      </a:r>
                    </a:p>
                  </a:txBody>
                  <a:tcPr>
                    <a:solidFill>
                      <a:srgbClr val="FFFFFF"/>
                    </a:solidFill>
                  </a:tcPr>
                </a:tc>
                <a:tc>
                  <a:txBody>
                    <a:bodyPr/>
                    <a:lstStyle/>
                    <a:p>
                      <a:r>
                        <a:rPr sz="900">
                          <a:solidFill>
                            <a:srgbClr val="404040"/>
                          </a:solidFill>
                          <a:latin typeface="Calibri"/>
                        </a:rPr>
                        <a:t>Embedded in entity names</a:t>
                      </a:r>
                    </a:p>
                  </a:txBody>
                  <a:tcPr>
                    <a:solidFill>
                      <a:srgbClr val="FFFFFF"/>
                    </a:solidFill>
                  </a:tcPr>
                </a:tc>
                <a:tc>
                  <a:txBody>
                    <a:bodyPr/>
                    <a:lstStyle/>
                    <a:p>
                      <a:r>
                        <a:rPr sz="900">
                          <a:solidFill>
                            <a:srgbClr val="404040"/>
                          </a:solidFill>
                          <a:latin typeface="Calibri"/>
                        </a:rPr>
                        <a:t>Structured has_metric triples (598)</a:t>
                      </a:r>
                    </a:p>
                  </a:txBody>
                  <a:tcPr>
                    <a:solidFill>
                      <a:srgbClr val="FFFFFF"/>
                    </a:solidFill>
                  </a:tcPr>
                </a:tc>
              </a:tr>
              <a:tr h="432261">
                <a:tc>
                  <a:txBody>
                    <a:bodyPr/>
                    <a:lstStyle/>
                    <a:p>
                      <a:r>
                        <a:rPr sz="900">
                          <a:solidFill>
                            <a:srgbClr val="404040"/>
                          </a:solidFill>
                          <a:latin typeface="Calibri"/>
                        </a:rPr>
                        <a:t>Query Interface</a:t>
                      </a:r>
                    </a:p>
                  </a:txBody>
                  <a:tcPr>
                    <a:solidFill>
                      <a:srgbClr val="F2F2F2"/>
                    </a:solidFill>
                  </a:tcPr>
                </a:tc>
                <a:tc>
                  <a:txBody>
                    <a:bodyPr/>
                    <a:lstStyle/>
                    <a:p>
                      <a:r>
                        <a:rPr sz="900">
                          <a:solidFill>
                            <a:srgbClr val="404040"/>
                          </a:solidFill>
                          <a:latin typeface="Calibri"/>
                        </a:rPr>
                        <a:t>Keyword-based</a:t>
                      </a:r>
                    </a:p>
                  </a:txBody>
                  <a:tcPr>
                    <a:solidFill>
                      <a:srgbClr val="F2F2F2"/>
                    </a:solidFill>
                  </a:tcPr>
                </a:tc>
                <a:tc>
                  <a:txBody>
                    <a:bodyPr/>
                    <a:lstStyle/>
                    <a:p>
                      <a:r>
                        <a:rPr sz="900">
                          <a:solidFill>
                            <a:srgbClr val="404040"/>
                          </a:solidFill>
                          <a:latin typeface="Calibri"/>
                        </a:rPr>
                        <a:t>Keyword graph traversal</a:t>
                      </a:r>
                    </a:p>
                  </a:txBody>
                  <a:tcPr>
                    <a:solidFill>
                      <a:srgbClr val="F2F2F2"/>
                    </a:solidFill>
                  </a:tcPr>
                </a:tc>
                <a:tc>
                  <a:txBody>
                    <a:bodyPr/>
                    <a:lstStyle/>
                    <a:p>
                      <a:r>
                        <a:rPr sz="900">
                          <a:solidFill>
                            <a:srgbClr val="404040"/>
                          </a:solidFill>
                          <a:latin typeface="Calibri"/>
                        </a:rPr>
                        <a:t>Semantic NL search (embeddings)</a:t>
                      </a:r>
                    </a:p>
                  </a:txBody>
                  <a:tcPr>
                    <a:solidFill>
                      <a:srgbClr val="F2F2F2"/>
                    </a:solidFill>
                  </a:tcPr>
                </a:tc>
              </a:tr>
              <a:tr h="432261">
                <a:tc>
                  <a:txBody>
                    <a:bodyPr/>
                    <a:lstStyle/>
                    <a:p>
                      <a:r>
                        <a:rPr sz="900">
                          <a:solidFill>
                            <a:srgbClr val="404040"/>
                          </a:solidFill>
                          <a:latin typeface="Calibri"/>
                        </a:rPr>
                        <a:t>Hallucination ctrl</a:t>
                      </a:r>
                    </a:p>
                  </a:txBody>
                  <a:tcPr>
                    <a:solidFill>
                      <a:srgbClr val="FFFFFF"/>
                    </a:solidFill>
                  </a:tcPr>
                </a:tc>
                <a:tc>
                  <a:txBody>
                    <a:bodyPr/>
                    <a:lstStyle/>
                    <a:p>
                      <a:r>
                        <a:rPr sz="900">
                          <a:solidFill>
                            <a:srgbClr val="404040"/>
                          </a:solidFill>
                          <a:latin typeface="Calibri"/>
                        </a:rPr>
                        <a:t>None specified</a:t>
                      </a:r>
                    </a:p>
                  </a:txBody>
                  <a:tcPr>
                    <a:solidFill>
                      <a:srgbClr val="FFFFFF"/>
                    </a:solidFill>
                  </a:tcPr>
                </a:tc>
                <a:tc>
                  <a:txBody>
                    <a:bodyPr/>
                    <a:lstStyle/>
                    <a:p>
                      <a:r>
                        <a:rPr sz="900">
                          <a:solidFill>
                            <a:srgbClr val="404040"/>
                          </a:solidFill>
                          <a:latin typeface="Calibri"/>
                        </a:rPr>
                        <a:t>Context-restricted prompting</a:t>
                      </a:r>
                    </a:p>
                  </a:txBody>
                  <a:tcPr>
                    <a:solidFill>
                      <a:srgbClr val="FFFFFF"/>
                    </a:solidFill>
                  </a:tcPr>
                </a:tc>
                <a:tc>
                  <a:txBody>
                    <a:bodyPr/>
                    <a:lstStyle/>
                    <a:p>
                      <a:r>
                        <a:rPr sz="900">
                          <a:solidFill>
                            <a:srgbClr val="404040"/>
                          </a:solidFill>
                          <a:latin typeface="Calibri"/>
                        </a:rPr>
                        <a:t>Anti-hallucination + PMID per claim</a:t>
                      </a:r>
                    </a:p>
                  </a:txBody>
                  <a:tcPr>
                    <a:solidFill>
                      <a:srgbClr val="FFFFFF"/>
                    </a:solidFill>
                  </a:tcPr>
                </a:tc>
              </a:tr>
              <a:tr h="432270">
                <a:tc>
                  <a:txBody>
                    <a:bodyPr/>
                    <a:lstStyle/>
                    <a:p>
                      <a:r>
                        <a:rPr sz="900">
                          <a:solidFill>
                            <a:srgbClr val="404040"/>
                          </a:solidFill>
                          <a:latin typeface="Calibri"/>
                        </a:rPr>
                        <a:t>Key Validated Claim</a:t>
                      </a:r>
                    </a:p>
                  </a:txBody>
                  <a:tcPr>
                    <a:solidFill>
                      <a:srgbClr val="F2F2F2"/>
                    </a:solidFill>
                  </a:tcPr>
                </a:tc>
                <a:tc>
                  <a:txBody>
                    <a:bodyPr/>
                    <a:lstStyle/>
                    <a:p>
                      <a:r>
                        <a:rPr sz="900">
                          <a:solidFill>
                            <a:srgbClr val="404040"/>
                          </a:solidFill>
                          <a:latin typeface="Calibri"/>
                        </a:rPr>
                        <a:t>'More informative than</a:t>
                      </a:r>
                    </a:p>
                    <a:p>
                      <a:r>
                        <a:t>GPT-4 zero-shot Q&amp;A'</a:t>
                      </a:r>
                    </a:p>
                  </a:txBody>
                  <a:tcPr>
                    <a:solidFill>
                      <a:srgbClr val="F2F2F2"/>
                    </a:solidFill>
                  </a:tcPr>
                </a:tc>
                <a:tc>
                  <a:txBody>
                    <a:bodyPr/>
                    <a:lstStyle/>
                    <a:p>
                      <a:r>
                        <a:rPr sz="900">
                          <a:solidFill>
                            <a:srgbClr val="404040"/>
                          </a:solidFill>
                          <a:latin typeface="Calibri"/>
                        </a:rPr>
                        <a:t>'Higher provenance than</a:t>
                      </a:r>
                    </a:p>
                    <a:p>
                      <a:r>
                        <a:t>zero-shot GPT-4'</a:t>
                      </a:r>
                    </a:p>
                  </a:txBody>
                  <a:tcPr>
                    <a:solidFill>
                      <a:srgbClr val="F2F2F2"/>
                    </a:solidFill>
                  </a:tcPr>
                </a:tc>
                <a:tc>
                  <a:txBody>
                    <a:bodyPr/>
                    <a:lstStyle/>
                    <a:p>
                      <a:r>
                        <a:rPr sz="900">
                          <a:solidFill>
                            <a:srgbClr val="404040"/>
                          </a:solidFill>
                          <a:latin typeface="Calibri"/>
                        </a:rPr>
                        <a:t>170.6% more triples;</a:t>
                      </a:r>
                    </a:p>
                    <a:p>
                      <a:r>
                        <a:t>citation-backed structured answers</a:t>
                      </a:r>
                    </a:p>
                  </a:txBody>
                  <a:tcPr>
                    <a:solidFill>
                      <a:srgbClr val="F2F2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System Architecture — KGMiner Six-Stage Pipeline</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1. Automated
Query
Generation</a:t>
            </a:r>
          </a:p>
        </p:txBody>
      </p:sp>
      <p:sp>
        <p:nvSpPr>
          <p:cNvPr id="7" name="TextBox 6"/>
          <p:cNvSpPr txBox="1"/>
          <p:nvPr/>
        </p:nvSpPr>
        <p:spPr>
          <a:xfrm>
            <a:off x="1993391"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8" name="Rounded Rectangle 7"/>
          <p:cNvSpPr/>
          <p:nvPr/>
        </p:nvSpPr>
        <p:spPr>
          <a:xfrm>
            <a:off x="219456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2. PubMed
Retrieval +
Filtering</a:t>
            </a:r>
          </a:p>
        </p:txBody>
      </p:sp>
      <p:sp>
        <p:nvSpPr>
          <p:cNvPr id="9" name="TextBox 8"/>
          <p:cNvSpPr txBox="1"/>
          <p:nvPr/>
        </p:nvSpPr>
        <p:spPr>
          <a:xfrm>
            <a:off x="386791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0" name="Rounded Rectangle 9"/>
          <p:cNvSpPr/>
          <p:nvPr/>
        </p:nvSpPr>
        <p:spPr>
          <a:xfrm>
            <a:off x="406908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3. Ontology-
Constrained
Extraction</a:t>
            </a:r>
          </a:p>
        </p:txBody>
      </p:sp>
      <p:sp>
        <p:nvSpPr>
          <p:cNvPr id="11" name="TextBox 10"/>
          <p:cNvSpPr txBox="1"/>
          <p:nvPr/>
        </p:nvSpPr>
        <p:spPr>
          <a:xfrm>
            <a:off x="574243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2" name="Rounded Rectangle 11"/>
          <p:cNvSpPr/>
          <p:nvPr/>
        </p:nvSpPr>
        <p:spPr>
          <a:xfrm>
            <a:off x="594360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4. Multi-Pass
Refinement
3+1 Passes</a:t>
            </a:r>
          </a:p>
        </p:txBody>
      </p:sp>
      <p:sp>
        <p:nvSpPr>
          <p:cNvPr id="13" name="TextBox 12"/>
          <p:cNvSpPr txBox="1"/>
          <p:nvPr/>
        </p:nvSpPr>
        <p:spPr>
          <a:xfrm>
            <a:off x="761695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4" name="Rounded Rectangle 13"/>
          <p:cNvSpPr/>
          <p:nvPr/>
        </p:nvSpPr>
        <p:spPr>
          <a:xfrm>
            <a:off x="781812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5. KG
Construction
(NetworkX)</a:t>
            </a:r>
          </a:p>
        </p:txBody>
      </p:sp>
      <p:sp>
        <p:nvSpPr>
          <p:cNvPr id="15" name="TextBox 14"/>
          <p:cNvSpPr txBox="1"/>
          <p:nvPr/>
        </p:nvSpPr>
        <p:spPr>
          <a:xfrm>
            <a:off x="9491472" y="2395728"/>
            <a:ext cx="256032" cy="502920"/>
          </a:xfrm>
          <a:prstGeom prst="rect">
            <a:avLst/>
          </a:prstGeom>
          <a:noFill/>
        </p:spPr>
        <p:txBody>
          <a:bodyPr wrap="square">
            <a:spAutoFit/>
          </a:bodyPr>
          <a:lstStyle/>
          <a:p>
            <a:pPr algn="ctr"/>
            <a:r>
              <a:rPr sz="1300" b="0" i="0">
                <a:solidFill>
                  <a:srgbClr val="000000"/>
                </a:solidFill>
                <a:latin typeface="Calibri"/>
              </a:rPr>
              <a:t>►</a:t>
            </a:r>
          </a:p>
        </p:txBody>
      </p:sp>
      <p:sp>
        <p:nvSpPr>
          <p:cNvPr id="16" name="Rounded Rectangle 15"/>
          <p:cNvSpPr/>
          <p:nvPr/>
        </p:nvSpPr>
        <p:spPr>
          <a:xfrm>
            <a:off x="9692640" y="2194560"/>
            <a:ext cx="1664208" cy="9601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6. Graph-RAG
Querying
(FastAPI)</a:t>
            </a:r>
          </a:p>
        </p:txBody>
      </p:sp>
      <p:sp>
        <p:nvSpPr>
          <p:cNvPr id="17" name="TextBox 16"/>
          <p:cNvSpPr txBox="1"/>
          <p:nvPr/>
        </p:nvSpPr>
        <p:spPr>
          <a:xfrm>
            <a:off x="320040" y="3200400"/>
            <a:ext cx="1664208" cy="457200"/>
          </a:xfrm>
          <a:prstGeom prst="rect">
            <a:avLst/>
          </a:prstGeom>
          <a:noFill/>
        </p:spPr>
        <p:txBody>
          <a:bodyPr wrap="square">
            <a:spAutoFit/>
          </a:bodyPr>
          <a:lstStyle/>
          <a:p>
            <a:pPr algn="ctr"/>
            <a:r>
              <a:rPr sz="800" b="0" i="0">
                <a:solidFill>
                  <a:srgbClr val="4472C4"/>
                </a:solidFill>
                <a:latin typeface="Calibri"/>
              </a:rPr>
              <a:t>NL Goal → 3 PubMed Queries</a:t>
            </a:r>
          </a:p>
        </p:txBody>
      </p:sp>
      <p:sp>
        <p:nvSpPr>
          <p:cNvPr id="18" name="TextBox 17"/>
          <p:cNvSpPr txBox="1"/>
          <p:nvPr/>
        </p:nvSpPr>
        <p:spPr>
          <a:xfrm>
            <a:off x="2194560" y="3200400"/>
            <a:ext cx="1664208" cy="457200"/>
          </a:xfrm>
          <a:prstGeom prst="rect">
            <a:avLst/>
          </a:prstGeom>
          <a:noFill/>
        </p:spPr>
        <p:txBody>
          <a:bodyPr wrap="square">
            <a:spAutoFit/>
          </a:bodyPr>
          <a:lstStyle/>
          <a:p>
            <a:pPr algn="ctr"/>
            <a:r>
              <a:rPr sz="800" b="0" i="0">
                <a:solidFill>
                  <a:srgbClr val="4472C4"/>
                </a:solidFill>
                <a:latin typeface="Calibri"/>
              </a:rPr>
              <a:t>228→226 PMIDs
Relevance filter</a:t>
            </a:r>
          </a:p>
        </p:txBody>
      </p:sp>
      <p:sp>
        <p:nvSpPr>
          <p:cNvPr id="19" name="TextBox 18"/>
          <p:cNvSpPr txBox="1"/>
          <p:nvPr/>
        </p:nvSpPr>
        <p:spPr>
          <a:xfrm>
            <a:off x="4069080" y="3200400"/>
            <a:ext cx="1664208" cy="457200"/>
          </a:xfrm>
          <a:prstGeom prst="rect">
            <a:avLst/>
          </a:prstGeom>
          <a:noFill/>
        </p:spPr>
        <p:txBody>
          <a:bodyPr wrap="square">
            <a:spAutoFit/>
          </a:bodyPr>
          <a:lstStyle/>
          <a:p>
            <a:pPr algn="ctr"/>
            <a:r>
              <a:rPr sz="800" b="0" i="0">
                <a:solidFill>
                  <a:srgbClr val="4472C4"/>
                </a:solidFill>
                <a:latin typeface="Calibri"/>
              </a:rPr>
              <a:t>13-relation vocab
Temp=0.0</a:t>
            </a:r>
          </a:p>
        </p:txBody>
      </p:sp>
      <p:sp>
        <p:nvSpPr>
          <p:cNvPr id="20" name="TextBox 19"/>
          <p:cNvSpPr txBox="1"/>
          <p:nvPr/>
        </p:nvSpPr>
        <p:spPr>
          <a:xfrm>
            <a:off x="5943600" y="3200400"/>
            <a:ext cx="1664208" cy="457200"/>
          </a:xfrm>
          <a:prstGeom prst="rect">
            <a:avLst/>
          </a:prstGeom>
          <a:noFill/>
        </p:spPr>
        <p:txBody>
          <a:bodyPr wrap="square">
            <a:spAutoFit/>
          </a:bodyPr>
          <a:lstStyle/>
          <a:p>
            <a:pPr algn="ctr"/>
            <a:r>
              <a:rPr sz="800" b="0" i="0">
                <a:solidFill>
                  <a:srgbClr val="4472C4"/>
                </a:solidFill>
                <a:latin typeface="Calibri"/>
              </a:rPr>
              <a:t>Pass 1+2+3
+Validation</a:t>
            </a:r>
          </a:p>
        </p:txBody>
      </p:sp>
      <p:sp>
        <p:nvSpPr>
          <p:cNvPr id="21" name="TextBox 20"/>
          <p:cNvSpPr txBox="1"/>
          <p:nvPr/>
        </p:nvSpPr>
        <p:spPr>
          <a:xfrm>
            <a:off x="7818120" y="3200400"/>
            <a:ext cx="1664208" cy="457200"/>
          </a:xfrm>
          <a:prstGeom prst="rect">
            <a:avLst/>
          </a:prstGeom>
          <a:noFill/>
        </p:spPr>
        <p:txBody>
          <a:bodyPr wrap="square">
            <a:spAutoFit/>
          </a:bodyPr>
          <a:lstStyle/>
          <a:p>
            <a:pPr algn="ctr"/>
            <a:r>
              <a:rPr sz="800" b="0" i="0">
                <a:solidFill>
                  <a:srgbClr val="4472C4"/>
                </a:solidFill>
                <a:latin typeface="Calibri"/>
              </a:rPr>
              <a:t>Directed MultiDiGraph
2,996 nodes, 4,722 edges</a:t>
            </a:r>
          </a:p>
        </p:txBody>
      </p:sp>
      <p:sp>
        <p:nvSpPr>
          <p:cNvPr id="22" name="TextBox 21"/>
          <p:cNvSpPr txBox="1"/>
          <p:nvPr/>
        </p:nvSpPr>
        <p:spPr>
          <a:xfrm>
            <a:off x="9692640" y="3200400"/>
            <a:ext cx="1664208" cy="457200"/>
          </a:xfrm>
          <a:prstGeom prst="rect">
            <a:avLst/>
          </a:prstGeom>
          <a:noFill/>
        </p:spPr>
        <p:txBody>
          <a:bodyPr wrap="square">
            <a:spAutoFit/>
          </a:bodyPr>
          <a:lstStyle/>
          <a:p>
            <a:pPr algn="ctr"/>
            <a:r>
              <a:rPr sz="800" b="0" i="0">
                <a:solidFill>
                  <a:srgbClr val="4472C4"/>
                </a:solidFill>
                <a:latin typeface="Calibri"/>
              </a:rPr>
              <a:t>all-MiniLM-L6-v2
Top-50 semantic search</a:t>
            </a:r>
          </a:p>
        </p:txBody>
      </p:sp>
      <p:sp>
        <p:nvSpPr>
          <p:cNvPr id="23" name="TextBox 22"/>
          <p:cNvSpPr txBox="1"/>
          <p:nvPr/>
        </p:nvSpPr>
        <p:spPr>
          <a:xfrm>
            <a:off x="274320" y="3566160"/>
            <a:ext cx="11640312" cy="320040"/>
          </a:xfrm>
          <a:prstGeom prst="rect">
            <a:avLst/>
          </a:prstGeom>
          <a:noFill/>
        </p:spPr>
        <p:txBody>
          <a:bodyPr wrap="square">
            <a:spAutoFit/>
          </a:bodyPr>
          <a:lstStyle/>
          <a:p>
            <a:pPr algn="ctr"/>
            <a:r>
              <a:rPr sz="1100" b="0" i="1">
                <a:solidFill>
                  <a:srgbClr val="404040"/>
                </a:solidFill>
                <a:latin typeface="Calibri"/>
              </a:rPr>
              <a:t>LLM Backend: Groq (9 models) + Cerebras (4 models) — 13 total with automatic failover &amp; rate-limit cooldown tracking</a:t>
            </a:r>
          </a:p>
        </p:txBody>
      </p:sp>
      <p:sp>
        <p:nvSpPr>
          <p:cNvPr id="24" name="TextBox 23"/>
          <p:cNvSpPr txBox="1"/>
          <p:nvPr/>
        </p:nvSpPr>
        <p:spPr>
          <a:xfrm>
            <a:off x="274320" y="3977639"/>
            <a:ext cx="11640312" cy="347472"/>
          </a:xfrm>
          <a:prstGeom prst="rect">
            <a:avLst/>
          </a:prstGeom>
          <a:noFill/>
        </p:spPr>
        <p:txBody>
          <a:bodyPr wrap="square">
            <a:spAutoFit/>
          </a:bodyPr>
          <a:lstStyle/>
          <a:p>
            <a:pPr algn="l"/>
            <a:r>
              <a:rPr sz="1300" b="1" i="0">
                <a:solidFill>
                  <a:srgbClr val="1F3864"/>
                </a:solidFill>
                <a:latin typeface="Calibri"/>
              </a:rPr>
              <a:t>Input → Output</a:t>
            </a:r>
          </a:p>
        </p:txBody>
      </p:sp>
      <p:sp>
        <p:nvSpPr>
          <p:cNvPr id="25" name="TextBox 24"/>
          <p:cNvSpPr txBox="1"/>
          <p:nvPr/>
        </p:nvSpPr>
        <p:spPr>
          <a:xfrm>
            <a:off x="274320" y="4343400"/>
            <a:ext cx="11640312" cy="914400"/>
          </a:xfrm>
          <a:prstGeom prst="rect">
            <a:avLst/>
          </a:prstGeom>
          <a:noFill/>
        </p:spPr>
        <p:txBody>
          <a:bodyPr wrap="square">
            <a:spAutoFit/>
          </a:bodyPr>
          <a:lstStyle/>
          <a:p>
            <a:pPr algn="l">
              <a:spcBef>
                <a:spcPts val="300"/>
              </a:spcBef>
            </a:pPr>
            <a:r>
              <a:rPr sz="1200" b="0">
                <a:solidFill>
                  <a:srgbClr val="404040"/>
                </a:solidFill>
                <a:latin typeface="Calibri"/>
              </a:rPr>
              <a:t>▸  Input: Natural language research goal ('Study on improving beta-carotene production in microorganisms')</a:t>
            </a:r>
          </a:p>
          <a:p>
            <a:pPr algn="l">
              <a:spcBef>
                <a:spcPts val="300"/>
              </a:spcBef>
            </a:pPr>
            <a:r>
              <a:rPr sz="1200" b="0">
                <a:solidFill>
                  <a:srgbClr val="404040"/>
                </a:solidFill>
                <a:latin typeface="Calibri"/>
              </a:rPr>
              <a:t>▸  Output: FastAPI web application — typed KG + citation-backed NL answers with PMID tracing per claim</a:t>
            </a:r>
          </a:p>
        </p:txBody>
      </p:sp>
      <p:sp>
        <p:nvSpPr>
          <p:cNvPr id="26" name="TextBox 25"/>
          <p:cNvSpPr txBox="1"/>
          <p:nvPr/>
        </p:nvSpPr>
        <p:spPr>
          <a:xfrm>
            <a:off x="274320" y="5394960"/>
            <a:ext cx="11640312" cy="384048"/>
          </a:xfrm>
          <a:prstGeom prst="rect">
            <a:avLst/>
          </a:prstGeom>
          <a:noFill/>
        </p:spPr>
        <p:txBody>
          <a:bodyPr wrap="square">
            <a:spAutoFit/>
          </a:bodyPr>
          <a:lstStyle/>
          <a:p>
            <a:pPr algn="l"/>
            <a:r>
              <a:rPr sz="1100" b="1" i="0">
                <a:solidFill>
                  <a:srgbClr val="4472C4"/>
                </a:solidFill>
                <a:latin typeface="Calibri"/>
              </a:rPr>
              <a:t>Automated query generation, multi-pass extraction, semantic querying, anti-hallucination — ALL new vs BTP1.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Ontology-Constrained Triple Extraction — 13-Relation Vocabulary</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7589520" cy="4892040"/>
        </p:xfrm>
        <a:graphic>
          <a:graphicData uri="http://schemas.openxmlformats.org/drawingml/2006/table">
            <a:tbl>
              <a:tblPr firstRow="1" bandRow="1">
                <a:tableStyleId>{5C22544A-7EE6-4342-B048-85BDC9FD1C3A}</a:tableStyleId>
              </a:tblPr>
              <a:tblGrid>
                <a:gridCol w="1691640"/>
                <a:gridCol w="2606040"/>
                <a:gridCol w="3291840"/>
              </a:tblGrid>
              <a:tr h="349431">
                <a:tc>
                  <a:txBody>
                    <a:bodyPr/>
                    <a:lstStyle/>
                    <a:p>
                      <a:pPr algn="ctr"/>
                      <a:r>
                        <a:rPr b="1" sz="1000">
                          <a:solidFill>
                            <a:srgbClr val="FFFFFF"/>
                          </a:solidFill>
                          <a:latin typeface="Calibri"/>
                        </a:rPr>
                        <a:t>Relation</a:t>
                      </a:r>
                    </a:p>
                  </a:txBody>
                  <a:tcPr>
                    <a:solidFill>
                      <a:srgbClr val="1F3864"/>
                    </a:solidFill>
                  </a:tcPr>
                </a:tc>
                <a:tc>
                  <a:txBody>
                    <a:bodyPr/>
                    <a:lstStyle/>
                    <a:p>
                      <a:pPr algn="ctr"/>
                      <a:r>
                        <a:rPr b="1" sz="1000">
                          <a:solidFill>
                            <a:srgbClr val="FFFFFF"/>
                          </a:solidFill>
                          <a:latin typeface="Calibri"/>
                        </a:rPr>
                        <a:t>Description</a:t>
                      </a:r>
                    </a:p>
                  </a:txBody>
                  <a:tcPr>
                    <a:solidFill>
                      <a:srgbClr val="1F3864"/>
                    </a:solidFill>
                  </a:tcPr>
                </a:tc>
                <a:tc>
                  <a:txBody>
                    <a:bodyPr/>
                    <a:lstStyle/>
                    <a:p>
                      <a:pPr algn="ctr"/>
                      <a:r>
                        <a:rPr b="1" sz="1000">
                          <a:solidFill>
                            <a:srgbClr val="FFFFFF"/>
                          </a:solidFill>
                          <a:latin typeface="Calibri"/>
                        </a:rPr>
                        <a:t>Example Triple</a:t>
                      </a:r>
                    </a:p>
                  </a:txBody>
                  <a:tcPr>
                    <a:solidFill>
                      <a:srgbClr val="1F3864"/>
                    </a:solidFill>
                  </a:tcPr>
                </a:tc>
              </a:tr>
              <a:tr h="349431">
                <a:tc>
                  <a:txBody>
                    <a:bodyPr/>
                    <a:lstStyle/>
                    <a:p>
                      <a:r>
                        <a:rPr sz="900">
                          <a:solidFill>
                            <a:srgbClr val="404040"/>
                          </a:solidFill>
                          <a:latin typeface="Calibri"/>
                        </a:rPr>
                        <a:t>activates</a:t>
                      </a:r>
                    </a:p>
                  </a:txBody>
                  <a:tcPr>
                    <a:solidFill>
                      <a:srgbClr val="FFFFFF"/>
                    </a:solidFill>
                  </a:tcPr>
                </a:tc>
                <a:tc>
                  <a:txBody>
                    <a:bodyPr/>
                    <a:lstStyle/>
                    <a:p>
                      <a:r>
                        <a:rPr sz="900">
                          <a:solidFill>
                            <a:srgbClr val="404040"/>
                          </a:solidFill>
                          <a:latin typeface="Calibri"/>
                        </a:rPr>
                        <a:t>Positive regulatory control</a:t>
                      </a:r>
                    </a:p>
                  </a:txBody>
                  <a:tcPr>
                    <a:solidFill>
                      <a:srgbClr val="FFFFFF"/>
                    </a:solidFill>
                  </a:tcPr>
                </a:tc>
                <a:tc>
                  <a:txBody>
                    <a:bodyPr/>
                    <a:lstStyle/>
                    <a:p>
                      <a:r>
                        <a:rPr sz="900">
                          <a:solidFill>
                            <a:srgbClr val="404040"/>
                          </a:solidFill>
                          <a:latin typeface="Calibri"/>
                        </a:rPr>
                        <a:t>(TEF promoter, activates, HMG1)</a:t>
                      </a:r>
                    </a:p>
                  </a:txBody>
                  <a:tcPr>
                    <a:solidFill>
                      <a:srgbClr val="FFFFFF"/>
                    </a:solidFill>
                  </a:tcPr>
                </a:tc>
              </a:tr>
              <a:tr h="349431">
                <a:tc>
                  <a:txBody>
                    <a:bodyPr/>
                    <a:lstStyle/>
                    <a:p>
                      <a:r>
                        <a:rPr sz="900">
                          <a:solidFill>
                            <a:srgbClr val="404040"/>
                          </a:solidFill>
                          <a:latin typeface="Calibri"/>
                        </a:rPr>
                        <a:t>inhibits</a:t>
                      </a:r>
                    </a:p>
                  </a:txBody>
                  <a:tcPr>
                    <a:solidFill>
                      <a:srgbClr val="F2F2F2"/>
                    </a:solidFill>
                  </a:tcPr>
                </a:tc>
                <a:tc>
                  <a:txBody>
                    <a:bodyPr/>
                    <a:lstStyle/>
                    <a:p>
                      <a:r>
                        <a:rPr sz="900">
                          <a:solidFill>
                            <a:srgbClr val="404040"/>
                          </a:solidFill>
                          <a:latin typeface="Calibri"/>
                        </a:rPr>
                        <a:t>Negative regulatory control</a:t>
                      </a:r>
                    </a:p>
                  </a:txBody>
                  <a:tcPr>
                    <a:solidFill>
                      <a:srgbClr val="F2F2F2"/>
                    </a:solidFill>
                  </a:tcPr>
                </a:tc>
                <a:tc>
                  <a:txBody>
                    <a:bodyPr/>
                    <a:lstStyle/>
                    <a:p>
                      <a:r>
                        <a:rPr sz="900">
                          <a:solidFill>
                            <a:srgbClr val="404040"/>
                          </a:solidFill>
                          <a:latin typeface="Calibri"/>
                        </a:rPr>
                        <a:t>(CRISPRi, inhibits, competing pathway)</a:t>
                      </a:r>
                    </a:p>
                  </a:txBody>
                  <a:tcPr>
                    <a:solidFill>
                      <a:srgbClr val="F2F2F2"/>
                    </a:solidFill>
                  </a:tcPr>
                </a:tc>
              </a:tr>
              <a:tr h="349431">
                <a:tc>
                  <a:txBody>
                    <a:bodyPr/>
                    <a:lstStyle/>
                    <a:p>
                      <a:r>
                        <a:rPr sz="900">
                          <a:solidFill>
                            <a:srgbClr val="404040"/>
                          </a:solidFill>
                          <a:latin typeface="Calibri"/>
                        </a:rPr>
                        <a:t>produces</a:t>
                      </a:r>
                    </a:p>
                  </a:txBody>
                  <a:tcPr>
                    <a:solidFill>
                      <a:srgbClr val="FFFFFF"/>
                    </a:solidFill>
                  </a:tcPr>
                </a:tc>
                <a:tc>
                  <a:txBody>
                    <a:bodyPr/>
                    <a:lstStyle/>
                    <a:p>
                      <a:r>
                        <a:rPr sz="900">
                          <a:solidFill>
                            <a:srgbClr val="404040"/>
                          </a:solidFill>
                          <a:latin typeface="Calibri"/>
                        </a:rPr>
                        <a:t>Biosynthetic production</a:t>
                      </a:r>
                    </a:p>
                  </a:txBody>
                  <a:tcPr>
                    <a:solidFill>
                      <a:srgbClr val="FFFFFF"/>
                    </a:solidFill>
                  </a:tcPr>
                </a:tc>
                <a:tc>
                  <a:txBody>
                    <a:bodyPr/>
                    <a:lstStyle/>
                    <a:p>
                      <a:r>
                        <a:rPr sz="900">
                          <a:solidFill>
                            <a:srgbClr val="404040"/>
                          </a:solidFill>
                          <a:latin typeface="Calibri"/>
                        </a:rPr>
                        <a:t>(Y. lipolytica, produces, beta-carotene)</a:t>
                      </a:r>
                    </a:p>
                  </a:txBody>
                  <a:tcPr>
                    <a:solidFill>
                      <a:srgbClr val="FFFFFF"/>
                    </a:solidFill>
                  </a:tcPr>
                </a:tc>
              </a:tr>
              <a:tr h="349431">
                <a:tc>
                  <a:txBody>
                    <a:bodyPr/>
                    <a:lstStyle/>
                    <a:p>
                      <a:r>
                        <a:rPr sz="900">
                          <a:solidFill>
                            <a:srgbClr val="404040"/>
                          </a:solidFill>
                          <a:latin typeface="Calibri"/>
                        </a:rPr>
                        <a:t>increases</a:t>
                      </a:r>
                    </a:p>
                  </a:txBody>
                  <a:tcPr>
                    <a:solidFill>
                      <a:srgbClr val="F2F2F2"/>
                    </a:solidFill>
                  </a:tcPr>
                </a:tc>
                <a:tc>
                  <a:txBody>
                    <a:bodyPr/>
                    <a:lstStyle/>
                    <a:p>
                      <a:r>
                        <a:rPr sz="900">
                          <a:solidFill>
                            <a:srgbClr val="404040"/>
                          </a:solidFill>
                          <a:latin typeface="Calibri"/>
                        </a:rPr>
                        <a:t>Quantitative upregulation</a:t>
                      </a:r>
                    </a:p>
                  </a:txBody>
                  <a:tcPr>
                    <a:solidFill>
                      <a:srgbClr val="F2F2F2"/>
                    </a:solidFill>
                  </a:tcPr>
                </a:tc>
                <a:tc>
                  <a:txBody>
                    <a:bodyPr/>
                    <a:lstStyle/>
                    <a:p>
                      <a:r>
                        <a:rPr sz="900">
                          <a:solidFill>
                            <a:srgbClr val="404040"/>
                          </a:solidFill>
                          <a:latin typeface="Calibri"/>
                        </a:rPr>
                        <a:t>(codon optimization, increases, expression)</a:t>
                      </a:r>
                    </a:p>
                  </a:txBody>
                  <a:tcPr>
                    <a:solidFill>
                      <a:srgbClr val="F2F2F2"/>
                    </a:solidFill>
                  </a:tcPr>
                </a:tc>
              </a:tr>
              <a:tr h="349431">
                <a:tc>
                  <a:txBody>
                    <a:bodyPr/>
                    <a:lstStyle/>
                    <a:p>
                      <a:r>
                        <a:rPr sz="900">
                          <a:solidFill>
                            <a:srgbClr val="404040"/>
                          </a:solidFill>
                          <a:latin typeface="Calibri"/>
                        </a:rPr>
                        <a:t>decreases</a:t>
                      </a:r>
                    </a:p>
                  </a:txBody>
                  <a:tcPr>
                    <a:solidFill>
                      <a:srgbClr val="FFFFFF"/>
                    </a:solidFill>
                  </a:tcPr>
                </a:tc>
                <a:tc>
                  <a:txBody>
                    <a:bodyPr/>
                    <a:lstStyle/>
                    <a:p>
                      <a:r>
                        <a:rPr sz="900">
                          <a:solidFill>
                            <a:srgbClr val="404040"/>
                          </a:solidFill>
                          <a:latin typeface="Calibri"/>
                        </a:rPr>
                        <a:t>Quantitative downregulation</a:t>
                      </a:r>
                    </a:p>
                  </a:txBody>
                  <a:tcPr>
                    <a:solidFill>
                      <a:srgbClr val="FFFFFF"/>
                    </a:solidFill>
                  </a:tcPr>
                </a:tc>
                <a:tc>
                  <a:txBody>
                    <a:bodyPr/>
                    <a:lstStyle/>
                    <a:p>
                      <a:r>
                        <a:rPr sz="900">
                          <a:solidFill>
                            <a:srgbClr val="404040"/>
                          </a:solidFill>
                          <a:latin typeface="Calibri"/>
                        </a:rPr>
                        <a:t>(gene knockout, decreases, byproduct flux)</a:t>
                      </a:r>
                    </a:p>
                  </a:txBody>
                  <a:tcPr>
                    <a:solidFill>
                      <a:srgbClr val="FFFFFF"/>
                    </a:solidFill>
                  </a:tcPr>
                </a:tc>
              </a:tr>
              <a:tr h="349431">
                <a:tc>
                  <a:txBody>
                    <a:bodyPr/>
                    <a:lstStyle/>
                    <a:p>
                      <a:r>
                        <a:rPr sz="900">
                          <a:solidFill>
                            <a:srgbClr val="404040"/>
                          </a:solidFill>
                          <a:latin typeface="Calibri"/>
                        </a:rPr>
                        <a:t>encodes</a:t>
                      </a:r>
                    </a:p>
                  </a:txBody>
                  <a:tcPr>
                    <a:solidFill>
                      <a:srgbClr val="F2F2F2"/>
                    </a:solidFill>
                  </a:tcPr>
                </a:tc>
                <a:tc>
                  <a:txBody>
                    <a:bodyPr/>
                    <a:lstStyle/>
                    <a:p>
                      <a:r>
                        <a:rPr sz="900">
                          <a:solidFill>
                            <a:srgbClr val="404040"/>
                          </a:solidFill>
                          <a:latin typeface="Calibri"/>
                        </a:rPr>
                        <a:t>Gene-to-protein relationship</a:t>
                      </a:r>
                    </a:p>
                  </a:txBody>
                  <a:tcPr>
                    <a:solidFill>
                      <a:srgbClr val="F2F2F2"/>
                    </a:solidFill>
                  </a:tcPr>
                </a:tc>
                <a:tc>
                  <a:txBody>
                    <a:bodyPr/>
                    <a:lstStyle/>
                    <a:p>
                      <a:r>
                        <a:rPr sz="900">
                          <a:solidFill>
                            <a:srgbClr val="404040"/>
                          </a:solidFill>
                          <a:latin typeface="Calibri"/>
                        </a:rPr>
                        <a:t>(crtYB, encodes, lycopene cyclase)</a:t>
                      </a:r>
                    </a:p>
                  </a:txBody>
                  <a:tcPr>
                    <a:solidFill>
                      <a:srgbClr val="F2F2F2"/>
                    </a:solidFill>
                  </a:tcPr>
                </a:tc>
              </a:tr>
              <a:tr h="349431">
                <a:tc>
                  <a:txBody>
                    <a:bodyPr/>
                    <a:lstStyle/>
                    <a:p>
                      <a:r>
                        <a:rPr sz="900">
                          <a:solidFill>
                            <a:srgbClr val="404040"/>
                          </a:solidFill>
                          <a:latin typeface="Calibri"/>
                        </a:rPr>
                        <a:t>is_host_for</a:t>
                      </a:r>
                    </a:p>
                  </a:txBody>
                  <a:tcPr>
                    <a:solidFill>
                      <a:srgbClr val="FFFFFF"/>
                    </a:solidFill>
                  </a:tcPr>
                </a:tc>
                <a:tc>
                  <a:txBody>
                    <a:bodyPr/>
                    <a:lstStyle/>
                    <a:p>
                      <a:r>
                        <a:rPr sz="900">
                          <a:solidFill>
                            <a:srgbClr val="404040"/>
                          </a:solidFill>
                          <a:latin typeface="Calibri"/>
                        </a:rPr>
                        <a:t>Organism hosts pathway</a:t>
                      </a:r>
                    </a:p>
                  </a:txBody>
                  <a:tcPr>
                    <a:solidFill>
                      <a:srgbClr val="FFFFFF"/>
                    </a:solidFill>
                  </a:tcPr>
                </a:tc>
                <a:tc>
                  <a:txBody>
                    <a:bodyPr/>
                    <a:lstStyle/>
                    <a:p>
                      <a:r>
                        <a:rPr sz="900">
                          <a:solidFill>
                            <a:srgbClr val="404040"/>
                          </a:solidFill>
                          <a:latin typeface="Calibri"/>
                        </a:rPr>
                        <a:t>(E. coli, is_host_for, mevalonate pathway)</a:t>
                      </a:r>
                    </a:p>
                  </a:txBody>
                  <a:tcPr>
                    <a:solidFill>
                      <a:srgbClr val="FFFFFF"/>
                    </a:solidFill>
                  </a:tcPr>
                </a:tc>
              </a:tr>
              <a:tr h="349431">
                <a:tc>
                  <a:txBody>
                    <a:bodyPr/>
                    <a:lstStyle/>
                    <a:p>
                      <a:r>
                        <a:rPr sz="900">
                          <a:solidFill>
                            <a:srgbClr val="404040"/>
                          </a:solidFill>
                          <a:latin typeface="Calibri"/>
                        </a:rPr>
                        <a:t>integrated_in</a:t>
                      </a:r>
                    </a:p>
                  </a:txBody>
                  <a:tcPr>
                    <a:solidFill>
                      <a:srgbClr val="F2F2F2"/>
                    </a:solidFill>
                  </a:tcPr>
                </a:tc>
                <a:tc>
                  <a:txBody>
                    <a:bodyPr/>
                    <a:lstStyle/>
                    <a:p>
                      <a:r>
                        <a:rPr sz="900">
                          <a:solidFill>
                            <a:srgbClr val="404040"/>
                          </a:solidFill>
                          <a:latin typeface="Calibri"/>
                        </a:rPr>
                        <a:t>Genomic integration site</a:t>
                      </a:r>
                    </a:p>
                  </a:txBody>
                  <a:tcPr>
                    <a:solidFill>
                      <a:srgbClr val="F2F2F2"/>
                    </a:solidFill>
                  </a:tcPr>
                </a:tc>
                <a:tc>
                  <a:txBody>
                    <a:bodyPr/>
                    <a:lstStyle/>
                    <a:p>
                      <a:r>
                        <a:rPr sz="900">
                          <a:solidFill>
                            <a:srgbClr val="404040"/>
                          </a:solidFill>
                          <a:latin typeface="Calibri"/>
                        </a:rPr>
                        <a:t>(crtEBIY cassette, integrated_in, chromosome)</a:t>
                      </a:r>
                    </a:p>
                  </a:txBody>
                  <a:tcPr>
                    <a:solidFill>
                      <a:srgbClr val="F2F2F2"/>
                    </a:solidFill>
                  </a:tcPr>
                </a:tc>
              </a:tr>
              <a:tr h="349431">
                <a:tc>
                  <a:txBody>
                    <a:bodyPr/>
                    <a:lstStyle/>
                    <a:p>
                      <a:r>
                        <a:rPr sz="900">
                          <a:solidFill>
                            <a:srgbClr val="404040"/>
                          </a:solidFill>
                          <a:latin typeface="Calibri"/>
                        </a:rPr>
                        <a:t>is_variant_of</a:t>
                      </a:r>
                    </a:p>
                  </a:txBody>
                  <a:tcPr>
                    <a:solidFill>
                      <a:srgbClr val="FFFFFF"/>
                    </a:solidFill>
                  </a:tcPr>
                </a:tc>
                <a:tc>
                  <a:txBody>
                    <a:bodyPr/>
                    <a:lstStyle/>
                    <a:p>
                      <a:r>
                        <a:rPr sz="900">
                          <a:solidFill>
                            <a:srgbClr val="404040"/>
                          </a:solidFill>
                          <a:latin typeface="Calibri"/>
                        </a:rPr>
                        <a:t>Strain / species variant</a:t>
                      </a:r>
                    </a:p>
                  </a:txBody>
                  <a:tcPr>
                    <a:solidFill>
                      <a:srgbClr val="FFFFFF"/>
                    </a:solidFill>
                  </a:tcPr>
                </a:tc>
                <a:tc>
                  <a:txBody>
                    <a:bodyPr/>
                    <a:lstStyle/>
                    <a:p>
                      <a:r>
                        <a:rPr sz="900">
                          <a:solidFill>
                            <a:srgbClr val="404040"/>
                          </a:solidFill>
                          <a:latin typeface="Calibri"/>
                        </a:rPr>
                        <a:t>(Po1g, is_variant_of, Y. lipolytica)</a:t>
                      </a:r>
                    </a:p>
                  </a:txBody>
                  <a:tcPr>
                    <a:solidFill>
                      <a:srgbClr val="FFFFFF"/>
                    </a:solidFill>
                  </a:tcPr>
                </a:tc>
              </a:tr>
              <a:tr h="349431">
                <a:tc>
                  <a:txBody>
                    <a:bodyPr/>
                    <a:lstStyle/>
                    <a:p>
                      <a:r>
                        <a:rPr sz="900">
                          <a:solidFill>
                            <a:srgbClr val="404040"/>
                          </a:solidFill>
                          <a:latin typeface="Calibri"/>
                        </a:rPr>
                        <a:t>has_capability</a:t>
                      </a:r>
                    </a:p>
                  </a:txBody>
                  <a:tcPr>
                    <a:solidFill>
                      <a:srgbClr val="F2F2F2"/>
                    </a:solidFill>
                  </a:tcPr>
                </a:tc>
                <a:tc>
                  <a:txBody>
                    <a:bodyPr/>
                    <a:lstStyle/>
                    <a:p>
                      <a:r>
                        <a:rPr sz="900">
                          <a:solidFill>
                            <a:srgbClr val="404040"/>
                          </a:solidFill>
                          <a:latin typeface="Calibri"/>
                        </a:rPr>
                        <a:t>Functional attribute</a:t>
                      </a:r>
                    </a:p>
                  </a:txBody>
                  <a:tcPr>
                    <a:solidFill>
                      <a:srgbClr val="F2F2F2"/>
                    </a:solidFill>
                  </a:tcPr>
                </a:tc>
                <a:tc>
                  <a:txBody>
                    <a:bodyPr/>
                    <a:lstStyle/>
                    <a:p>
                      <a:r>
                        <a:rPr sz="900">
                          <a:solidFill>
                            <a:srgbClr val="404040"/>
                          </a:solidFill>
                          <a:latin typeface="Calibri"/>
                        </a:rPr>
                        <a:t>(R. toruloides, has_capability, lipid accumulation)</a:t>
                      </a:r>
                    </a:p>
                  </a:txBody>
                  <a:tcPr>
                    <a:solidFill>
                      <a:srgbClr val="F2F2F2"/>
                    </a:solidFill>
                  </a:tcPr>
                </a:tc>
              </a:tr>
              <a:tr h="349431">
                <a:tc>
                  <a:txBody>
                    <a:bodyPr/>
                    <a:lstStyle/>
                    <a:p>
                      <a:r>
                        <a:rPr sz="900">
                          <a:solidFill>
                            <a:srgbClr val="404040"/>
                          </a:solidFill>
                          <a:latin typeface="Calibri"/>
                        </a:rPr>
                        <a:t>is_a</a:t>
                      </a:r>
                    </a:p>
                  </a:txBody>
                  <a:tcPr>
                    <a:solidFill>
                      <a:srgbClr val="FFFFFF"/>
                    </a:solidFill>
                  </a:tcPr>
                </a:tc>
                <a:tc>
                  <a:txBody>
                    <a:bodyPr/>
                    <a:lstStyle/>
                    <a:p>
                      <a:r>
                        <a:rPr sz="900">
                          <a:solidFill>
                            <a:srgbClr val="404040"/>
                          </a:solidFill>
                          <a:latin typeface="Calibri"/>
                        </a:rPr>
                        <a:t>Classification / type</a:t>
                      </a:r>
                    </a:p>
                  </a:txBody>
                  <a:tcPr>
                    <a:solidFill>
                      <a:srgbClr val="FFFFFF"/>
                    </a:solidFill>
                  </a:tcPr>
                </a:tc>
                <a:tc>
                  <a:txBody>
                    <a:bodyPr/>
                    <a:lstStyle/>
                    <a:p>
                      <a:r>
                        <a:rPr sz="900">
                          <a:solidFill>
                            <a:srgbClr val="404040"/>
                          </a:solidFill>
                          <a:latin typeface="Calibri"/>
                        </a:rPr>
                        <a:t>(beta-carotene, is_a, carotenoid)</a:t>
                      </a:r>
                    </a:p>
                  </a:txBody>
                  <a:tcPr>
                    <a:solidFill>
                      <a:srgbClr val="FFFFFF"/>
                    </a:solidFill>
                  </a:tcPr>
                </a:tc>
              </a:tr>
              <a:tr h="349431">
                <a:tc>
                  <a:txBody>
                    <a:bodyPr/>
                    <a:lstStyle/>
                    <a:p>
                      <a:r>
                        <a:rPr sz="900">
                          <a:solidFill>
                            <a:srgbClr val="404040"/>
                          </a:solidFill>
                          <a:latin typeface="Calibri"/>
                        </a:rPr>
                        <a:t>has_metric</a:t>
                      </a:r>
                    </a:p>
                  </a:txBody>
                  <a:tcPr>
                    <a:solidFill>
                      <a:srgbClr val="F2F2F2"/>
                    </a:solidFill>
                  </a:tcPr>
                </a:tc>
                <a:tc>
                  <a:txBody>
                    <a:bodyPr/>
                    <a:lstStyle/>
                    <a:p>
                      <a:r>
                        <a:rPr sz="900">
                          <a:solidFill>
                            <a:srgbClr val="404040"/>
                          </a:solidFill>
                          <a:latin typeface="Calibri"/>
                        </a:rPr>
                        <a:t>Quantitative measurement</a:t>
                      </a:r>
                    </a:p>
                  </a:txBody>
                  <a:tcPr>
                    <a:solidFill>
                      <a:srgbClr val="F2F2F2"/>
                    </a:solidFill>
                  </a:tcPr>
                </a:tc>
                <a:tc>
                  <a:txBody>
                    <a:bodyPr/>
                    <a:lstStyle/>
                    <a:p>
                      <a:r>
                        <a:rPr sz="900">
                          <a:solidFill>
                            <a:srgbClr val="404040"/>
                          </a:solidFill>
                          <a:latin typeface="Calibri"/>
                        </a:rPr>
                        <a:t>(strain X, has_metric, '39.5 g/L')</a:t>
                      </a:r>
                    </a:p>
                  </a:txBody>
                  <a:tcPr>
                    <a:solidFill>
                      <a:srgbClr val="F2F2F2"/>
                    </a:solidFill>
                  </a:tcPr>
                </a:tc>
              </a:tr>
              <a:tr h="349437">
                <a:tc>
                  <a:txBody>
                    <a:bodyPr/>
                    <a:lstStyle/>
                    <a:p>
                      <a:r>
                        <a:rPr sz="900">
                          <a:solidFill>
                            <a:srgbClr val="404040"/>
                          </a:solidFill>
                          <a:latin typeface="Calibri"/>
                        </a:rPr>
                        <a:t>is_produced_by</a:t>
                      </a:r>
                    </a:p>
                  </a:txBody>
                  <a:tcPr>
                    <a:solidFill>
                      <a:srgbClr val="FFFFFF"/>
                    </a:solidFill>
                  </a:tcPr>
                </a:tc>
                <a:tc>
                  <a:txBody>
                    <a:bodyPr/>
                    <a:lstStyle/>
                    <a:p>
                      <a:r>
                        <a:rPr sz="900">
                          <a:solidFill>
                            <a:srgbClr val="404040"/>
                          </a:solidFill>
                          <a:latin typeface="Calibri"/>
                        </a:rPr>
                        <a:t>Reverse production direction</a:t>
                      </a:r>
                    </a:p>
                  </a:txBody>
                  <a:tcPr>
                    <a:solidFill>
                      <a:srgbClr val="FFFFFF"/>
                    </a:solidFill>
                  </a:tcPr>
                </a:tc>
                <a:tc>
                  <a:txBody>
                    <a:bodyPr/>
                    <a:lstStyle/>
                    <a:p>
                      <a:r>
                        <a:rPr sz="900">
                          <a:solidFill>
                            <a:srgbClr val="404040"/>
                          </a:solidFill>
                          <a:latin typeface="Calibri"/>
                        </a:rPr>
                        <a:t>(fatty acids, is_produced_by, R. toruloides)</a:t>
                      </a:r>
                    </a:p>
                  </a:txBody>
                  <a:tcPr>
                    <a:solidFill>
                      <a:srgbClr val="FFFFFF"/>
                    </a:solidFill>
                  </a:tcPr>
                </a:tc>
              </a:tr>
            </a:tbl>
          </a:graphicData>
        </a:graphic>
      </p:graphicFrame>
      <p:sp>
        <p:nvSpPr>
          <p:cNvPr id="7" name="TextBox 6"/>
          <p:cNvSpPr txBox="1"/>
          <p:nvPr/>
        </p:nvSpPr>
        <p:spPr>
          <a:xfrm>
            <a:off x="8092440" y="1417320"/>
            <a:ext cx="3794760" cy="365760"/>
          </a:xfrm>
          <a:prstGeom prst="rect">
            <a:avLst/>
          </a:prstGeom>
          <a:noFill/>
        </p:spPr>
        <p:txBody>
          <a:bodyPr wrap="square">
            <a:spAutoFit/>
          </a:bodyPr>
          <a:lstStyle/>
          <a:p>
            <a:pPr algn="l"/>
            <a:r>
              <a:rPr sz="1300" b="1" i="0">
                <a:solidFill>
                  <a:srgbClr val="1F3864"/>
                </a:solidFill>
                <a:latin typeface="Calibri"/>
              </a:rPr>
              <a:t>Key Design Decisions</a:t>
            </a:r>
          </a:p>
        </p:txBody>
      </p:sp>
      <p:sp>
        <p:nvSpPr>
          <p:cNvPr id="8" name="TextBox 7"/>
          <p:cNvSpPr txBox="1"/>
          <p:nvPr/>
        </p:nvSpPr>
        <p:spPr>
          <a:xfrm>
            <a:off x="8092440" y="1874519"/>
            <a:ext cx="3794760" cy="4160520"/>
          </a:xfrm>
          <a:prstGeom prst="rect">
            <a:avLst/>
          </a:prstGeom>
          <a:noFill/>
        </p:spPr>
        <p:txBody>
          <a:bodyPr wrap="square">
            <a:spAutoFit/>
          </a:bodyPr>
          <a:lstStyle/>
          <a:p>
            <a:pPr algn="l">
              <a:spcBef>
                <a:spcPts val="300"/>
              </a:spcBef>
            </a:pPr>
            <a:r>
              <a:rPr sz="1000" b="0">
                <a:solidFill>
                  <a:srgbClr val="404040"/>
                </a:solidFill>
                <a:latin typeface="Calibri"/>
              </a:rPr>
              <a:t>▸  All 13 relations explicitly enumerated in prompt — LLM must choose from vocabulary</a:t>
            </a:r>
          </a:p>
          <a:p>
            <a:pPr algn="l">
              <a:spcBef>
                <a:spcPts val="300"/>
              </a:spcBef>
            </a:pPr>
            <a:r>
              <a:rPr sz="1000" b="0">
                <a:solidFill>
                  <a:srgbClr val="404040"/>
                </a:solidFill>
                <a:latin typeface="Calibri"/>
              </a:rPr>
              <a:t>▸  Out-of-vocabulary triples rejected at parse time</a:t>
            </a:r>
          </a:p>
          <a:p>
            <a:pPr algn="l">
              <a:spcBef>
                <a:spcPts val="300"/>
              </a:spcBef>
            </a:pPr>
            <a:r>
              <a:rPr sz="1000" b="0">
                <a:solidFill>
                  <a:srgbClr val="404040"/>
                </a:solidFill>
                <a:latin typeface="Calibri"/>
              </a:rPr>
              <a:t>▸  has_metric prevents metric fragmentation: '39.5 g/L beta-carotene' stays as a metric value, not an entity node</a:t>
            </a:r>
          </a:p>
          <a:p>
            <a:pPr algn="l">
              <a:spcBef>
                <a:spcPts val="300"/>
              </a:spcBef>
            </a:pPr>
            <a:r>
              <a:rPr sz="1000" b="0">
                <a:solidFill>
                  <a:srgbClr val="404040"/>
                </a:solidFill>
                <a:latin typeface="Calibri"/>
              </a:rPr>
              <a:t>▸  LLM temperature = 0.0 for deterministic, reproducible extraction</a:t>
            </a:r>
          </a:p>
          <a:p>
            <a:pPr algn="l">
              <a:spcBef>
                <a:spcPts val="300"/>
              </a:spcBef>
            </a:pPr>
            <a:r>
              <a:rPr sz="1000" b="0">
                <a:solidFill>
                  <a:srgbClr val="404040"/>
                </a:solidFill>
                <a:latin typeface="Calibri"/>
              </a:rPr>
              <a:t>▸  41 synonym strings normalized post-extraction (regex, longest-first)</a:t>
            </a:r>
          </a:p>
          <a:p>
            <a:pPr algn="l">
              <a:spcBef>
                <a:spcPts val="300"/>
              </a:spcBef>
            </a:pPr>
            <a:r>
              <a:rPr sz="1000" b="0">
                <a:solidFill>
                  <a:srgbClr val="404040"/>
                </a:solidFill>
                <a:latin typeface="Calibri"/>
              </a:rPr>
              <a:t>▸  Vocabulary covers 73.5% of all 4,722 triples; 26.5% are domain-specific phrases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Multi-Pass Extraction — 3 Extraction + 1 Validation Pass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577840" cy="502920"/>
          </a:xfrm>
          <a:prstGeom prst="rect">
            <a:avLst/>
          </a:prstGeom>
          <a:noFill/>
        </p:spPr>
        <p:txBody>
          <a:bodyPr wrap="square">
            <a:spAutoFit/>
          </a:bodyPr>
          <a:lstStyle/>
          <a:p>
            <a:pPr algn="l"/>
            <a:r>
              <a:rPr sz="1200" b="0" i="0">
                <a:solidFill>
                  <a:srgbClr val="404040"/>
                </a:solidFill>
                <a:latin typeface="Calibri"/>
              </a:rPr>
              <a:t>Why?  LLMs focus on prominent text in Pass 1; secondary details &amp; subordinate-clause interactions are systematically missed.</a:t>
            </a:r>
          </a:p>
        </p:txBody>
      </p:sp>
      <p:sp>
        <p:nvSpPr>
          <p:cNvPr id="7" name="Rounded Rectangle 6"/>
          <p:cNvSpPr/>
          <p:nvPr/>
        </p:nvSpPr>
        <p:spPr>
          <a:xfrm>
            <a:off x="6080760" y="1417320"/>
            <a:ext cx="5806440"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6208" y="1472184"/>
            <a:ext cx="5486400" cy="329184"/>
          </a:xfrm>
          <a:prstGeom prst="rect">
            <a:avLst/>
          </a:prstGeom>
          <a:noFill/>
        </p:spPr>
        <p:txBody>
          <a:bodyPr wrap="square">
            <a:spAutoFit/>
          </a:bodyPr>
          <a:lstStyle/>
          <a:p>
            <a:pPr algn="l"/>
            <a:r>
              <a:rPr sz="1200" b="1" i="0">
                <a:solidFill>
                  <a:srgbClr val="000000"/>
                </a:solidFill>
                <a:latin typeface="Calibri"/>
              </a:rPr>
              <a:t>Pass 1 — Exhaustive Extraction</a:t>
            </a:r>
          </a:p>
        </p:txBody>
      </p:sp>
      <p:sp>
        <p:nvSpPr>
          <p:cNvPr id="9" name="TextBox 8"/>
          <p:cNvSpPr txBox="1"/>
          <p:nvPr/>
        </p:nvSpPr>
        <p:spPr>
          <a:xfrm>
            <a:off x="6236208" y="1837944"/>
            <a:ext cx="5486400" cy="713232"/>
          </a:xfrm>
          <a:prstGeom prst="rect">
            <a:avLst/>
          </a:prstGeom>
          <a:noFill/>
        </p:spPr>
        <p:txBody>
          <a:bodyPr wrap="square">
            <a:spAutoFit/>
          </a:bodyPr>
          <a:lstStyle/>
          <a:p>
            <a:pPr algn="l"/>
            <a:r>
              <a:rPr sz="1000" b="0" i="0">
                <a:solidFill>
                  <a:srgbClr val="404040"/>
                </a:solidFill>
                <a:latin typeface="Calibri"/>
              </a:rPr>
              <a:t>Extract ALL biological relationships (causal, mechanistic, associative, implied). Research goal provided as context.
→ Contributes 45.7% of total triples  (391 / 855)</a:t>
            </a:r>
          </a:p>
        </p:txBody>
      </p:sp>
      <p:sp>
        <p:nvSpPr>
          <p:cNvPr id="10" name="TextBox 9"/>
          <p:cNvSpPr txBox="1"/>
          <p:nvPr/>
        </p:nvSpPr>
        <p:spPr>
          <a:xfrm>
            <a:off x="8732520" y="2606040"/>
            <a:ext cx="365760" cy="128016"/>
          </a:xfrm>
          <a:prstGeom prst="rect">
            <a:avLst/>
          </a:prstGeom>
          <a:noFill/>
        </p:spPr>
        <p:txBody>
          <a:bodyPr wrap="square">
            <a:spAutoFit/>
          </a:bodyPr>
          <a:lstStyle/>
          <a:p>
            <a:pPr algn="ctr"/>
            <a:r>
              <a:rPr sz="1100" b="0" i="0">
                <a:solidFill>
                  <a:srgbClr val="000000"/>
                </a:solidFill>
                <a:latin typeface="Calibri"/>
              </a:rPr>
              <a:t>▼</a:t>
            </a:r>
          </a:p>
        </p:txBody>
      </p:sp>
      <p:sp>
        <p:nvSpPr>
          <p:cNvPr id="11" name="Rounded Rectangle 10"/>
          <p:cNvSpPr/>
          <p:nvPr/>
        </p:nvSpPr>
        <p:spPr>
          <a:xfrm>
            <a:off x="6080760" y="2715768"/>
            <a:ext cx="5806440"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2770632"/>
            <a:ext cx="5486400" cy="329184"/>
          </a:xfrm>
          <a:prstGeom prst="rect">
            <a:avLst/>
          </a:prstGeom>
          <a:noFill/>
        </p:spPr>
        <p:txBody>
          <a:bodyPr wrap="square">
            <a:spAutoFit/>
          </a:bodyPr>
          <a:lstStyle/>
          <a:p>
            <a:pPr algn="l"/>
            <a:r>
              <a:rPr sz="1200" b="1" i="0">
                <a:solidFill>
                  <a:srgbClr val="000000"/>
                </a:solidFill>
                <a:latin typeface="Calibri"/>
              </a:rPr>
              <a:t>Pass 2 — Overlooked Scan</a:t>
            </a:r>
          </a:p>
        </p:txBody>
      </p:sp>
      <p:sp>
        <p:nvSpPr>
          <p:cNvPr id="13" name="TextBox 12"/>
          <p:cNvSpPr txBox="1"/>
          <p:nvPr/>
        </p:nvSpPr>
        <p:spPr>
          <a:xfrm>
            <a:off x="6236208" y="3136391"/>
            <a:ext cx="5486400" cy="713232"/>
          </a:xfrm>
          <a:prstGeom prst="rect">
            <a:avLst/>
          </a:prstGeom>
          <a:noFill/>
        </p:spPr>
        <p:txBody>
          <a:bodyPr wrap="square">
            <a:spAutoFit/>
          </a:bodyPr>
          <a:lstStyle/>
          <a:p>
            <a:pPr algn="l"/>
            <a:r>
              <a:rPr sz="1000" b="0" i="0">
                <a:solidFill>
                  <a:srgbClr val="404040"/>
                </a:solidFill>
                <a:latin typeface="Calibri"/>
              </a:rPr>
              <a:t>Re-examine with Pass 1 results shown. Explicitly target missed items — esp. engineering details, genetic modifications, culture conditions.
→ Contributes 35.3% of total triples  (302 / 855)</a:t>
            </a:r>
          </a:p>
        </p:txBody>
      </p:sp>
      <p:sp>
        <p:nvSpPr>
          <p:cNvPr id="14" name="TextBox 13"/>
          <p:cNvSpPr txBox="1"/>
          <p:nvPr/>
        </p:nvSpPr>
        <p:spPr>
          <a:xfrm>
            <a:off x="8732520" y="3904487"/>
            <a:ext cx="365760" cy="128016"/>
          </a:xfrm>
          <a:prstGeom prst="rect">
            <a:avLst/>
          </a:prstGeom>
          <a:noFill/>
        </p:spPr>
        <p:txBody>
          <a:bodyPr wrap="square">
            <a:spAutoFit/>
          </a:bodyPr>
          <a:lstStyle/>
          <a:p>
            <a:pPr algn="ctr"/>
            <a:r>
              <a:rPr sz="1100" b="0" i="0">
                <a:solidFill>
                  <a:srgbClr val="000000"/>
                </a:solidFill>
                <a:latin typeface="Calibri"/>
              </a:rPr>
              <a:t>▼</a:t>
            </a:r>
          </a:p>
        </p:txBody>
      </p:sp>
      <p:sp>
        <p:nvSpPr>
          <p:cNvPr id="15" name="Rounded Rectangle 14"/>
          <p:cNvSpPr/>
          <p:nvPr/>
        </p:nvSpPr>
        <p:spPr>
          <a:xfrm>
            <a:off x="6080760" y="4014215"/>
            <a:ext cx="5806440" cy="118872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4069079"/>
            <a:ext cx="5486400" cy="329184"/>
          </a:xfrm>
          <a:prstGeom prst="rect">
            <a:avLst/>
          </a:prstGeom>
          <a:noFill/>
        </p:spPr>
        <p:txBody>
          <a:bodyPr wrap="square">
            <a:spAutoFit/>
          </a:bodyPr>
          <a:lstStyle/>
          <a:p>
            <a:pPr algn="l"/>
            <a:r>
              <a:rPr sz="1200" b="1" i="0">
                <a:solidFill>
                  <a:srgbClr val="000000"/>
                </a:solidFill>
                <a:latin typeface="Calibri"/>
              </a:rPr>
              <a:t>Pass 3 — Gap-Filling</a:t>
            </a:r>
          </a:p>
        </p:txBody>
      </p:sp>
      <p:sp>
        <p:nvSpPr>
          <p:cNvPr id="17" name="TextBox 16"/>
          <p:cNvSpPr txBox="1"/>
          <p:nvPr/>
        </p:nvSpPr>
        <p:spPr>
          <a:xfrm>
            <a:off x="6236208" y="4434840"/>
            <a:ext cx="5486400" cy="713232"/>
          </a:xfrm>
          <a:prstGeom prst="rect">
            <a:avLst/>
          </a:prstGeom>
          <a:noFill/>
        </p:spPr>
        <p:txBody>
          <a:bodyPr wrap="square">
            <a:spAutoFit/>
          </a:bodyPr>
          <a:lstStyle/>
          <a:p>
            <a:pPr algn="l"/>
            <a:r>
              <a:rPr sz="1000" b="0" i="0">
                <a:solidFill>
                  <a:srgbClr val="404040"/>
                </a:solidFill>
                <a:latin typeface="Calibri"/>
              </a:rPr>
              <a:t>All Pass 1+2 triples shown. Target implied relationships and supporting context not yet captured.
→ Contributes 18.9% of total triples  (162 / 855)</a:t>
            </a:r>
          </a:p>
        </p:txBody>
      </p:sp>
      <p:sp>
        <p:nvSpPr>
          <p:cNvPr id="18" name="TextBox 17"/>
          <p:cNvSpPr txBox="1"/>
          <p:nvPr/>
        </p:nvSpPr>
        <p:spPr>
          <a:xfrm>
            <a:off x="8732520" y="5202936"/>
            <a:ext cx="365760" cy="128016"/>
          </a:xfrm>
          <a:prstGeom prst="rect">
            <a:avLst/>
          </a:prstGeom>
          <a:noFill/>
        </p:spPr>
        <p:txBody>
          <a:bodyPr wrap="square">
            <a:spAutoFit/>
          </a:bodyPr>
          <a:lstStyle/>
          <a:p>
            <a:pPr algn="ctr"/>
            <a:r>
              <a:rPr sz="1100" b="0" i="0">
                <a:solidFill>
                  <a:srgbClr val="000000"/>
                </a:solidFill>
                <a:latin typeface="Calibri"/>
              </a:rPr>
              <a:t>▼</a:t>
            </a:r>
          </a:p>
        </p:txBody>
      </p:sp>
      <p:sp>
        <p:nvSpPr>
          <p:cNvPr id="19" name="Rounded Rectangle 18"/>
          <p:cNvSpPr/>
          <p:nvPr/>
        </p:nvSpPr>
        <p:spPr>
          <a:xfrm>
            <a:off x="6080760" y="5312664"/>
            <a:ext cx="5806440" cy="1188720"/>
          </a:xfrm>
          <a:prstGeom prst="roundRect">
            <a:avLst/>
          </a:prstGeom>
          <a:solidFill>
            <a:srgbClr val="D5E8D4"/>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6208" y="5367527"/>
            <a:ext cx="5486400" cy="329184"/>
          </a:xfrm>
          <a:prstGeom prst="rect">
            <a:avLst/>
          </a:prstGeom>
          <a:noFill/>
        </p:spPr>
        <p:txBody>
          <a:bodyPr wrap="square">
            <a:spAutoFit/>
          </a:bodyPr>
          <a:lstStyle/>
          <a:p>
            <a:pPr algn="l"/>
            <a:r>
              <a:rPr sz="1200" b="1" i="0">
                <a:solidFill>
                  <a:srgbClr val="000000"/>
                </a:solidFill>
                <a:latin typeface="Calibri"/>
              </a:rPr>
              <a:t>Validation Pass — Independent</a:t>
            </a:r>
          </a:p>
        </p:txBody>
      </p:sp>
      <p:sp>
        <p:nvSpPr>
          <p:cNvPr id="21" name="TextBox 20"/>
          <p:cNvSpPr txBox="1"/>
          <p:nvPr/>
        </p:nvSpPr>
        <p:spPr>
          <a:xfrm>
            <a:off x="6236208" y="5733288"/>
            <a:ext cx="5486400" cy="713232"/>
          </a:xfrm>
          <a:prstGeom prst="rect">
            <a:avLst/>
          </a:prstGeom>
          <a:noFill/>
        </p:spPr>
        <p:txBody>
          <a:bodyPr wrap="square">
            <a:spAutoFit/>
          </a:bodyPr>
          <a:lstStyle/>
          <a:p>
            <a:pPr algn="l"/>
            <a:r>
              <a:rPr sz="1000" b="0" i="0">
                <a:solidFill>
                  <a:srgbClr val="404040"/>
                </a:solidFill>
                <a:latin typeface="Calibri"/>
              </a:rPr>
              <a:t>Independent extraction, NO prior results. Jaccard stability = |Extract ∩ Validate| / |Extract ∪ Validate|. All 4 passes merged via union — validation is never a filter.
→ Stability score = per-article quality signal</a:t>
            </a:r>
          </a:p>
        </p:txBody>
      </p:sp>
      <p:sp>
        <p:nvSpPr>
          <p:cNvPr id="22" name="Rounded Rectangle 21"/>
          <p:cNvSpPr/>
          <p:nvPr/>
        </p:nvSpPr>
        <p:spPr>
          <a:xfrm>
            <a:off x="274320" y="2011680"/>
            <a:ext cx="5577840" cy="182880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084831"/>
            <a:ext cx="5212080" cy="329184"/>
          </a:xfrm>
          <a:prstGeom prst="rect">
            <a:avLst/>
          </a:prstGeom>
          <a:noFill/>
        </p:spPr>
        <p:txBody>
          <a:bodyPr wrap="square">
            <a:spAutoFit/>
          </a:bodyPr>
          <a:lstStyle/>
          <a:p>
            <a:pPr algn="l"/>
            <a:r>
              <a:rPr sz="1200" b="1" i="0">
                <a:solidFill>
                  <a:srgbClr val="FFFFFF"/>
                </a:solidFill>
                <a:latin typeface="Calibri"/>
              </a:rPr>
              <a:t>Ablation Result  (15 articles)</a:t>
            </a:r>
          </a:p>
        </p:txBody>
      </p:sp>
      <p:graphicFrame>
        <p:nvGraphicFramePr>
          <p:cNvPr id="24" name="Table 23"/>
          <p:cNvGraphicFramePr>
            <a:graphicFrameLocks noGrp="1"/>
          </p:cNvGraphicFramePr>
          <p:nvPr/>
        </p:nvGraphicFramePr>
        <p:xfrm>
          <a:off x="365760" y="2468880"/>
          <a:ext cx="5394960" cy="1280160"/>
        </p:xfrm>
        <a:graphic>
          <a:graphicData uri="http://schemas.openxmlformats.org/drawingml/2006/table">
            <a:tbl>
              <a:tblPr firstRow="1" bandRow="1">
                <a:tableStyleId>{5C22544A-7EE6-4342-B048-85BDC9FD1C3A}</a:tableStyleId>
              </a:tblPr>
              <a:tblGrid>
                <a:gridCol w="2011680"/>
                <a:gridCol w="1737360"/>
                <a:gridCol w="1645920"/>
              </a:tblGrid>
              <a:tr h="320040">
                <a:tc>
                  <a:txBody>
                    <a:bodyPr/>
                    <a:lstStyle/>
                    <a:p>
                      <a:pPr algn="ctr"/>
                      <a:r>
                        <a:rPr b="1" sz="1000">
                          <a:solidFill>
                            <a:srgbClr val="FFFFFF"/>
                          </a:solidFill>
                          <a:latin typeface="Calibri"/>
                        </a:rPr>
                        <a:t>Mode</a:t>
                      </a:r>
                    </a:p>
                  </a:txBody>
                  <a:tcPr>
                    <a:solidFill>
                      <a:srgbClr val="1F3864"/>
                    </a:solidFill>
                  </a:tcPr>
                </a:tc>
                <a:tc>
                  <a:txBody>
                    <a:bodyPr/>
                    <a:lstStyle/>
                    <a:p>
                      <a:pPr algn="ctr"/>
                      <a:r>
                        <a:rPr b="1" sz="1000">
                          <a:solidFill>
                            <a:srgbClr val="FFFFFF"/>
                          </a:solidFill>
                          <a:latin typeface="Calibri"/>
                        </a:rPr>
                        <a:t>Triples</a:t>
                      </a:r>
                    </a:p>
                  </a:txBody>
                  <a:tcPr>
                    <a:solidFill>
                      <a:srgbClr val="1F3864"/>
                    </a:solidFill>
                  </a:tcPr>
                </a:tc>
                <a:tc>
                  <a:txBody>
                    <a:bodyPr/>
                    <a:lstStyle/>
                    <a:p>
                      <a:pPr algn="ctr"/>
                      <a:r>
                        <a:rPr b="1" sz="1000">
                          <a:solidFill>
                            <a:srgbClr val="FFFFFF"/>
                          </a:solidFill>
                          <a:latin typeface="Calibri"/>
                        </a:rPr>
                        <a:t>Avg/Article</a:t>
                      </a:r>
                    </a:p>
                  </a:txBody>
                  <a:tcPr>
                    <a:solidFill>
                      <a:srgbClr val="1F3864"/>
                    </a:solidFill>
                  </a:tcPr>
                </a:tc>
              </a:tr>
              <a:tr h="320040">
                <a:tc>
                  <a:txBody>
                    <a:bodyPr/>
                    <a:lstStyle/>
                    <a:p>
                      <a:r>
                        <a:rPr sz="1000">
                          <a:solidFill>
                            <a:srgbClr val="404040"/>
                          </a:solidFill>
                          <a:latin typeface="Calibri"/>
                        </a:rPr>
                        <a:t>Single-Pass</a:t>
                      </a:r>
                    </a:p>
                  </a:txBody>
                  <a:tcPr>
                    <a:solidFill>
                      <a:srgbClr val="FFFFFF"/>
                    </a:solidFill>
                  </a:tcPr>
                </a:tc>
                <a:tc>
                  <a:txBody>
                    <a:bodyPr/>
                    <a:lstStyle/>
                    <a:p>
                      <a:r>
                        <a:rPr sz="1000">
                          <a:solidFill>
                            <a:srgbClr val="404040"/>
                          </a:solidFill>
                          <a:latin typeface="Calibri"/>
                        </a:rPr>
                        <a:t>316</a:t>
                      </a:r>
                    </a:p>
                  </a:txBody>
                  <a:tcPr>
                    <a:solidFill>
                      <a:srgbClr val="FFFFFF"/>
                    </a:solidFill>
                  </a:tcPr>
                </a:tc>
                <a:tc>
                  <a:txBody>
                    <a:bodyPr/>
                    <a:lstStyle/>
                    <a:p>
                      <a:r>
                        <a:rPr sz="1000">
                          <a:solidFill>
                            <a:srgbClr val="404040"/>
                          </a:solidFill>
                          <a:latin typeface="Calibri"/>
                        </a:rPr>
                        <a:t>21.1</a:t>
                      </a:r>
                    </a:p>
                  </a:txBody>
                  <a:tcPr>
                    <a:solidFill>
                      <a:srgbClr val="FFFFFF"/>
                    </a:solidFill>
                  </a:tcPr>
                </a:tc>
              </a:tr>
              <a:tr h="320040">
                <a:tc>
                  <a:txBody>
                    <a:bodyPr/>
                    <a:lstStyle/>
                    <a:p>
                      <a:r>
                        <a:rPr sz="1000">
                          <a:solidFill>
                            <a:srgbClr val="404040"/>
                          </a:solidFill>
                          <a:latin typeface="Calibri"/>
                        </a:rPr>
                        <a:t>Multi-Pass</a:t>
                      </a:r>
                    </a:p>
                  </a:txBody>
                  <a:tcPr>
                    <a:solidFill>
                      <a:srgbClr val="F2F2F2"/>
                    </a:solidFill>
                  </a:tcPr>
                </a:tc>
                <a:tc>
                  <a:txBody>
                    <a:bodyPr/>
                    <a:lstStyle/>
                    <a:p>
                      <a:r>
                        <a:rPr sz="1000">
                          <a:solidFill>
                            <a:srgbClr val="404040"/>
                          </a:solidFill>
                          <a:latin typeface="Calibri"/>
                        </a:rPr>
                        <a:t>855</a:t>
                      </a:r>
                    </a:p>
                  </a:txBody>
                  <a:tcPr>
                    <a:solidFill>
                      <a:srgbClr val="F2F2F2"/>
                    </a:solidFill>
                  </a:tcPr>
                </a:tc>
                <a:tc>
                  <a:txBody>
                    <a:bodyPr/>
                    <a:lstStyle/>
                    <a:p>
                      <a:r>
                        <a:rPr sz="1000">
                          <a:solidFill>
                            <a:srgbClr val="404040"/>
                          </a:solidFill>
                          <a:latin typeface="Calibri"/>
                        </a:rPr>
                        <a:t>57.0</a:t>
                      </a:r>
                    </a:p>
                  </a:txBody>
                  <a:tcPr>
                    <a:solidFill>
                      <a:srgbClr val="F2F2F2"/>
                    </a:solidFill>
                  </a:tcPr>
                </a:tc>
              </a:tr>
              <a:tr h="320040">
                <a:tc>
                  <a:txBody>
                    <a:bodyPr/>
                    <a:lstStyle/>
                    <a:p>
                      <a:r>
                        <a:rPr sz="1000">
                          <a:solidFill>
                            <a:srgbClr val="404040"/>
                          </a:solidFill>
                          <a:latin typeface="Calibri"/>
                        </a:rPr>
                        <a:t>+170.6%</a:t>
                      </a:r>
                    </a:p>
                  </a:txBody>
                  <a:tcPr>
                    <a:solidFill>
                      <a:srgbClr val="FFFFFF"/>
                    </a:solidFill>
                  </a:tcPr>
                </a:tc>
                <a:tc>
                  <a:txBody>
                    <a:bodyPr/>
                    <a:lstStyle/>
                    <a:p>
                      <a:r>
                        <a:rPr sz="1000">
                          <a:solidFill>
                            <a:srgbClr val="404040"/>
                          </a:solidFill>
                          <a:latin typeface="Calibri"/>
                        </a:rPr>
                        <a:t>+539</a:t>
                      </a:r>
                    </a:p>
                  </a:txBody>
                  <a:tcPr>
                    <a:solidFill>
                      <a:srgbClr val="FFFFFF"/>
                    </a:solidFill>
                  </a:tcPr>
                </a:tc>
                <a:tc>
                  <a:txBody>
                    <a:bodyPr/>
                    <a:lstStyle/>
                    <a:p>
                      <a:r>
                        <a:rPr sz="1000">
                          <a:solidFill>
                            <a:srgbClr val="404040"/>
                          </a:solidFill>
                          <a:latin typeface="Calibri"/>
                        </a:rPr>
                        <a:t>2.7×</a:t>
                      </a:r>
                    </a:p>
                  </a:txBody>
                  <a:tcPr>
                    <a:solidFill>
                      <a:srgbClr val="FFFFFF"/>
                    </a:solidFill>
                  </a:tcPr>
                </a:tc>
              </a:tr>
            </a:tbl>
          </a:graphicData>
        </a:graphic>
      </p:graphicFrame>
      <p:sp>
        <p:nvSpPr>
          <p:cNvPr id="25" name="TextBox 24"/>
          <p:cNvSpPr txBox="1"/>
          <p:nvPr/>
        </p:nvSpPr>
        <p:spPr>
          <a:xfrm>
            <a:off x="274320" y="3913632"/>
            <a:ext cx="5577840" cy="640080"/>
          </a:xfrm>
          <a:prstGeom prst="rect">
            <a:avLst/>
          </a:prstGeom>
          <a:noFill/>
        </p:spPr>
        <p:txBody>
          <a:bodyPr wrap="square">
            <a:spAutoFit/>
          </a:bodyPr>
          <a:lstStyle/>
          <a:p>
            <a:pPr algn="l"/>
            <a:r>
              <a:rPr sz="1100" b="1" i="0">
                <a:solidFill>
                  <a:srgbClr val="4472C4"/>
                </a:solidFill>
                <a:latin typeface="Calibri"/>
              </a:rPr>
              <a:t>Pass breakdown: Pass 1 = 45.7%  |  Pass 2 = 35.3%  |  Pass 3 = 18.9%
Diminishing returns confirm 3 passes is the optimal stopping 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Methodology</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Graph-RAG Querying with Anti-Hallucination Protocol</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394960" cy="347472"/>
          </a:xfrm>
          <a:prstGeom prst="rect">
            <a:avLst/>
          </a:prstGeom>
          <a:noFill/>
        </p:spPr>
        <p:txBody>
          <a:bodyPr wrap="square">
            <a:spAutoFit/>
          </a:bodyPr>
          <a:lstStyle/>
          <a:p>
            <a:pPr algn="l"/>
            <a:r>
              <a:rPr sz="1300" b="1" i="0">
                <a:solidFill>
                  <a:srgbClr val="1F3864"/>
                </a:solidFill>
                <a:latin typeface="Calibri"/>
              </a:rPr>
              <a:t>Query Pipeline</a:t>
            </a:r>
          </a:p>
        </p:txBody>
      </p:sp>
      <p:sp>
        <p:nvSpPr>
          <p:cNvPr id="7" name="Rounded Rectangle 6"/>
          <p:cNvSpPr/>
          <p:nvPr/>
        </p:nvSpPr>
        <p:spPr>
          <a:xfrm>
            <a:off x="274320" y="1828800"/>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User inputs natural language query</a:t>
            </a:r>
          </a:p>
        </p:txBody>
      </p:sp>
      <p:sp>
        <p:nvSpPr>
          <p:cNvPr id="8" name="TextBox 7"/>
          <p:cNvSpPr txBox="1"/>
          <p:nvPr/>
        </p:nvSpPr>
        <p:spPr>
          <a:xfrm>
            <a:off x="2606040" y="2286000"/>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9" name="Rounded Rectangle 8"/>
          <p:cNvSpPr/>
          <p:nvPr/>
        </p:nvSpPr>
        <p:spPr>
          <a:xfrm>
            <a:off x="274320" y="2487168"/>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Embed query → 384-dim vector (all-MiniLM-L6-v2)</a:t>
            </a:r>
          </a:p>
        </p:txBody>
      </p:sp>
      <p:sp>
        <p:nvSpPr>
          <p:cNvPr id="10" name="TextBox 9"/>
          <p:cNvSpPr txBox="1"/>
          <p:nvPr/>
        </p:nvSpPr>
        <p:spPr>
          <a:xfrm>
            <a:off x="2606040" y="2944368"/>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1" name="Rounded Rectangle 10"/>
          <p:cNvSpPr/>
          <p:nvPr/>
        </p:nvSpPr>
        <p:spPr>
          <a:xfrm>
            <a:off x="274320" y="3145535"/>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Cosine similarity over all triple embeddings</a:t>
            </a:r>
          </a:p>
        </p:txBody>
      </p:sp>
      <p:sp>
        <p:nvSpPr>
          <p:cNvPr id="12" name="TextBox 11"/>
          <p:cNvSpPr txBox="1"/>
          <p:nvPr/>
        </p:nvSpPr>
        <p:spPr>
          <a:xfrm>
            <a:off x="2606040" y="3602735"/>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3" name="Rounded Rectangle 12"/>
          <p:cNvSpPr/>
          <p:nvPr/>
        </p:nvSpPr>
        <p:spPr>
          <a:xfrm>
            <a:off x="274320" y="3803903"/>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Retrieve Top-50 triples  (threshold ≥ 0.25)</a:t>
            </a:r>
          </a:p>
        </p:txBody>
      </p:sp>
      <p:sp>
        <p:nvSpPr>
          <p:cNvPr id="14" name="TextBox 13"/>
          <p:cNvSpPr txBox="1"/>
          <p:nvPr/>
        </p:nvSpPr>
        <p:spPr>
          <a:xfrm>
            <a:off x="2606040" y="4261103"/>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5" name="Rounded Rectangle 14"/>
          <p:cNvSpPr/>
          <p:nvPr/>
        </p:nvSpPr>
        <p:spPr>
          <a:xfrm>
            <a:off x="274320" y="4462271"/>
            <a:ext cx="5120640" cy="457200"/>
          </a:xfrm>
          <a:prstGeom prst="roundRect">
            <a:avLst/>
          </a:prstGeom>
          <a:solidFill>
            <a:srgbClr val="FFE599"/>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Subgraph expansion on matched nodes</a:t>
            </a:r>
          </a:p>
        </p:txBody>
      </p:sp>
      <p:sp>
        <p:nvSpPr>
          <p:cNvPr id="16" name="TextBox 15"/>
          <p:cNvSpPr txBox="1"/>
          <p:nvPr/>
        </p:nvSpPr>
        <p:spPr>
          <a:xfrm>
            <a:off x="2606040" y="4919471"/>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7" name="Rounded Rectangle 16"/>
          <p:cNvSpPr/>
          <p:nvPr/>
        </p:nvSpPr>
        <p:spPr>
          <a:xfrm>
            <a:off x="274320" y="5120639"/>
            <a:ext cx="5120640" cy="457200"/>
          </a:xfrm>
          <a:prstGeom prst="roundRect">
            <a:avLst/>
          </a:prstGeom>
          <a:solidFill>
            <a:srgbClr val="D5E8D4"/>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LLM generates answer ONLY from retrieved triples</a:t>
            </a:r>
          </a:p>
        </p:txBody>
      </p:sp>
      <p:sp>
        <p:nvSpPr>
          <p:cNvPr id="18" name="TextBox 17"/>
          <p:cNvSpPr txBox="1"/>
          <p:nvPr/>
        </p:nvSpPr>
        <p:spPr>
          <a:xfrm>
            <a:off x="2606040" y="5577839"/>
            <a:ext cx="457200" cy="201168"/>
          </a:xfrm>
          <a:prstGeom prst="rect">
            <a:avLst/>
          </a:prstGeom>
          <a:noFill/>
        </p:spPr>
        <p:txBody>
          <a:bodyPr wrap="square">
            <a:spAutoFit/>
          </a:bodyPr>
          <a:lstStyle/>
          <a:p>
            <a:pPr algn="ctr"/>
            <a:r>
              <a:rPr sz="1000" b="0" i="0">
                <a:solidFill>
                  <a:srgbClr val="000000"/>
                </a:solidFill>
                <a:latin typeface="Calibri"/>
              </a:rPr>
              <a:t>▼</a:t>
            </a:r>
          </a:p>
        </p:txBody>
      </p:sp>
      <p:sp>
        <p:nvSpPr>
          <p:cNvPr id="19" name="Rounded Rectangle 18"/>
          <p:cNvSpPr/>
          <p:nvPr/>
        </p:nvSpPr>
        <p:spPr>
          <a:xfrm>
            <a:off x="274320" y="5779007"/>
            <a:ext cx="5120640" cy="457200"/>
          </a:xfrm>
          <a:prstGeom prst="roundRect">
            <a:avLst/>
          </a:prstGeom>
          <a:solidFill>
            <a:srgbClr val="D5E8D4"/>
          </a:solidFill>
          <a:ln w="1016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000000"/>
                </a:solidFill>
                <a:latin typeface="Calibri"/>
              </a:rPr>
              <a:t>Every claim → cited triple + source PMID</a:t>
            </a:r>
          </a:p>
        </p:txBody>
      </p:sp>
      <p:sp>
        <p:nvSpPr>
          <p:cNvPr id="20" name="TextBox 19"/>
          <p:cNvSpPr txBox="1"/>
          <p:nvPr/>
        </p:nvSpPr>
        <p:spPr>
          <a:xfrm>
            <a:off x="6035040" y="1417320"/>
            <a:ext cx="5852160" cy="347472"/>
          </a:xfrm>
          <a:prstGeom prst="rect">
            <a:avLst/>
          </a:prstGeom>
          <a:noFill/>
        </p:spPr>
        <p:txBody>
          <a:bodyPr wrap="square">
            <a:spAutoFit/>
          </a:bodyPr>
          <a:lstStyle/>
          <a:p>
            <a:pPr algn="l"/>
            <a:r>
              <a:rPr sz="1300" b="1" i="0">
                <a:solidFill>
                  <a:srgbClr val="1F3864"/>
                </a:solidFill>
                <a:latin typeface="Calibri"/>
              </a:rPr>
              <a:t>Anti-Hallucination Rules</a:t>
            </a:r>
          </a:p>
        </p:txBody>
      </p:sp>
      <p:sp>
        <p:nvSpPr>
          <p:cNvPr id="21" name="TextBox 20"/>
          <p:cNvSpPr txBox="1"/>
          <p:nvPr/>
        </p:nvSpPr>
        <p:spPr>
          <a:xfrm>
            <a:off x="6035040" y="1828800"/>
            <a:ext cx="5852160" cy="2286000"/>
          </a:xfrm>
          <a:prstGeom prst="rect">
            <a:avLst/>
          </a:prstGeom>
          <a:noFill/>
        </p:spPr>
        <p:txBody>
          <a:bodyPr wrap="square">
            <a:spAutoFit/>
          </a:bodyPr>
          <a:lstStyle/>
          <a:p>
            <a:pPr algn="l">
              <a:spcBef>
                <a:spcPts val="300"/>
              </a:spcBef>
            </a:pPr>
            <a:r>
              <a:rPr sz="1200" b="0">
                <a:solidFill>
                  <a:srgbClr val="404040"/>
                </a:solidFill>
                <a:latin typeface="Calibri"/>
              </a:rPr>
              <a:t>▸  Rule 1: Every factual claim must derive from a specific retrieved triple</a:t>
            </a:r>
          </a:p>
          <a:p>
            <a:pPr algn="l">
              <a:spcBef>
                <a:spcPts val="300"/>
              </a:spcBef>
            </a:pPr>
            <a:r>
              <a:rPr sz="1200" b="0">
                <a:solidFill>
                  <a:srgbClr val="404040"/>
                </a:solidFill>
                <a:latin typeface="Calibri"/>
              </a:rPr>
              <a:t>▸  Rule 2: Claim must include source PMID as in-text citation</a:t>
            </a:r>
          </a:p>
          <a:p>
            <a:pPr algn="l">
              <a:spcBef>
                <a:spcPts val="300"/>
              </a:spcBef>
            </a:pPr>
            <a:r>
              <a:rPr sz="1200" b="0">
                <a:solidFill>
                  <a:srgbClr val="404040"/>
                </a:solidFill>
                <a:latin typeface="Calibri"/>
              </a:rPr>
              <a:t>▸  Rule 3: Insufficient evidence → must explicitly state it, not infer from training</a:t>
            </a:r>
          </a:p>
          <a:p>
            <a:pPr algn="l">
              <a:spcBef>
                <a:spcPts val="300"/>
              </a:spcBef>
            </a:pPr>
            <a:r>
              <a:rPr sz="1200" b="0">
                <a:solidFill>
                  <a:srgbClr val="404040"/>
                </a:solidFill>
                <a:latin typeface="Calibri"/>
              </a:rPr>
              <a:t>▸  Rule 4: LLM training knowledge MUST NOT supplement the answer</a:t>
            </a:r>
          </a:p>
          <a:p>
            <a:pPr algn="l">
              <a:spcBef>
                <a:spcPts val="300"/>
              </a:spcBef>
            </a:pPr>
            <a:r>
              <a:rPr sz="1200" b="0">
                <a:solidFill>
                  <a:srgbClr val="404040"/>
                </a:solidFill>
                <a:latin typeface="Calibri"/>
              </a:rPr>
              <a:t>▸  Rule 5: Quantitative values must match extracted metric triples exactly</a:t>
            </a:r>
          </a:p>
        </p:txBody>
      </p:sp>
      <p:sp>
        <p:nvSpPr>
          <p:cNvPr id="22" name="TextBox 21"/>
          <p:cNvSpPr txBox="1"/>
          <p:nvPr/>
        </p:nvSpPr>
        <p:spPr>
          <a:xfrm>
            <a:off x="6035040" y="4206240"/>
            <a:ext cx="5852160" cy="347472"/>
          </a:xfrm>
          <a:prstGeom prst="rect">
            <a:avLst/>
          </a:prstGeom>
          <a:noFill/>
        </p:spPr>
        <p:txBody>
          <a:bodyPr wrap="square">
            <a:spAutoFit/>
          </a:bodyPr>
          <a:lstStyle/>
          <a:p>
            <a:pPr algn="l"/>
            <a:r>
              <a:rPr sz="1300" b="1" i="0">
                <a:solidFill>
                  <a:srgbClr val="1F3864"/>
                </a:solidFill>
                <a:latin typeface="Calibri"/>
              </a:rPr>
              <a:t>Triple Embedding Format</a:t>
            </a:r>
          </a:p>
        </p:txBody>
      </p:sp>
      <p:sp>
        <p:nvSpPr>
          <p:cNvPr id="23" name="TextBox 22"/>
          <p:cNvSpPr txBox="1"/>
          <p:nvPr/>
        </p:nvSpPr>
        <p:spPr>
          <a:xfrm>
            <a:off x="6035040" y="4617720"/>
            <a:ext cx="5852160" cy="914400"/>
          </a:xfrm>
          <a:prstGeom prst="rect">
            <a:avLst/>
          </a:prstGeom>
          <a:noFill/>
        </p:spPr>
        <p:txBody>
          <a:bodyPr wrap="square">
            <a:spAutoFit/>
          </a:bodyPr>
          <a:lstStyle/>
          <a:p>
            <a:pPr algn="l"/>
            <a:r>
              <a:rPr sz="1100" b="0" i="0">
                <a:solidFill>
                  <a:srgbClr val="404040"/>
                </a:solidFill>
                <a:latin typeface="Calibri"/>
              </a:rPr>
              <a:t>(Y. lipolytica, produces, beta-carotene)  →  'Y. lipolytica produces beta-carotene'
Captures complete relationship semantics, not just individual entity terms.
50 retrieved triples span 23 unique papers, 13 distinct relation types.</a:t>
            </a:r>
          </a:p>
        </p:txBody>
      </p:sp>
      <p:sp>
        <p:nvSpPr>
          <p:cNvPr id="24" name="Rectangle 23"/>
          <p:cNvSpPr/>
          <p:nvPr/>
        </p:nvSpPr>
        <p:spPr>
          <a:xfrm>
            <a:off x="6035040" y="5669280"/>
            <a:ext cx="5852160" cy="658368"/>
          </a:xfrm>
          <a:prstGeom prst="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5724144"/>
            <a:ext cx="5577840" cy="566928"/>
          </a:xfrm>
          <a:prstGeom prst="rect">
            <a:avLst/>
          </a:prstGeom>
          <a:noFill/>
        </p:spPr>
        <p:txBody>
          <a:bodyPr wrap="square">
            <a:spAutoFit/>
          </a:bodyPr>
          <a:lstStyle/>
          <a:p>
            <a:pPr algn="l"/>
            <a:r>
              <a:rPr sz="1000" b="0" i="1">
                <a:solidFill>
                  <a:srgbClr val="404040"/>
                </a:solidFill>
                <a:latin typeface="Calibri"/>
              </a:rPr>
              <a:t>BTP1: keyword graph traversal — exact entity name required, no semantic match, no citations, no grounding.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Extraction Statistics — Raw Data (Beta-Carotene Case Study)</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5394960" cy="329184"/>
          </a:xfrm>
          <a:prstGeom prst="rect">
            <a:avLst/>
          </a:prstGeom>
          <a:noFill/>
        </p:spPr>
        <p:txBody>
          <a:bodyPr wrap="square">
            <a:spAutoFit/>
          </a:bodyPr>
          <a:lstStyle/>
          <a:p>
            <a:pPr algn="l"/>
            <a:r>
              <a:rPr sz="1300" b="1" i="0">
                <a:solidFill>
                  <a:srgbClr val="1F3864"/>
                </a:solidFill>
                <a:latin typeface="Calibri"/>
              </a:rPr>
              <a:t>Article Processing Pipeline</a:t>
            </a:r>
          </a:p>
        </p:txBody>
      </p:sp>
      <p:graphicFrame>
        <p:nvGraphicFramePr>
          <p:cNvPr id="7" name="Table 6"/>
          <p:cNvGraphicFramePr>
            <a:graphicFrameLocks noGrp="1"/>
          </p:cNvGraphicFramePr>
          <p:nvPr/>
        </p:nvGraphicFramePr>
        <p:xfrm>
          <a:off x="274320" y="1828800"/>
          <a:ext cx="5486400" cy="2880360"/>
        </p:xfrm>
        <a:graphic>
          <a:graphicData uri="http://schemas.openxmlformats.org/drawingml/2006/table">
            <a:tbl>
              <a:tblPr firstRow="1" bandRow="1">
                <a:tableStyleId>{5C22544A-7EE6-4342-B048-85BDC9FD1C3A}</a:tableStyleId>
              </a:tblPr>
              <a:tblGrid>
                <a:gridCol w="3840480"/>
                <a:gridCol w="1645920"/>
              </a:tblGrid>
              <a:tr h="320040">
                <a:tc>
                  <a:txBody>
                    <a:bodyPr/>
                    <a:lstStyle/>
                    <a:p>
                      <a:pPr algn="ctr"/>
                      <a:r>
                        <a:rPr b="1" sz="1000">
                          <a:solidFill>
                            <a:srgbClr val="FFFFFF"/>
                          </a:solidFill>
                          <a:latin typeface="Calibri"/>
                        </a:rPr>
                        <a:t>Pipeline Stage</a:t>
                      </a:r>
                    </a:p>
                  </a:txBody>
                  <a:tcPr>
                    <a:solidFill>
                      <a:srgbClr val="1F3864"/>
                    </a:solidFill>
                  </a:tcPr>
                </a:tc>
                <a:tc>
                  <a:txBody>
                    <a:bodyPr/>
                    <a:lstStyle/>
                    <a:p>
                      <a:pPr algn="ctr"/>
                      <a:r>
                        <a:rPr b="1" sz="1000">
                          <a:solidFill>
                            <a:srgbClr val="FFFFFF"/>
                          </a:solidFill>
                          <a:latin typeface="Calibri"/>
                        </a:rPr>
                        <a:t>Count</a:t>
                      </a:r>
                    </a:p>
                  </a:txBody>
                  <a:tcPr>
                    <a:solidFill>
                      <a:srgbClr val="1F3864"/>
                    </a:solidFill>
                  </a:tcPr>
                </a:tc>
              </a:tr>
              <a:tr h="320040">
                <a:tc>
                  <a:txBody>
                    <a:bodyPr/>
                    <a:lstStyle/>
                    <a:p>
                      <a:r>
                        <a:rPr sz="1000">
                          <a:solidFill>
                            <a:srgbClr val="404040"/>
                          </a:solidFill>
                          <a:latin typeface="Calibri"/>
                        </a:rPr>
                        <a:t>Unique PMIDs retrieved (3 queries)</a:t>
                      </a:r>
                    </a:p>
                  </a:txBody>
                  <a:tcPr>
                    <a:solidFill>
                      <a:srgbClr val="FFFFFF"/>
                    </a:solidFill>
                  </a:tcPr>
                </a:tc>
                <a:tc>
                  <a:txBody>
                    <a:bodyPr/>
                    <a:lstStyle/>
                    <a:p>
                      <a:r>
                        <a:rPr sz="1000">
                          <a:solidFill>
                            <a:srgbClr val="404040"/>
                          </a:solidFill>
                          <a:latin typeface="Calibri"/>
                        </a:rPr>
                        <a:t>228</a:t>
                      </a:r>
                    </a:p>
                  </a:txBody>
                  <a:tcPr>
                    <a:solidFill>
                      <a:srgbClr val="FFFFFF"/>
                    </a:solidFill>
                  </a:tcPr>
                </a:tc>
              </a:tr>
              <a:tr h="320040">
                <a:tc>
                  <a:txBody>
                    <a:bodyPr/>
                    <a:lstStyle/>
                    <a:p>
                      <a:r>
                        <a:rPr sz="1000">
                          <a:solidFill>
                            <a:srgbClr val="404040"/>
                          </a:solidFill>
                          <a:latin typeface="Calibri"/>
                        </a:rPr>
                        <a:t>Articles with valid abstracts</a:t>
                      </a:r>
                    </a:p>
                  </a:txBody>
                  <a:tcPr>
                    <a:solidFill>
                      <a:srgbClr val="F2F2F2"/>
                    </a:solidFill>
                  </a:tcPr>
                </a:tc>
                <a:tc>
                  <a:txBody>
                    <a:bodyPr/>
                    <a:lstStyle/>
                    <a:p>
                      <a:r>
                        <a:rPr sz="1000">
                          <a:solidFill>
                            <a:srgbClr val="404040"/>
                          </a:solidFill>
                          <a:latin typeface="Calibri"/>
                        </a:rPr>
                        <a:t>227</a:t>
                      </a:r>
                    </a:p>
                  </a:txBody>
                  <a:tcPr>
                    <a:solidFill>
                      <a:srgbClr val="F2F2F2"/>
                    </a:solidFill>
                  </a:tcPr>
                </a:tc>
              </a:tr>
              <a:tr h="320040">
                <a:tc>
                  <a:txBody>
                    <a:bodyPr/>
                    <a:lstStyle/>
                    <a:p>
                      <a:r>
                        <a:rPr sz="1000">
                          <a:solidFill>
                            <a:srgbClr val="404040"/>
                          </a:solidFill>
                          <a:latin typeface="Calibri"/>
                        </a:rPr>
                        <a:t>After relevance pre-filtering</a:t>
                      </a:r>
                    </a:p>
                  </a:txBody>
                  <a:tcPr>
                    <a:solidFill>
                      <a:srgbClr val="FFFFFF"/>
                    </a:solidFill>
                  </a:tcPr>
                </a:tc>
                <a:tc>
                  <a:txBody>
                    <a:bodyPr/>
                    <a:lstStyle/>
                    <a:p>
                      <a:r>
                        <a:rPr sz="1000">
                          <a:solidFill>
                            <a:srgbClr val="404040"/>
                          </a:solidFill>
                          <a:latin typeface="Calibri"/>
                        </a:rPr>
                        <a:t>226</a:t>
                      </a:r>
                    </a:p>
                  </a:txBody>
                  <a:tcPr>
                    <a:solidFill>
                      <a:srgbClr val="FFFFFF"/>
                    </a:solidFill>
                  </a:tcPr>
                </a:tc>
              </a:tr>
              <a:tr h="320040">
                <a:tc>
                  <a:txBody>
                    <a:bodyPr/>
                    <a:lstStyle/>
                    <a:p>
                      <a:r>
                        <a:rPr sz="1000">
                          <a:solidFill>
                            <a:srgbClr val="404040"/>
                          </a:solidFill>
                          <a:latin typeface="Calibri"/>
                        </a:rPr>
                        <a:t>Articles processed by LLM</a:t>
                      </a:r>
                    </a:p>
                  </a:txBody>
                  <a:tcPr>
                    <a:solidFill>
                      <a:srgbClr val="F2F2F2"/>
                    </a:solidFill>
                  </a:tcPr>
                </a:tc>
                <a:tc>
                  <a:txBody>
                    <a:bodyPr/>
                    <a:lstStyle/>
                    <a:p>
                      <a:r>
                        <a:rPr sz="1000">
                          <a:solidFill>
                            <a:srgbClr val="404040"/>
                          </a:solidFill>
                          <a:latin typeface="Calibri"/>
                        </a:rPr>
                        <a:t>226</a:t>
                      </a:r>
                    </a:p>
                  </a:txBody>
                  <a:tcPr>
                    <a:solidFill>
                      <a:srgbClr val="F2F2F2"/>
                    </a:solidFill>
                  </a:tcPr>
                </a:tc>
              </a:tr>
              <a:tr h="320040">
                <a:tc>
                  <a:txBody>
                    <a:bodyPr/>
                    <a:lstStyle/>
                    <a:p>
                      <a:r>
                        <a:rPr sz="1000">
                          <a:solidFill>
                            <a:srgbClr val="404040"/>
                          </a:solidFill>
                          <a:latin typeface="Calibri"/>
                        </a:rPr>
                        <a:t>Productive articles (with triples)</a:t>
                      </a:r>
                    </a:p>
                  </a:txBody>
                  <a:tcPr>
                    <a:solidFill>
                      <a:srgbClr val="FFFFFF"/>
                    </a:solidFill>
                  </a:tcPr>
                </a:tc>
                <a:tc>
                  <a:txBody>
                    <a:bodyPr/>
                    <a:lstStyle/>
                    <a:p>
                      <a:r>
                        <a:rPr sz="1000">
                          <a:solidFill>
                            <a:srgbClr val="404040"/>
                          </a:solidFill>
                          <a:latin typeface="Calibri"/>
                        </a:rPr>
                        <a:t>103  (45.6%)</a:t>
                      </a:r>
                    </a:p>
                  </a:txBody>
                  <a:tcPr>
                    <a:solidFill>
                      <a:srgbClr val="FFFFFF"/>
                    </a:solidFill>
                  </a:tcPr>
                </a:tc>
              </a:tr>
              <a:tr h="320040">
                <a:tc>
                  <a:txBody>
                    <a:bodyPr/>
                    <a:lstStyle/>
                    <a:p>
                      <a:r>
                        <a:rPr sz="1000">
                          <a:solidFill>
                            <a:srgbClr val="404040"/>
                          </a:solidFill>
                          <a:latin typeface="Calibri"/>
                        </a:rPr>
                        <a:t>Non-productive articles</a:t>
                      </a:r>
                    </a:p>
                  </a:txBody>
                  <a:tcPr>
                    <a:solidFill>
                      <a:srgbClr val="F2F2F2"/>
                    </a:solidFill>
                  </a:tcPr>
                </a:tc>
                <a:tc>
                  <a:txBody>
                    <a:bodyPr/>
                    <a:lstStyle/>
                    <a:p>
                      <a:r>
                        <a:rPr sz="1000">
                          <a:solidFill>
                            <a:srgbClr val="404040"/>
                          </a:solidFill>
                          <a:latin typeface="Calibri"/>
                        </a:rPr>
                        <a:t>123  (54.4%)</a:t>
                      </a:r>
                    </a:p>
                  </a:txBody>
                  <a:tcPr>
                    <a:solidFill>
                      <a:srgbClr val="F2F2F2"/>
                    </a:solidFill>
                  </a:tcPr>
                </a:tc>
              </a:tr>
              <a:tr h="320040">
                <a:tc>
                  <a:txBody>
                    <a:bodyPr/>
                    <a:lstStyle/>
                    <a:p>
                      <a:r>
                        <a:rPr sz="1000">
                          <a:solidFill>
                            <a:srgbClr val="404040"/>
                          </a:solidFill>
                          <a:latin typeface="Calibri"/>
                        </a:rPr>
                        <a:t>Avg triples per productive article</a:t>
                      </a:r>
                    </a:p>
                  </a:txBody>
                  <a:tcPr>
                    <a:solidFill>
                      <a:srgbClr val="FFFFFF"/>
                    </a:solidFill>
                  </a:tcPr>
                </a:tc>
                <a:tc>
                  <a:txBody>
                    <a:bodyPr/>
                    <a:lstStyle/>
                    <a:p>
                      <a:r>
                        <a:rPr sz="1000">
                          <a:solidFill>
                            <a:srgbClr val="404040"/>
                          </a:solidFill>
                          <a:latin typeface="Calibri"/>
                        </a:rPr>
                        <a:t>45.0</a:t>
                      </a:r>
                    </a:p>
                  </a:txBody>
                  <a:tcPr>
                    <a:solidFill>
                      <a:srgbClr val="FFFFFF"/>
                    </a:solidFill>
                  </a:tcPr>
                </a:tc>
              </a:tr>
              <a:tr h="320040">
                <a:tc>
                  <a:txBody>
                    <a:bodyPr/>
                    <a:lstStyle/>
                    <a:p>
                      <a:r>
                        <a:rPr sz="1000">
                          <a:solidFill>
                            <a:srgbClr val="404040"/>
                          </a:solidFill>
                          <a:latin typeface="Calibri"/>
                        </a:rPr>
                        <a:t>Avg triples per ALL articles</a:t>
                      </a:r>
                    </a:p>
                  </a:txBody>
                  <a:tcPr>
                    <a:solidFill>
                      <a:srgbClr val="F2F2F2"/>
                    </a:solidFill>
                  </a:tcPr>
                </a:tc>
                <a:tc>
                  <a:txBody>
                    <a:bodyPr/>
                    <a:lstStyle/>
                    <a:p>
                      <a:r>
                        <a:rPr sz="1000">
                          <a:solidFill>
                            <a:srgbClr val="404040"/>
                          </a:solidFill>
                          <a:latin typeface="Calibri"/>
                        </a:rPr>
                        <a:t>20.9</a:t>
                      </a:r>
                    </a:p>
                  </a:txBody>
                  <a:tcPr>
                    <a:solidFill>
                      <a:srgbClr val="F2F2F2"/>
                    </a:solidFill>
                  </a:tcPr>
                </a:tc>
              </a:tr>
            </a:tbl>
          </a:graphicData>
        </a:graphic>
      </p:graphicFrame>
      <p:sp>
        <p:nvSpPr>
          <p:cNvPr id="8" name="TextBox 7"/>
          <p:cNvSpPr txBox="1"/>
          <p:nvPr/>
        </p:nvSpPr>
        <p:spPr>
          <a:xfrm>
            <a:off x="6035040" y="1417320"/>
            <a:ext cx="5852160" cy="329184"/>
          </a:xfrm>
          <a:prstGeom prst="rect">
            <a:avLst/>
          </a:prstGeom>
          <a:noFill/>
        </p:spPr>
        <p:txBody>
          <a:bodyPr wrap="square">
            <a:spAutoFit/>
          </a:bodyPr>
          <a:lstStyle/>
          <a:p>
            <a:pPr algn="l"/>
            <a:r>
              <a:rPr sz="1300" b="1" i="0">
                <a:solidFill>
                  <a:srgbClr val="1F3864"/>
                </a:solidFill>
                <a:latin typeface="Calibri"/>
              </a:rPr>
              <a:t>Overall Extraction Results</a:t>
            </a:r>
          </a:p>
        </p:txBody>
      </p:sp>
      <p:graphicFrame>
        <p:nvGraphicFramePr>
          <p:cNvPr id="9" name="Table 8"/>
          <p:cNvGraphicFramePr>
            <a:graphicFrameLocks noGrp="1"/>
          </p:cNvGraphicFramePr>
          <p:nvPr/>
        </p:nvGraphicFramePr>
        <p:xfrm>
          <a:off x="6035040" y="1828800"/>
          <a:ext cx="5852159" cy="2880360"/>
        </p:xfrm>
        <a:graphic>
          <a:graphicData uri="http://schemas.openxmlformats.org/drawingml/2006/table">
            <a:tbl>
              <a:tblPr firstRow="1" bandRow="1">
                <a:tableStyleId>{5C22544A-7EE6-4342-B048-85BDC9FD1C3A}</a:tableStyleId>
              </a:tblPr>
              <a:tblGrid>
                <a:gridCol w="3749039"/>
                <a:gridCol w="2103120"/>
              </a:tblGrid>
              <a:tr h="320040">
                <a:tc>
                  <a:txBody>
                    <a:bodyPr/>
                    <a:lstStyle/>
                    <a:p>
                      <a:pPr algn="ctr"/>
                      <a:r>
                        <a:rPr b="1" sz="1000">
                          <a:solidFill>
                            <a:srgbClr val="FFFFFF"/>
                          </a:solidFill>
                          <a:latin typeface="Calibri"/>
                        </a:rPr>
                        <a:t>Metric</a:t>
                      </a:r>
                    </a:p>
                  </a:txBody>
                  <a:tcPr>
                    <a:solidFill>
                      <a:srgbClr val="1F3864"/>
                    </a:solidFill>
                  </a:tcPr>
                </a:tc>
                <a:tc>
                  <a:txBody>
                    <a:bodyPr/>
                    <a:lstStyle/>
                    <a:p>
                      <a:pPr algn="ctr"/>
                      <a:r>
                        <a:rPr b="1" sz="1000">
                          <a:solidFill>
                            <a:srgbClr val="FFFFFF"/>
                          </a:solidFill>
                          <a:latin typeface="Calibri"/>
                        </a:rPr>
                        <a:t>Value</a:t>
                      </a:r>
                    </a:p>
                  </a:txBody>
                  <a:tcPr>
                    <a:solidFill>
                      <a:srgbClr val="1F3864"/>
                    </a:solidFill>
                  </a:tcPr>
                </a:tc>
              </a:tr>
              <a:tr h="320040">
                <a:tc>
                  <a:txBody>
                    <a:bodyPr/>
                    <a:lstStyle/>
                    <a:p>
                      <a:r>
                        <a:rPr sz="1000">
                          <a:solidFill>
                            <a:srgbClr val="404040"/>
                          </a:solidFill>
                          <a:latin typeface="Calibri"/>
                        </a:rPr>
                        <a:t>Total typed triples extracted</a:t>
                      </a:r>
                    </a:p>
                  </a:txBody>
                  <a:tcPr>
                    <a:solidFill>
                      <a:srgbClr val="FFFFFF"/>
                    </a:solidFill>
                  </a:tcPr>
                </a:tc>
                <a:tc>
                  <a:txBody>
                    <a:bodyPr/>
                    <a:lstStyle/>
                    <a:p>
                      <a:r>
                        <a:rPr sz="1000">
                          <a:solidFill>
                            <a:srgbClr val="404040"/>
                          </a:solidFill>
                          <a:latin typeface="Calibri"/>
                        </a:rPr>
                        <a:t>4,722</a:t>
                      </a:r>
                    </a:p>
                  </a:txBody>
                  <a:tcPr>
                    <a:solidFill>
                      <a:srgbClr val="FFFFFF"/>
                    </a:solidFill>
                  </a:tcPr>
                </a:tc>
              </a:tr>
              <a:tr h="320040">
                <a:tc>
                  <a:txBody>
                    <a:bodyPr/>
                    <a:lstStyle/>
                    <a:p>
                      <a:r>
                        <a:rPr sz="1000">
                          <a:solidFill>
                            <a:srgbClr val="404040"/>
                          </a:solidFill>
                          <a:latin typeface="Calibri"/>
                        </a:rPr>
                        <a:t>Unique normalized entities</a:t>
                      </a:r>
                    </a:p>
                  </a:txBody>
                  <a:tcPr>
                    <a:solidFill>
                      <a:srgbClr val="F2F2F2"/>
                    </a:solidFill>
                  </a:tcPr>
                </a:tc>
                <a:tc>
                  <a:txBody>
                    <a:bodyPr/>
                    <a:lstStyle/>
                    <a:p>
                      <a:r>
                        <a:rPr sz="1000">
                          <a:solidFill>
                            <a:srgbClr val="404040"/>
                          </a:solidFill>
                          <a:latin typeface="Calibri"/>
                        </a:rPr>
                        <a:t>2,996</a:t>
                      </a:r>
                    </a:p>
                  </a:txBody>
                  <a:tcPr>
                    <a:solidFill>
                      <a:srgbClr val="F2F2F2"/>
                    </a:solidFill>
                  </a:tcPr>
                </a:tc>
              </a:tr>
              <a:tr h="320040">
                <a:tc>
                  <a:txBody>
                    <a:bodyPr/>
                    <a:lstStyle/>
                    <a:p>
                      <a:r>
                        <a:rPr sz="1000">
                          <a:solidFill>
                            <a:srgbClr val="404040"/>
                          </a:solidFill>
                          <a:latin typeface="Calibri"/>
                        </a:rPr>
                        <a:t>Unique raw relation strings</a:t>
                      </a:r>
                    </a:p>
                  </a:txBody>
                  <a:tcPr>
                    <a:solidFill>
                      <a:srgbClr val="FFFFFF"/>
                    </a:solidFill>
                  </a:tcPr>
                </a:tc>
                <a:tc>
                  <a:txBody>
                    <a:bodyPr/>
                    <a:lstStyle/>
                    <a:p>
                      <a:r>
                        <a:rPr sz="1000">
                          <a:solidFill>
                            <a:srgbClr val="404040"/>
                          </a:solidFill>
                          <a:latin typeface="Calibri"/>
                        </a:rPr>
                        <a:t>525</a:t>
                      </a:r>
                    </a:p>
                  </a:txBody>
                  <a:tcPr>
                    <a:solidFill>
                      <a:srgbClr val="FFFFFF"/>
                    </a:solidFill>
                  </a:tcPr>
                </a:tc>
              </a:tr>
              <a:tr h="320040">
                <a:tc>
                  <a:txBody>
                    <a:bodyPr/>
                    <a:lstStyle/>
                    <a:p>
                      <a:r>
                        <a:rPr sz="1000">
                          <a:solidFill>
                            <a:srgbClr val="404040"/>
                          </a:solidFill>
                          <a:latin typeface="Calibri"/>
                        </a:rPr>
                        <a:t>Canonical ontology coverage</a:t>
                      </a:r>
                    </a:p>
                  </a:txBody>
                  <a:tcPr>
                    <a:solidFill>
                      <a:srgbClr val="F2F2F2"/>
                    </a:solidFill>
                  </a:tcPr>
                </a:tc>
                <a:tc>
                  <a:txBody>
                    <a:bodyPr/>
                    <a:lstStyle/>
                    <a:p>
                      <a:r>
                        <a:rPr sz="1000">
                          <a:solidFill>
                            <a:srgbClr val="404040"/>
                          </a:solidFill>
                          <a:latin typeface="Calibri"/>
                        </a:rPr>
                        <a:t>3,473 triples  (73.5%)</a:t>
                      </a:r>
                    </a:p>
                  </a:txBody>
                  <a:tcPr>
                    <a:solidFill>
                      <a:srgbClr val="F2F2F2"/>
                    </a:solidFill>
                  </a:tcPr>
                </a:tc>
              </a:tr>
              <a:tr h="320040">
                <a:tc>
                  <a:txBody>
                    <a:bodyPr/>
                    <a:lstStyle/>
                    <a:p>
                      <a:r>
                        <a:rPr sz="1000">
                          <a:solidFill>
                            <a:srgbClr val="404040"/>
                          </a:solidFill>
                          <a:latin typeface="Calibri"/>
                        </a:rPr>
                        <a:t>Non-canonical relation triples</a:t>
                      </a:r>
                    </a:p>
                  </a:txBody>
                  <a:tcPr>
                    <a:solidFill>
                      <a:srgbClr val="FFFFFF"/>
                    </a:solidFill>
                  </a:tcPr>
                </a:tc>
                <a:tc>
                  <a:txBody>
                    <a:bodyPr/>
                    <a:lstStyle/>
                    <a:p>
                      <a:r>
                        <a:rPr sz="1000">
                          <a:solidFill>
                            <a:srgbClr val="404040"/>
                          </a:solidFill>
                          <a:latin typeface="Calibri"/>
                        </a:rPr>
                        <a:t>1,249 triples  (26.5%)</a:t>
                      </a:r>
                    </a:p>
                  </a:txBody>
                  <a:tcPr>
                    <a:solidFill>
                      <a:srgbClr val="FFFFFF"/>
                    </a:solidFill>
                  </a:tcPr>
                </a:tc>
              </a:tr>
              <a:tr h="320040">
                <a:tc>
                  <a:txBody>
                    <a:bodyPr/>
                    <a:lstStyle/>
                    <a:p>
                      <a:r>
                        <a:rPr sz="1000">
                          <a:solidFill>
                            <a:srgbClr val="404040"/>
                          </a:solidFill>
                          <a:latin typeface="Calibri"/>
                        </a:rPr>
                        <a:t>has_metric triples</a:t>
                      </a:r>
                    </a:p>
                  </a:txBody>
                  <a:tcPr>
                    <a:solidFill>
                      <a:srgbClr val="F2F2F2"/>
                    </a:solidFill>
                  </a:tcPr>
                </a:tc>
                <a:tc>
                  <a:txBody>
                    <a:bodyPr/>
                    <a:lstStyle/>
                    <a:p>
                      <a:r>
                        <a:rPr sz="1000">
                          <a:solidFill>
                            <a:srgbClr val="404040"/>
                          </a:solidFill>
                          <a:latin typeface="Calibri"/>
                        </a:rPr>
                        <a:t>598 triples  (12.7%)</a:t>
                      </a:r>
                    </a:p>
                  </a:txBody>
                  <a:tcPr>
                    <a:solidFill>
                      <a:srgbClr val="F2F2F2"/>
                    </a:solidFill>
                  </a:tcPr>
                </a:tc>
              </a:tr>
              <a:tr h="320040">
                <a:tc>
                  <a:txBody>
                    <a:bodyPr/>
                    <a:lstStyle/>
                    <a:p>
                      <a:r>
                        <a:rPr sz="1000">
                          <a:solidFill>
                            <a:srgbClr val="404040"/>
                          </a:solidFill>
                          <a:latin typeface="Calibri"/>
                        </a:rPr>
                        <a:t>Graph directed edges</a:t>
                      </a:r>
                    </a:p>
                  </a:txBody>
                  <a:tcPr>
                    <a:solidFill>
                      <a:srgbClr val="FFFFFF"/>
                    </a:solidFill>
                  </a:tcPr>
                </a:tc>
                <a:tc>
                  <a:txBody>
                    <a:bodyPr/>
                    <a:lstStyle/>
                    <a:p>
                      <a:r>
                        <a:rPr sz="1000">
                          <a:solidFill>
                            <a:srgbClr val="404040"/>
                          </a:solidFill>
                          <a:latin typeface="Calibri"/>
                        </a:rPr>
                        <a:t>4,722 typed</a:t>
                      </a:r>
                    </a:p>
                  </a:txBody>
                  <a:tcPr>
                    <a:solidFill>
                      <a:srgbClr val="FFFFFF"/>
                    </a:solidFill>
                  </a:tcPr>
                </a:tc>
              </a:tr>
              <a:tr h="320040">
                <a:tc>
                  <a:txBody>
                    <a:bodyPr/>
                    <a:lstStyle/>
                    <a:p>
                      <a:r>
                        <a:rPr sz="1000">
                          <a:solidFill>
                            <a:srgbClr val="404040"/>
                          </a:solidFill>
                          <a:latin typeface="Calibri"/>
                        </a:rPr>
                        <a:t>Graph nodes</a:t>
                      </a:r>
                    </a:p>
                  </a:txBody>
                  <a:tcPr>
                    <a:solidFill>
                      <a:srgbClr val="F2F2F2"/>
                    </a:solidFill>
                  </a:tcPr>
                </a:tc>
                <a:tc>
                  <a:txBody>
                    <a:bodyPr/>
                    <a:lstStyle/>
                    <a:p>
                      <a:r>
                        <a:rPr sz="1000">
                          <a:solidFill>
                            <a:srgbClr val="404040"/>
                          </a:solidFill>
                          <a:latin typeface="Calibri"/>
                        </a:rPr>
                        <a:t>2,996 normalized</a:t>
                      </a:r>
                    </a:p>
                  </a:txBody>
                  <a:tcPr>
                    <a:solidFill>
                      <a:srgbClr val="F2F2F2"/>
                    </a:solidFill>
                  </a:tcPr>
                </a:tc>
              </a:tr>
            </a:tbl>
          </a:graphicData>
        </a:graphic>
      </p:graphicFrame>
      <p:sp>
        <p:nvSpPr>
          <p:cNvPr id="10" name="TextBox 9"/>
          <p:cNvSpPr txBox="1"/>
          <p:nvPr/>
        </p:nvSpPr>
        <p:spPr>
          <a:xfrm>
            <a:off x="274320" y="4846320"/>
            <a:ext cx="5394960" cy="329184"/>
          </a:xfrm>
          <a:prstGeom prst="rect">
            <a:avLst/>
          </a:prstGeom>
          <a:noFill/>
        </p:spPr>
        <p:txBody>
          <a:bodyPr wrap="square">
            <a:spAutoFit/>
          </a:bodyPr>
          <a:lstStyle/>
          <a:p>
            <a:pPr algn="l"/>
            <a:r>
              <a:rPr sz="1300" b="1" i="0">
                <a:solidFill>
                  <a:srgbClr val="1F3864"/>
                </a:solidFill>
                <a:latin typeface="Calibri"/>
              </a:rPr>
              <a:t>Stability Score Distribution</a:t>
            </a:r>
          </a:p>
        </p:txBody>
      </p:sp>
      <p:graphicFrame>
        <p:nvGraphicFramePr>
          <p:cNvPr id="11" name="Table 10"/>
          <p:cNvGraphicFramePr>
            <a:graphicFrameLocks noGrp="1"/>
          </p:cNvGraphicFramePr>
          <p:nvPr/>
        </p:nvGraphicFramePr>
        <p:xfrm>
          <a:off x="274320" y="5212080"/>
          <a:ext cx="5486400" cy="1417320"/>
        </p:xfrm>
        <a:graphic>
          <a:graphicData uri="http://schemas.openxmlformats.org/drawingml/2006/table">
            <a:tbl>
              <a:tblPr firstRow="1" bandRow="1">
                <a:tableStyleId>{5C22544A-7EE6-4342-B048-85BDC9FD1C3A}</a:tableStyleId>
              </a:tblPr>
              <a:tblGrid>
                <a:gridCol w="777240"/>
                <a:gridCol w="1371600"/>
                <a:gridCol w="3337560"/>
              </a:tblGrid>
              <a:tr h="354330">
                <a:tc>
                  <a:txBody>
                    <a:bodyPr/>
                    <a:lstStyle/>
                    <a:p>
                      <a:pPr algn="ctr"/>
                      <a:r>
                        <a:rPr b="1" sz="1000">
                          <a:solidFill>
                            <a:srgbClr val="FFFFFF"/>
                          </a:solidFill>
                          <a:latin typeface="Calibri"/>
                        </a:rPr>
                        <a:t>Score</a:t>
                      </a:r>
                    </a:p>
                  </a:txBody>
                  <a:tcPr>
                    <a:solidFill>
                      <a:srgbClr val="1F3864"/>
                    </a:solidFill>
                  </a:tcPr>
                </a:tc>
                <a:tc>
                  <a:txBody>
                    <a:bodyPr/>
                    <a:lstStyle/>
                    <a:p>
                      <a:pPr algn="ctr"/>
                      <a:r>
                        <a:rPr b="1" sz="1000">
                          <a:solidFill>
                            <a:srgbClr val="FFFFFF"/>
                          </a:solidFill>
                          <a:latin typeface="Calibri"/>
                        </a:rPr>
                        <a:t>Articles</a:t>
                      </a:r>
                    </a:p>
                  </a:txBody>
                  <a:tcPr>
                    <a:solidFill>
                      <a:srgbClr val="1F3864"/>
                    </a:solidFill>
                  </a:tcPr>
                </a:tc>
                <a:tc>
                  <a:txBody>
                    <a:bodyPr/>
                    <a:lstStyle/>
                    <a:p>
                      <a:pPr algn="ctr"/>
                      <a:r>
                        <a:rPr b="1" sz="1000">
                          <a:solidFill>
                            <a:srgbClr val="FFFFFF"/>
                          </a:solidFill>
                          <a:latin typeface="Calibri"/>
                        </a:rPr>
                        <a:t>Interpretation</a:t>
                      </a:r>
                    </a:p>
                  </a:txBody>
                  <a:tcPr>
                    <a:solidFill>
                      <a:srgbClr val="1F3864"/>
                    </a:solidFill>
                  </a:tcPr>
                </a:tc>
              </a:tr>
              <a:tr h="354330">
                <a:tc>
                  <a:txBody>
                    <a:bodyPr/>
                    <a:lstStyle/>
                    <a:p>
                      <a:r>
                        <a:rPr sz="1000">
                          <a:solidFill>
                            <a:srgbClr val="404040"/>
                          </a:solidFill>
                          <a:latin typeface="Calibri"/>
                        </a:rPr>
                        <a:t>1.0</a:t>
                      </a:r>
                    </a:p>
                  </a:txBody>
                  <a:tcPr>
                    <a:solidFill>
                      <a:srgbClr val="FFFFFF"/>
                    </a:solidFill>
                  </a:tcPr>
                </a:tc>
                <a:tc>
                  <a:txBody>
                    <a:bodyPr/>
                    <a:lstStyle/>
                    <a:p>
                      <a:r>
                        <a:rPr sz="1000">
                          <a:solidFill>
                            <a:srgbClr val="404040"/>
                          </a:solidFill>
                          <a:latin typeface="Calibri"/>
                        </a:rPr>
                        <a:t>123  (54.4%)</a:t>
                      </a:r>
                    </a:p>
                  </a:txBody>
                  <a:tcPr>
                    <a:solidFill>
                      <a:srgbClr val="FFFFFF"/>
                    </a:solidFill>
                  </a:tcPr>
                </a:tc>
                <a:tc>
                  <a:txBody>
                    <a:bodyPr/>
                    <a:lstStyle/>
                    <a:p>
                      <a:r>
                        <a:rPr sz="1000">
                          <a:solidFill>
                            <a:srgbClr val="404040"/>
                          </a:solidFill>
                          <a:latin typeface="Calibri"/>
                        </a:rPr>
                        <a:t>Both passes found 0 triples — genuinely irrelevant abstracts</a:t>
                      </a:r>
                    </a:p>
                  </a:txBody>
                  <a:tcPr>
                    <a:solidFill>
                      <a:srgbClr val="FFFFFF"/>
                    </a:solidFill>
                  </a:tcPr>
                </a:tc>
              </a:tr>
              <a:tr h="354330">
                <a:tc>
                  <a:txBody>
                    <a:bodyPr/>
                    <a:lstStyle/>
                    <a:p>
                      <a:r>
                        <a:rPr sz="1000">
                          <a:solidFill>
                            <a:srgbClr val="404040"/>
                          </a:solidFill>
                          <a:latin typeface="Calibri"/>
                        </a:rPr>
                        <a:t>0.0</a:t>
                      </a:r>
                    </a:p>
                  </a:txBody>
                  <a:tcPr>
                    <a:solidFill>
                      <a:srgbClr val="F2F2F2"/>
                    </a:solidFill>
                  </a:tcPr>
                </a:tc>
                <a:tc>
                  <a:txBody>
                    <a:bodyPr/>
                    <a:lstStyle/>
                    <a:p>
                      <a:r>
                        <a:rPr sz="1000">
                          <a:solidFill>
                            <a:srgbClr val="404040"/>
                          </a:solidFill>
                          <a:latin typeface="Calibri"/>
                        </a:rPr>
                        <a:t>95   (42.0%)</a:t>
                      </a:r>
                    </a:p>
                  </a:txBody>
                  <a:tcPr>
                    <a:solidFill>
                      <a:srgbClr val="F2F2F2"/>
                    </a:solidFill>
                  </a:tcPr>
                </a:tc>
                <a:tc>
                  <a:txBody>
                    <a:bodyPr/>
                    <a:lstStyle/>
                    <a:p>
                      <a:r>
                        <a:rPr sz="1000">
                          <a:solidFill>
                            <a:srgbClr val="404040"/>
                          </a:solidFill>
                          <a:latin typeface="Calibri"/>
                        </a:rPr>
                        <a:t>Non-overlapping — complementary coverage, all triples retained via union</a:t>
                      </a:r>
                    </a:p>
                  </a:txBody>
                  <a:tcPr>
                    <a:solidFill>
                      <a:srgbClr val="F2F2F2"/>
                    </a:solidFill>
                  </a:tcPr>
                </a:tc>
              </a:tr>
              <a:tr h="354330">
                <a:tc>
                  <a:txBody>
                    <a:bodyPr/>
                    <a:lstStyle/>
                    <a:p>
                      <a:r>
                        <a:rPr sz="1000">
                          <a:solidFill>
                            <a:srgbClr val="404040"/>
                          </a:solidFill>
                          <a:latin typeface="Calibri"/>
                        </a:rPr>
                        <a:t>0 &lt; s &lt; 1</a:t>
                      </a:r>
                    </a:p>
                  </a:txBody>
                  <a:tcPr>
                    <a:solidFill>
                      <a:srgbClr val="FFFFFF"/>
                    </a:solidFill>
                  </a:tcPr>
                </a:tc>
                <a:tc>
                  <a:txBody>
                    <a:bodyPr/>
                    <a:lstStyle/>
                    <a:p>
                      <a:r>
                        <a:rPr sz="1000">
                          <a:solidFill>
                            <a:srgbClr val="404040"/>
                          </a:solidFill>
                          <a:latin typeface="Calibri"/>
                        </a:rPr>
                        <a:t>8   (3.5%)</a:t>
                      </a:r>
                    </a:p>
                  </a:txBody>
                  <a:tcPr>
                    <a:solidFill>
                      <a:srgbClr val="FFFFFF"/>
                    </a:solidFill>
                  </a:tcPr>
                </a:tc>
                <a:tc>
                  <a:txBody>
                    <a:bodyPr/>
                    <a:lstStyle/>
                    <a:p>
                      <a:r>
                        <a:rPr sz="1000">
                          <a:solidFill>
                            <a:srgbClr val="404040"/>
                          </a:solidFill>
                          <a:latin typeface="Calibri"/>
                        </a:rPr>
                        <a:t>Partial overlap — some identical triples between extraction + validation</a:t>
                      </a:r>
                    </a:p>
                  </a:txBody>
                  <a:tcPr>
                    <a:solidFill>
                      <a:srgbClr val="FFFFFF"/>
                    </a:solidFill>
                  </a:tcPr>
                </a:tc>
              </a:tr>
            </a:tbl>
          </a:graphicData>
        </a:graphic>
      </p:graphicFrame>
      <p:sp>
        <p:nvSpPr>
          <p:cNvPr id="12" name="TextBox 11"/>
          <p:cNvSpPr txBox="1"/>
          <p:nvPr/>
        </p:nvSpPr>
        <p:spPr>
          <a:xfrm>
            <a:off x="6035040" y="4846320"/>
            <a:ext cx="5852160" cy="914400"/>
          </a:xfrm>
          <a:prstGeom prst="rect">
            <a:avLst/>
          </a:prstGeom>
          <a:noFill/>
        </p:spPr>
        <p:txBody>
          <a:bodyPr wrap="square">
            <a:spAutoFit/>
          </a:bodyPr>
          <a:lstStyle/>
          <a:p>
            <a:pPr algn="l"/>
            <a:r>
              <a:rPr sz="1000" b="0" i="1">
                <a:solidFill>
                  <a:srgbClr val="404040"/>
                </a:solidFill>
                <a:latin typeface="Calibri"/>
              </a:rPr>
              <a:t>Score 0.0 ≠ failure: extraction and validation take different analytical paths through same abstract — both sets retained.
Only score 1.0 (empty-set) articles are genuinely non-productive.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Knowledge Graph — Relation Type Distribution (4,722 triples)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11640311" cy="5212080"/>
        </p:xfrm>
        <a:graphic>
          <a:graphicData uri="http://schemas.openxmlformats.org/drawingml/2006/table">
            <a:tbl>
              <a:tblPr firstRow="1" bandRow="1">
                <a:tableStyleId>{5C22544A-7EE6-4342-B048-85BDC9FD1C3A}</a:tableStyleId>
              </a:tblPr>
              <a:tblGrid>
                <a:gridCol w="1645920"/>
                <a:gridCol w="1234440"/>
                <a:gridCol w="1188720"/>
                <a:gridCol w="7571231"/>
              </a:tblGrid>
              <a:tr h="372291">
                <a:tc>
                  <a:txBody>
                    <a:bodyPr/>
                    <a:lstStyle/>
                    <a:p>
                      <a:pPr algn="ctr"/>
                      <a:r>
                        <a:rPr b="1" sz="1000">
                          <a:solidFill>
                            <a:srgbClr val="FFFFFF"/>
                          </a:solidFill>
                          <a:latin typeface="Calibri"/>
                        </a:rPr>
                        <a:t>Relation Type</a:t>
                      </a:r>
                    </a:p>
                  </a:txBody>
                  <a:tcPr>
                    <a:solidFill>
                      <a:srgbClr val="1F3864"/>
                    </a:solidFill>
                  </a:tcPr>
                </a:tc>
                <a:tc>
                  <a:txBody>
                    <a:bodyPr/>
                    <a:lstStyle/>
                    <a:p>
                      <a:pPr algn="ctr"/>
                      <a:r>
                        <a:rPr b="1" sz="1000">
                          <a:solidFill>
                            <a:srgbClr val="FFFFFF"/>
                          </a:solidFill>
                          <a:latin typeface="Calibri"/>
                        </a:rPr>
                        <a:t>Triple Count</a:t>
                      </a:r>
                    </a:p>
                  </a:txBody>
                  <a:tcPr>
                    <a:solidFill>
                      <a:srgbClr val="1F3864"/>
                    </a:solidFill>
                  </a:tcPr>
                </a:tc>
                <a:tc>
                  <a:txBody>
                    <a:bodyPr/>
                    <a:lstStyle/>
                    <a:p>
                      <a:pPr algn="ctr"/>
                      <a:r>
                        <a:rPr b="1" sz="1000">
                          <a:solidFill>
                            <a:srgbClr val="FFFFFF"/>
                          </a:solidFill>
                          <a:latin typeface="Calibri"/>
                        </a:rPr>
                        <a:t>% of Total</a:t>
                      </a:r>
                    </a:p>
                  </a:txBody>
                  <a:tcPr>
                    <a:solidFill>
                      <a:srgbClr val="1F3864"/>
                    </a:solidFill>
                  </a:tcPr>
                </a:tc>
                <a:tc>
                  <a:txBody>
                    <a:bodyPr/>
                    <a:lstStyle/>
                    <a:p>
                      <a:pPr algn="ctr"/>
                      <a:r>
                        <a:rPr b="1" sz="1000">
                          <a:solidFill>
                            <a:srgbClr val="FFFFFF"/>
                          </a:solidFill>
                          <a:latin typeface="Calibri"/>
                        </a:rPr>
                        <a:t>Domain Interpretation</a:t>
                      </a:r>
                    </a:p>
                  </a:txBody>
                  <a:tcPr>
                    <a:solidFill>
                      <a:srgbClr val="1F3864"/>
                    </a:solidFill>
                  </a:tcPr>
                </a:tc>
              </a:tr>
              <a:tr h="372291">
                <a:tc>
                  <a:txBody>
                    <a:bodyPr/>
                    <a:lstStyle/>
                    <a:p>
                      <a:r>
                        <a:rPr sz="900">
                          <a:solidFill>
                            <a:srgbClr val="404040"/>
                          </a:solidFill>
                          <a:latin typeface="Calibri"/>
                        </a:rPr>
                        <a:t>has_metric</a:t>
                      </a:r>
                    </a:p>
                  </a:txBody>
                  <a:tcPr>
                    <a:solidFill>
                      <a:srgbClr val="FFFFFF"/>
                    </a:solidFill>
                  </a:tcPr>
                </a:tc>
                <a:tc>
                  <a:txBody>
                    <a:bodyPr/>
                    <a:lstStyle/>
                    <a:p>
                      <a:r>
                        <a:rPr sz="900">
                          <a:solidFill>
                            <a:srgbClr val="404040"/>
                          </a:solidFill>
                          <a:latin typeface="Calibri"/>
                        </a:rPr>
                        <a:t>598</a:t>
                      </a:r>
                    </a:p>
                  </a:txBody>
                  <a:tcPr>
                    <a:solidFill>
                      <a:srgbClr val="FFFFFF"/>
                    </a:solidFill>
                  </a:tcPr>
                </a:tc>
                <a:tc>
                  <a:txBody>
                    <a:bodyPr/>
                    <a:lstStyle/>
                    <a:p>
                      <a:r>
                        <a:rPr sz="900">
                          <a:solidFill>
                            <a:srgbClr val="404040"/>
                          </a:solidFill>
                          <a:latin typeface="Calibri"/>
                        </a:rPr>
                        <a:t>12.7%</a:t>
                      </a:r>
                    </a:p>
                  </a:txBody>
                  <a:tcPr>
                    <a:solidFill>
                      <a:srgbClr val="FFFFFF"/>
                    </a:solidFill>
                  </a:tcPr>
                </a:tc>
                <a:tc>
                  <a:txBody>
                    <a:bodyPr/>
                    <a:lstStyle/>
                    <a:p>
                      <a:r>
                        <a:rPr sz="900">
                          <a:solidFill>
                            <a:srgbClr val="404040"/>
                          </a:solidFill>
                          <a:latin typeface="Calibri"/>
                        </a:rPr>
                        <a:t>Quantitative benchmarks — yields, titers, fold-changes captured throughout</a:t>
                      </a:r>
                    </a:p>
                  </a:txBody>
                  <a:tcPr>
                    <a:solidFill>
                      <a:srgbClr val="FFFFFF"/>
                    </a:solidFill>
                  </a:tcPr>
                </a:tc>
              </a:tr>
              <a:tr h="372291">
                <a:tc>
                  <a:txBody>
                    <a:bodyPr/>
                    <a:lstStyle/>
                    <a:p>
                      <a:r>
                        <a:rPr sz="900">
                          <a:solidFill>
                            <a:srgbClr val="404040"/>
                          </a:solidFill>
                          <a:latin typeface="Calibri"/>
                        </a:rPr>
                        <a:t>is_a</a:t>
                      </a:r>
                    </a:p>
                  </a:txBody>
                  <a:tcPr>
                    <a:solidFill>
                      <a:srgbClr val="F2F2F2"/>
                    </a:solidFill>
                  </a:tcPr>
                </a:tc>
                <a:tc>
                  <a:txBody>
                    <a:bodyPr/>
                    <a:lstStyle/>
                    <a:p>
                      <a:r>
                        <a:rPr sz="900">
                          <a:solidFill>
                            <a:srgbClr val="404040"/>
                          </a:solidFill>
                          <a:latin typeface="Calibri"/>
                        </a:rPr>
                        <a:t>543</a:t>
                      </a:r>
                    </a:p>
                  </a:txBody>
                  <a:tcPr>
                    <a:solidFill>
                      <a:srgbClr val="F2F2F2"/>
                    </a:solidFill>
                  </a:tcPr>
                </a:tc>
                <a:tc>
                  <a:txBody>
                    <a:bodyPr/>
                    <a:lstStyle/>
                    <a:p>
                      <a:r>
                        <a:rPr sz="900">
                          <a:solidFill>
                            <a:srgbClr val="404040"/>
                          </a:solidFill>
                          <a:latin typeface="Calibri"/>
                        </a:rPr>
                        <a:t>11.5%</a:t>
                      </a:r>
                    </a:p>
                  </a:txBody>
                  <a:tcPr>
                    <a:solidFill>
                      <a:srgbClr val="F2F2F2"/>
                    </a:solidFill>
                  </a:tcPr>
                </a:tc>
                <a:tc>
                  <a:txBody>
                    <a:bodyPr/>
                    <a:lstStyle/>
                    <a:p>
                      <a:r>
                        <a:rPr sz="900">
                          <a:solidFill>
                            <a:srgbClr val="404040"/>
                          </a:solidFill>
                          <a:latin typeface="Calibri"/>
                        </a:rPr>
                        <a:t>Extensive classification — entity type hierarchy in carotenoid domain</a:t>
                      </a:r>
                    </a:p>
                  </a:txBody>
                  <a:tcPr>
                    <a:solidFill>
                      <a:srgbClr val="F2F2F2"/>
                    </a:solidFill>
                  </a:tcPr>
                </a:tc>
              </a:tr>
              <a:tr h="372291">
                <a:tc>
                  <a:txBody>
                    <a:bodyPr/>
                    <a:lstStyle/>
                    <a:p>
                      <a:r>
                        <a:rPr sz="900">
                          <a:solidFill>
                            <a:srgbClr val="404040"/>
                          </a:solidFill>
                          <a:latin typeface="Calibri"/>
                        </a:rPr>
                        <a:t>has_capability</a:t>
                      </a:r>
                    </a:p>
                  </a:txBody>
                  <a:tcPr>
                    <a:solidFill>
                      <a:srgbClr val="FFFFFF"/>
                    </a:solidFill>
                  </a:tcPr>
                </a:tc>
                <a:tc>
                  <a:txBody>
                    <a:bodyPr/>
                    <a:lstStyle/>
                    <a:p>
                      <a:r>
                        <a:rPr sz="900">
                          <a:solidFill>
                            <a:srgbClr val="404040"/>
                          </a:solidFill>
                          <a:latin typeface="Calibri"/>
                        </a:rPr>
                        <a:t>525</a:t>
                      </a:r>
                    </a:p>
                  </a:txBody>
                  <a:tcPr>
                    <a:solidFill>
                      <a:srgbClr val="FFFFFF"/>
                    </a:solidFill>
                  </a:tcPr>
                </a:tc>
                <a:tc>
                  <a:txBody>
                    <a:bodyPr/>
                    <a:lstStyle/>
                    <a:p>
                      <a:r>
                        <a:rPr sz="900">
                          <a:solidFill>
                            <a:srgbClr val="404040"/>
                          </a:solidFill>
                          <a:latin typeface="Calibri"/>
                        </a:rPr>
                        <a:t>11.1%</a:t>
                      </a:r>
                    </a:p>
                  </a:txBody>
                  <a:tcPr>
                    <a:solidFill>
                      <a:srgbClr val="FFFFFF"/>
                    </a:solidFill>
                  </a:tcPr>
                </a:tc>
                <a:tc>
                  <a:txBody>
                    <a:bodyPr/>
                    <a:lstStyle/>
                    <a:p>
                      <a:r>
                        <a:rPr sz="900">
                          <a:solidFill>
                            <a:srgbClr val="404040"/>
                          </a:solidFill>
                          <a:latin typeface="Calibri"/>
                        </a:rPr>
                        <a:t>Organism functional profiles — host selection information</a:t>
                      </a:r>
                    </a:p>
                  </a:txBody>
                  <a:tcPr>
                    <a:solidFill>
                      <a:srgbClr val="FFFFFF"/>
                    </a:solidFill>
                  </a:tcPr>
                </a:tc>
              </a:tr>
              <a:tr h="372291">
                <a:tc>
                  <a:txBody>
                    <a:bodyPr/>
                    <a:lstStyle/>
                    <a:p>
                      <a:r>
                        <a:rPr sz="900">
                          <a:solidFill>
                            <a:srgbClr val="404040"/>
                          </a:solidFill>
                          <a:latin typeface="Calibri"/>
                        </a:rPr>
                        <a:t>produces</a:t>
                      </a:r>
                    </a:p>
                  </a:txBody>
                  <a:tcPr>
                    <a:solidFill>
                      <a:srgbClr val="F2F2F2"/>
                    </a:solidFill>
                  </a:tcPr>
                </a:tc>
                <a:tc>
                  <a:txBody>
                    <a:bodyPr/>
                    <a:lstStyle/>
                    <a:p>
                      <a:r>
                        <a:rPr sz="900">
                          <a:solidFill>
                            <a:srgbClr val="404040"/>
                          </a:solidFill>
                          <a:latin typeface="Calibri"/>
                        </a:rPr>
                        <a:t>523</a:t>
                      </a:r>
                    </a:p>
                  </a:txBody>
                  <a:tcPr>
                    <a:solidFill>
                      <a:srgbClr val="F2F2F2"/>
                    </a:solidFill>
                  </a:tcPr>
                </a:tc>
                <a:tc>
                  <a:txBody>
                    <a:bodyPr/>
                    <a:lstStyle/>
                    <a:p>
                      <a:r>
                        <a:rPr sz="900">
                          <a:solidFill>
                            <a:srgbClr val="404040"/>
                          </a:solidFill>
                          <a:latin typeface="Calibri"/>
                        </a:rPr>
                        <a:t>11.1%</a:t>
                      </a:r>
                    </a:p>
                  </a:txBody>
                  <a:tcPr>
                    <a:solidFill>
                      <a:srgbClr val="F2F2F2"/>
                    </a:solidFill>
                  </a:tcPr>
                </a:tc>
                <a:tc>
                  <a:txBody>
                    <a:bodyPr/>
                    <a:lstStyle/>
                    <a:p>
                      <a:r>
                        <a:rPr sz="900">
                          <a:solidFill>
                            <a:srgbClr val="404040"/>
                          </a:solidFill>
                          <a:latin typeface="Calibri"/>
                        </a:rPr>
                        <a:t>Core production relationships — organism to target compound</a:t>
                      </a:r>
                    </a:p>
                  </a:txBody>
                  <a:tcPr>
                    <a:solidFill>
                      <a:srgbClr val="F2F2F2"/>
                    </a:solidFill>
                  </a:tcPr>
                </a:tc>
              </a:tr>
              <a:tr h="372291">
                <a:tc>
                  <a:txBody>
                    <a:bodyPr/>
                    <a:lstStyle/>
                    <a:p>
                      <a:r>
                        <a:rPr sz="900">
                          <a:solidFill>
                            <a:srgbClr val="404040"/>
                          </a:solidFill>
                          <a:latin typeface="Calibri"/>
                        </a:rPr>
                        <a:t>activates</a:t>
                      </a:r>
                    </a:p>
                  </a:txBody>
                  <a:tcPr>
                    <a:solidFill>
                      <a:srgbClr val="FFFFFF"/>
                    </a:solidFill>
                  </a:tcPr>
                </a:tc>
                <a:tc>
                  <a:txBody>
                    <a:bodyPr/>
                    <a:lstStyle/>
                    <a:p>
                      <a:r>
                        <a:rPr sz="900">
                          <a:solidFill>
                            <a:srgbClr val="404040"/>
                          </a:solidFill>
                          <a:latin typeface="Calibri"/>
                        </a:rPr>
                        <a:t>487</a:t>
                      </a:r>
                    </a:p>
                  </a:txBody>
                  <a:tcPr>
                    <a:solidFill>
                      <a:srgbClr val="FFFFFF"/>
                    </a:solidFill>
                  </a:tcPr>
                </a:tc>
                <a:tc>
                  <a:txBody>
                    <a:bodyPr/>
                    <a:lstStyle/>
                    <a:p>
                      <a:r>
                        <a:rPr sz="900">
                          <a:solidFill>
                            <a:srgbClr val="404040"/>
                          </a:solidFill>
                          <a:latin typeface="Calibri"/>
                        </a:rPr>
                        <a:t>10.3%</a:t>
                      </a:r>
                    </a:p>
                  </a:txBody>
                  <a:tcPr>
                    <a:solidFill>
                      <a:srgbClr val="FFFFFF"/>
                    </a:solidFill>
                  </a:tcPr>
                </a:tc>
                <a:tc>
                  <a:txBody>
                    <a:bodyPr/>
                    <a:lstStyle/>
                    <a:p>
                      <a:r>
                        <a:rPr sz="900">
                          <a:solidFill>
                            <a:srgbClr val="404040"/>
                          </a:solidFill>
                          <a:latin typeface="Calibri"/>
                        </a:rPr>
                        <a:t>Regulatory activation events — gene/enzyme positive control</a:t>
                      </a:r>
                    </a:p>
                  </a:txBody>
                  <a:tcPr>
                    <a:solidFill>
                      <a:srgbClr val="FFFFFF"/>
                    </a:solidFill>
                  </a:tcPr>
                </a:tc>
              </a:tr>
              <a:tr h="372291">
                <a:tc>
                  <a:txBody>
                    <a:bodyPr/>
                    <a:lstStyle/>
                    <a:p>
                      <a:r>
                        <a:rPr sz="900">
                          <a:solidFill>
                            <a:srgbClr val="404040"/>
                          </a:solidFill>
                          <a:latin typeface="Calibri"/>
                        </a:rPr>
                        <a:t>increases</a:t>
                      </a:r>
                    </a:p>
                  </a:txBody>
                  <a:tcPr>
                    <a:solidFill>
                      <a:srgbClr val="F2F2F2"/>
                    </a:solidFill>
                  </a:tcPr>
                </a:tc>
                <a:tc>
                  <a:txBody>
                    <a:bodyPr/>
                    <a:lstStyle/>
                    <a:p>
                      <a:r>
                        <a:rPr sz="900">
                          <a:solidFill>
                            <a:srgbClr val="404040"/>
                          </a:solidFill>
                          <a:latin typeface="Calibri"/>
                        </a:rPr>
                        <a:t>402</a:t>
                      </a:r>
                    </a:p>
                  </a:txBody>
                  <a:tcPr>
                    <a:solidFill>
                      <a:srgbClr val="F2F2F2"/>
                    </a:solidFill>
                  </a:tcPr>
                </a:tc>
                <a:tc>
                  <a:txBody>
                    <a:bodyPr/>
                    <a:lstStyle/>
                    <a:p>
                      <a:r>
                        <a:rPr sz="900">
                          <a:solidFill>
                            <a:srgbClr val="404040"/>
                          </a:solidFill>
                          <a:latin typeface="Calibri"/>
                        </a:rPr>
                        <a:t>8.5%</a:t>
                      </a:r>
                    </a:p>
                  </a:txBody>
                  <a:tcPr>
                    <a:solidFill>
                      <a:srgbClr val="F2F2F2"/>
                    </a:solidFill>
                  </a:tcPr>
                </a:tc>
                <a:tc>
                  <a:txBody>
                    <a:bodyPr/>
                    <a:lstStyle/>
                    <a:p>
                      <a:r>
                        <a:rPr sz="900">
                          <a:solidFill>
                            <a:srgbClr val="404040"/>
                          </a:solidFill>
                          <a:latin typeface="Calibri"/>
                        </a:rPr>
                        <a:t>Quantitative upregulation — engineering strategy outcomes</a:t>
                      </a:r>
                    </a:p>
                  </a:txBody>
                  <a:tcPr>
                    <a:solidFill>
                      <a:srgbClr val="F2F2F2"/>
                    </a:solidFill>
                  </a:tcPr>
                </a:tc>
              </a:tr>
              <a:tr h="372291">
                <a:tc>
                  <a:txBody>
                    <a:bodyPr/>
                    <a:lstStyle/>
                    <a:p>
                      <a:r>
                        <a:rPr sz="900">
                          <a:solidFill>
                            <a:srgbClr val="404040"/>
                          </a:solidFill>
                          <a:latin typeface="Calibri"/>
                        </a:rPr>
                        <a:t>encodes</a:t>
                      </a:r>
                    </a:p>
                  </a:txBody>
                  <a:tcPr>
                    <a:solidFill>
                      <a:srgbClr val="FFFFFF"/>
                    </a:solidFill>
                  </a:tcPr>
                </a:tc>
                <a:tc>
                  <a:txBody>
                    <a:bodyPr/>
                    <a:lstStyle/>
                    <a:p>
                      <a:r>
                        <a:rPr sz="900">
                          <a:solidFill>
                            <a:srgbClr val="404040"/>
                          </a:solidFill>
                          <a:latin typeface="Calibri"/>
                        </a:rPr>
                        <a:t>378</a:t>
                      </a:r>
                    </a:p>
                  </a:txBody>
                  <a:tcPr>
                    <a:solidFill>
                      <a:srgbClr val="FFFFFF"/>
                    </a:solidFill>
                  </a:tcPr>
                </a:tc>
                <a:tc>
                  <a:txBody>
                    <a:bodyPr/>
                    <a:lstStyle/>
                    <a:p>
                      <a:r>
                        <a:rPr sz="900">
                          <a:solidFill>
                            <a:srgbClr val="404040"/>
                          </a:solidFill>
                          <a:latin typeface="Calibri"/>
                        </a:rPr>
                        <a:t>8.0%</a:t>
                      </a:r>
                    </a:p>
                  </a:txBody>
                  <a:tcPr>
                    <a:solidFill>
                      <a:srgbClr val="FFFFFF"/>
                    </a:solidFill>
                  </a:tcPr>
                </a:tc>
                <a:tc>
                  <a:txBody>
                    <a:bodyPr/>
                    <a:lstStyle/>
                    <a:p>
                      <a:r>
                        <a:rPr sz="900">
                          <a:solidFill>
                            <a:srgbClr val="404040"/>
                          </a:solidFill>
                          <a:latin typeface="Calibri"/>
                        </a:rPr>
                        <a:t>Gene-protein relationships — biosynthetic pathway assembly</a:t>
                      </a:r>
                    </a:p>
                  </a:txBody>
                  <a:tcPr>
                    <a:solidFill>
                      <a:srgbClr val="FFFFFF"/>
                    </a:solidFill>
                  </a:tcPr>
                </a:tc>
              </a:tr>
              <a:tr h="372291">
                <a:tc>
                  <a:txBody>
                    <a:bodyPr/>
                    <a:lstStyle/>
                    <a:p>
                      <a:r>
                        <a:rPr sz="900">
                          <a:solidFill>
                            <a:srgbClr val="404040"/>
                          </a:solidFill>
                          <a:latin typeface="Calibri"/>
                        </a:rPr>
                        <a:t>inhibits</a:t>
                      </a:r>
                    </a:p>
                  </a:txBody>
                  <a:tcPr>
                    <a:solidFill>
                      <a:srgbClr val="F2F2F2"/>
                    </a:solidFill>
                  </a:tcPr>
                </a:tc>
                <a:tc>
                  <a:txBody>
                    <a:bodyPr/>
                    <a:lstStyle/>
                    <a:p>
                      <a:r>
                        <a:rPr sz="900">
                          <a:solidFill>
                            <a:srgbClr val="404040"/>
                          </a:solidFill>
                          <a:latin typeface="Calibri"/>
                        </a:rPr>
                        <a:t>294</a:t>
                      </a:r>
                    </a:p>
                  </a:txBody>
                  <a:tcPr>
                    <a:solidFill>
                      <a:srgbClr val="F2F2F2"/>
                    </a:solidFill>
                  </a:tcPr>
                </a:tc>
                <a:tc>
                  <a:txBody>
                    <a:bodyPr/>
                    <a:lstStyle/>
                    <a:p>
                      <a:r>
                        <a:rPr sz="900">
                          <a:solidFill>
                            <a:srgbClr val="404040"/>
                          </a:solidFill>
                          <a:latin typeface="Calibri"/>
                        </a:rPr>
                        <a:t>6.2%</a:t>
                      </a:r>
                    </a:p>
                  </a:txBody>
                  <a:tcPr>
                    <a:solidFill>
                      <a:srgbClr val="F2F2F2"/>
                    </a:solidFill>
                  </a:tcPr>
                </a:tc>
                <a:tc>
                  <a:txBody>
                    <a:bodyPr/>
                    <a:lstStyle/>
                    <a:p>
                      <a:r>
                        <a:rPr sz="900">
                          <a:solidFill>
                            <a:srgbClr val="404040"/>
                          </a:solidFill>
                          <a:latin typeface="Calibri"/>
                        </a:rPr>
                        <a:t>Negative regulatory events — competing pathway knockouts</a:t>
                      </a:r>
                    </a:p>
                  </a:txBody>
                  <a:tcPr>
                    <a:solidFill>
                      <a:srgbClr val="F2F2F2"/>
                    </a:solidFill>
                  </a:tcPr>
                </a:tc>
              </a:tr>
              <a:tr h="372291">
                <a:tc>
                  <a:txBody>
                    <a:bodyPr/>
                    <a:lstStyle/>
                    <a:p>
                      <a:r>
                        <a:rPr sz="900">
                          <a:solidFill>
                            <a:srgbClr val="404040"/>
                          </a:solidFill>
                          <a:latin typeface="Calibri"/>
                        </a:rPr>
                        <a:t>is_produced_by</a:t>
                      </a:r>
                    </a:p>
                  </a:txBody>
                  <a:tcPr>
                    <a:solidFill>
                      <a:srgbClr val="FFFFFF"/>
                    </a:solidFill>
                  </a:tcPr>
                </a:tc>
                <a:tc>
                  <a:txBody>
                    <a:bodyPr/>
                    <a:lstStyle/>
                    <a:p>
                      <a:r>
                        <a:rPr sz="900">
                          <a:solidFill>
                            <a:srgbClr val="404040"/>
                          </a:solidFill>
                          <a:latin typeface="Calibri"/>
                        </a:rPr>
                        <a:t>284</a:t>
                      </a:r>
                    </a:p>
                  </a:txBody>
                  <a:tcPr>
                    <a:solidFill>
                      <a:srgbClr val="FFFFFF"/>
                    </a:solidFill>
                  </a:tcPr>
                </a:tc>
                <a:tc>
                  <a:txBody>
                    <a:bodyPr/>
                    <a:lstStyle/>
                    <a:p>
                      <a:r>
                        <a:rPr sz="900">
                          <a:solidFill>
                            <a:srgbClr val="404040"/>
                          </a:solidFill>
                          <a:latin typeface="Calibri"/>
                        </a:rPr>
                        <a:t>6.0%</a:t>
                      </a:r>
                    </a:p>
                  </a:txBody>
                  <a:tcPr>
                    <a:solidFill>
                      <a:srgbClr val="FFFFFF"/>
                    </a:solidFill>
                  </a:tcPr>
                </a:tc>
                <a:tc>
                  <a:txBody>
                    <a:bodyPr/>
                    <a:lstStyle/>
                    <a:p>
                      <a:r>
                        <a:rPr sz="900">
                          <a:solidFill>
                            <a:srgbClr val="404040"/>
                          </a:solidFill>
                          <a:latin typeface="Calibri"/>
                        </a:rPr>
                        <a:t>Reverse production — compound-to-organism direction</a:t>
                      </a:r>
                    </a:p>
                  </a:txBody>
                  <a:tcPr>
                    <a:solidFill>
                      <a:srgbClr val="FFFFFF"/>
                    </a:solidFill>
                  </a:tcPr>
                </a:tc>
              </a:tr>
              <a:tr h="372291">
                <a:tc>
                  <a:txBody>
                    <a:bodyPr/>
                    <a:lstStyle/>
                    <a:p>
                      <a:r>
                        <a:rPr sz="900">
                          <a:solidFill>
                            <a:srgbClr val="404040"/>
                          </a:solidFill>
                          <a:latin typeface="Calibri"/>
                        </a:rPr>
                        <a:t>is_host_for</a:t>
                      </a:r>
                    </a:p>
                  </a:txBody>
                  <a:tcPr>
                    <a:solidFill>
                      <a:srgbClr val="F2F2F2"/>
                    </a:solidFill>
                  </a:tcPr>
                </a:tc>
                <a:tc>
                  <a:txBody>
                    <a:bodyPr/>
                    <a:lstStyle/>
                    <a:p>
                      <a:r>
                        <a:rPr sz="900">
                          <a:solidFill>
                            <a:srgbClr val="404040"/>
                          </a:solidFill>
                          <a:latin typeface="Calibri"/>
                        </a:rPr>
                        <a:t>211</a:t>
                      </a:r>
                    </a:p>
                  </a:txBody>
                  <a:tcPr>
                    <a:solidFill>
                      <a:srgbClr val="F2F2F2"/>
                    </a:solidFill>
                  </a:tcPr>
                </a:tc>
                <a:tc>
                  <a:txBody>
                    <a:bodyPr/>
                    <a:lstStyle/>
                    <a:p>
                      <a:r>
                        <a:rPr sz="900">
                          <a:solidFill>
                            <a:srgbClr val="404040"/>
                          </a:solidFill>
                          <a:latin typeface="Calibri"/>
                        </a:rPr>
                        <a:t>4.5%</a:t>
                      </a:r>
                    </a:p>
                  </a:txBody>
                  <a:tcPr>
                    <a:solidFill>
                      <a:srgbClr val="F2F2F2"/>
                    </a:solidFill>
                  </a:tcPr>
                </a:tc>
                <a:tc>
                  <a:txBody>
                    <a:bodyPr/>
                    <a:lstStyle/>
                    <a:p>
                      <a:r>
                        <a:rPr sz="900">
                          <a:solidFill>
                            <a:srgbClr val="404040"/>
                          </a:solidFill>
                          <a:latin typeface="Calibri"/>
                        </a:rPr>
                        <a:t>Host-pathway associations — organism compatibility data</a:t>
                      </a:r>
                    </a:p>
                  </a:txBody>
                  <a:tcPr>
                    <a:solidFill>
                      <a:srgbClr val="F2F2F2"/>
                    </a:solidFill>
                  </a:tcPr>
                </a:tc>
              </a:tr>
              <a:tr h="372291">
                <a:tc>
                  <a:txBody>
                    <a:bodyPr/>
                    <a:lstStyle/>
                    <a:p>
                      <a:r>
                        <a:rPr sz="900">
                          <a:solidFill>
                            <a:srgbClr val="404040"/>
                          </a:solidFill>
                          <a:latin typeface="Calibri"/>
                        </a:rPr>
                        <a:t>integrated_in</a:t>
                      </a:r>
                    </a:p>
                  </a:txBody>
                  <a:tcPr>
                    <a:solidFill>
                      <a:srgbClr val="FFFFFF"/>
                    </a:solidFill>
                  </a:tcPr>
                </a:tc>
                <a:tc>
                  <a:txBody>
                    <a:bodyPr/>
                    <a:lstStyle/>
                    <a:p>
                      <a:r>
                        <a:rPr sz="900">
                          <a:solidFill>
                            <a:srgbClr val="404040"/>
                          </a:solidFill>
                          <a:latin typeface="Calibri"/>
                        </a:rPr>
                        <a:t>178</a:t>
                      </a:r>
                    </a:p>
                  </a:txBody>
                  <a:tcPr>
                    <a:solidFill>
                      <a:srgbClr val="FFFFFF"/>
                    </a:solidFill>
                  </a:tcPr>
                </a:tc>
                <a:tc>
                  <a:txBody>
                    <a:bodyPr/>
                    <a:lstStyle/>
                    <a:p>
                      <a:r>
                        <a:rPr sz="900">
                          <a:solidFill>
                            <a:srgbClr val="404040"/>
                          </a:solidFill>
                          <a:latin typeface="Calibri"/>
                        </a:rPr>
                        <a:t>3.8%</a:t>
                      </a:r>
                    </a:p>
                  </a:txBody>
                  <a:tcPr>
                    <a:solidFill>
                      <a:srgbClr val="FFFFFF"/>
                    </a:solidFill>
                  </a:tcPr>
                </a:tc>
                <a:tc>
                  <a:txBody>
                    <a:bodyPr/>
                    <a:lstStyle/>
                    <a:p>
                      <a:r>
                        <a:rPr sz="900">
                          <a:solidFill>
                            <a:srgbClr val="404040"/>
                          </a:solidFill>
                          <a:latin typeface="Calibri"/>
                        </a:rPr>
                        <a:t>Genomic context — chromosomal/plasmid integration sites</a:t>
                      </a:r>
                    </a:p>
                  </a:txBody>
                  <a:tcPr>
                    <a:solidFill>
                      <a:srgbClr val="FFFFFF"/>
                    </a:solidFill>
                  </a:tcPr>
                </a:tc>
              </a:tr>
              <a:tr h="372291">
                <a:tc>
                  <a:txBody>
                    <a:bodyPr/>
                    <a:lstStyle/>
                    <a:p>
                      <a:r>
                        <a:rPr sz="900">
                          <a:solidFill>
                            <a:srgbClr val="404040"/>
                          </a:solidFill>
                          <a:latin typeface="Calibri"/>
                        </a:rPr>
                        <a:t>decreases</a:t>
                      </a:r>
                    </a:p>
                  </a:txBody>
                  <a:tcPr>
                    <a:solidFill>
                      <a:srgbClr val="F2F2F2"/>
                    </a:solidFill>
                  </a:tcPr>
                </a:tc>
                <a:tc>
                  <a:txBody>
                    <a:bodyPr/>
                    <a:lstStyle/>
                    <a:p>
                      <a:r>
                        <a:rPr sz="900">
                          <a:solidFill>
                            <a:srgbClr val="404040"/>
                          </a:solidFill>
                          <a:latin typeface="Calibri"/>
                        </a:rPr>
                        <a:t>156</a:t>
                      </a:r>
                    </a:p>
                  </a:txBody>
                  <a:tcPr>
                    <a:solidFill>
                      <a:srgbClr val="F2F2F2"/>
                    </a:solidFill>
                  </a:tcPr>
                </a:tc>
                <a:tc>
                  <a:txBody>
                    <a:bodyPr/>
                    <a:lstStyle/>
                    <a:p>
                      <a:r>
                        <a:rPr sz="900">
                          <a:solidFill>
                            <a:srgbClr val="404040"/>
                          </a:solidFill>
                          <a:latin typeface="Calibri"/>
                        </a:rPr>
                        <a:t>3.3%</a:t>
                      </a:r>
                    </a:p>
                  </a:txBody>
                  <a:tcPr>
                    <a:solidFill>
                      <a:srgbClr val="F2F2F2"/>
                    </a:solidFill>
                  </a:tcPr>
                </a:tc>
                <a:tc>
                  <a:txBody>
                    <a:bodyPr/>
                    <a:lstStyle/>
                    <a:p>
                      <a:r>
                        <a:rPr sz="900">
                          <a:solidFill>
                            <a:srgbClr val="404040"/>
                          </a:solidFill>
                          <a:latin typeface="Calibri"/>
                        </a:rPr>
                        <a:t>Quantitative downregulation — byproduct flux reduction</a:t>
                      </a:r>
                    </a:p>
                  </a:txBody>
                  <a:tcPr>
                    <a:solidFill>
                      <a:srgbClr val="F2F2F2"/>
                    </a:solidFill>
                  </a:tcPr>
                </a:tc>
              </a:tr>
              <a:tr h="372297">
                <a:tc>
                  <a:txBody>
                    <a:bodyPr/>
                    <a:lstStyle/>
                    <a:p>
                      <a:r>
                        <a:rPr sz="900">
                          <a:solidFill>
                            <a:srgbClr val="404040"/>
                          </a:solidFill>
                          <a:latin typeface="Calibri"/>
                        </a:rPr>
                        <a:t>is_variant_of</a:t>
                      </a:r>
                    </a:p>
                  </a:txBody>
                  <a:tcPr>
                    <a:solidFill>
                      <a:srgbClr val="FFFFFF"/>
                    </a:solidFill>
                  </a:tcPr>
                </a:tc>
                <a:tc>
                  <a:txBody>
                    <a:bodyPr/>
                    <a:lstStyle/>
                    <a:p>
                      <a:r>
                        <a:rPr sz="900">
                          <a:solidFill>
                            <a:srgbClr val="404040"/>
                          </a:solidFill>
                          <a:latin typeface="Calibri"/>
                        </a:rPr>
                        <a:t>143</a:t>
                      </a:r>
                    </a:p>
                  </a:txBody>
                  <a:tcPr>
                    <a:solidFill>
                      <a:srgbClr val="FFFFFF"/>
                    </a:solidFill>
                  </a:tcPr>
                </a:tc>
                <a:tc>
                  <a:txBody>
                    <a:bodyPr/>
                    <a:lstStyle/>
                    <a:p>
                      <a:r>
                        <a:rPr sz="900">
                          <a:solidFill>
                            <a:srgbClr val="404040"/>
                          </a:solidFill>
                          <a:latin typeface="Calibri"/>
                        </a:rPr>
                        <a:t>3.0%</a:t>
                      </a:r>
                    </a:p>
                  </a:txBody>
                  <a:tcPr>
                    <a:solidFill>
                      <a:srgbClr val="FFFFFF"/>
                    </a:solidFill>
                  </a:tcPr>
                </a:tc>
                <a:tc>
                  <a:txBody>
                    <a:bodyPr/>
                    <a:lstStyle/>
                    <a:p>
                      <a:r>
                        <a:rPr sz="900">
                          <a:solidFill>
                            <a:srgbClr val="404040"/>
                          </a:solidFill>
                          <a:latin typeface="Calibri"/>
                        </a:rPr>
                        <a:t>Strain relationships — variant/mutant organism tracking</a:t>
                      </a:r>
                    </a:p>
                  </a:txBody>
                  <a:tcPr>
                    <a:solidFill>
                      <a:srgbClr val="FFFFFF"/>
                    </a:solidFill>
                  </a:tcPr>
                </a:tc>
              </a:tr>
            </a:tbl>
          </a:graphicData>
        </a:graphic>
      </p:graphicFrame>
      <p:sp>
        <p:nvSpPr>
          <p:cNvPr id="7" name="TextBox 6"/>
          <p:cNvSpPr txBox="1"/>
          <p:nvPr/>
        </p:nvSpPr>
        <p:spPr>
          <a:xfrm>
            <a:off x="274320" y="6583680"/>
            <a:ext cx="11640312" cy="201168"/>
          </a:xfrm>
          <a:prstGeom prst="rect">
            <a:avLst/>
          </a:prstGeom>
          <a:noFill/>
        </p:spPr>
        <p:txBody>
          <a:bodyPr wrap="square">
            <a:spAutoFit/>
          </a:bodyPr>
          <a:lstStyle/>
          <a:p>
            <a:pPr algn="l"/>
            <a:r>
              <a:rPr sz="900" b="0" i="1">
                <a:solidFill>
                  <a:srgbClr val="404040"/>
                </a:solidFill>
                <a:latin typeface="Calibri"/>
              </a:rPr>
              <a:t>has_metric (12.7%) confirms explicit metric-separation rule is working. Top-4 relations reflect dominant carotenoid research themes: benchmarking, classification, host profiling, production.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Multi-Pass Ablation Study — Quantitative Recall Analysis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11640312" cy="329184"/>
          </a:xfrm>
          <a:prstGeom prst="rect">
            <a:avLst/>
          </a:prstGeom>
          <a:noFill/>
        </p:spPr>
        <p:txBody>
          <a:bodyPr wrap="square">
            <a:spAutoFit/>
          </a:bodyPr>
          <a:lstStyle/>
          <a:p>
            <a:pPr algn="l"/>
            <a:r>
              <a:rPr sz="1200" b="0" i="1">
                <a:solidFill>
                  <a:srgbClr val="404040"/>
                </a:solidFill>
                <a:latin typeface="Calibri"/>
              </a:rPr>
              <a:t>Setup: 15 productive articles, llama-3.3-70b-versatile (Groq), identical conditions</a:t>
            </a:r>
          </a:p>
        </p:txBody>
      </p:sp>
      <p:sp>
        <p:nvSpPr>
          <p:cNvPr id="7" name="TextBox 6"/>
          <p:cNvSpPr txBox="1"/>
          <p:nvPr/>
        </p:nvSpPr>
        <p:spPr>
          <a:xfrm>
            <a:off x="274320" y="1828800"/>
            <a:ext cx="6309360" cy="329184"/>
          </a:xfrm>
          <a:prstGeom prst="rect">
            <a:avLst/>
          </a:prstGeom>
          <a:noFill/>
        </p:spPr>
        <p:txBody>
          <a:bodyPr wrap="square">
            <a:spAutoFit/>
          </a:bodyPr>
          <a:lstStyle/>
          <a:p>
            <a:pPr algn="l"/>
            <a:r>
              <a:rPr sz="1300" b="1" i="0">
                <a:solidFill>
                  <a:srgbClr val="1F3864"/>
                </a:solidFill>
                <a:latin typeface="Calibri"/>
              </a:rPr>
              <a:t>Single-Pass vs. Multi-Pass</a:t>
            </a:r>
          </a:p>
        </p:txBody>
      </p:sp>
      <p:graphicFrame>
        <p:nvGraphicFramePr>
          <p:cNvPr id="8" name="Table 7"/>
          <p:cNvGraphicFramePr>
            <a:graphicFrameLocks noGrp="1"/>
          </p:cNvGraphicFramePr>
          <p:nvPr/>
        </p:nvGraphicFramePr>
        <p:xfrm>
          <a:off x="274320" y="2212848"/>
          <a:ext cx="8138160" cy="1737360"/>
        </p:xfrm>
        <a:graphic>
          <a:graphicData uri="http://schemas.openxmlformats.org/drawingml/2006/table">
            <a:tbl>
              <a:tblPr firstRow="1" bandRow="1">
                <a:tableStyleId>{5C22544A-7EE6-4342-B048-85BDC9FD1C3A}</a:tableStyleId>
              </a:tblPr>
              <a:tblGrid>
                <a:gridCol w="2926080"/>
                <a:gridCol w="1371600"/>
                <a:gridCol w="1371600"/>
                <a:gridCol w="2468880"/>
              </a:tblGrid>
              <a:tr h="347472">
                <a:tc>
                  <a:txBody>
                    <a:bodyPr/>
                    <a:lstStyle/>
                    <a:p>
                      <a:pPr algn="ctr"/>
                      <a:r>
                        <a:rPr b="1" sz="1000">
                          <a:solidFill>
                            <a:srgbClr val="FFFFFF"/>
                          </a:solidFill>
                          <a:latin typeface="Calibri"/>
                        </a:rPr>
                        <a:t>Configuration</a:t>
                      </a:r>
                    </a:p>
                  </a:txBody>
                  <a:tcPr>
                    <a:solidFill>
                      <a:srgbClr val="1F3864"/>
                    </a:solidFill>
                  </a:tcPr>
                </a:tc>
                <a:tc>
                  <a:txBody>
                    <a:bodyPr/>
                    <a:lstStyle/>
                    <a:p>
                      <a:pPr algn="ctr"/>
                      <a:r>
                        <a:rPr b="1" sz="1000">
                          <a:solidFill>
                            <a:srgbClr val="FFFFFF"/>
                          </a:solidFill>
                          <a:latin typeface="Calibri"/>
                        </a:rPr>
                        <a:t>Total Triples</a:t>
                      </a:r>
                    </a:p>
                  </a:txBody>
                  <a:tcPr>
                    <a:solidFill>
                      <a:srgbClr val="1F3864"/>
                    </a:solidFill>
                  </a:tcPr>
                </a:tc>
                <a:tc>
                  <a:txBody>
                    <a:bodyPr/>
                    <a:lstStyle/>
                    <a:p>
                      <a:pPr algn="ctr"/>
                      <a:r>
                        <a:rPr b="1" sz="1000">
                          <a:solidFill>
                            <a:srgbClr val="FFFFFF"/>
                          </a:solidFill>
                          <a:latin typeface="Calibri"/>
                        </a:rPr>
                        <a:t>Avg / Article</a:t>
                      </a:r>
                    </a:p>
                  </a:txBody>
                  <a:tcPr>
                    <a:solidFill>
                      <a:srgbClr val="1F3864"/>
                    </a:solidFill>
                  </a:tcPr>
                </a:tc>
                <a:tc>
                  <a:txBody>
                    <a:bodyPr/>
                    <a:lstStyle/>
                    <a:p>
                      <a:pPr algn="ctr"/>
                      <a:r>
                        <a:rPr b="1" sz="1000">
                          <a:solidFill>
                            <a:srgbClr val="FFFFFF"/>
                          </a:solidFill>
                          <a:latin typeface="Calibri"/>
                        </a:rPr>
                        <a:t>vs. Baseline</a:t>
                      </a:r>
                    </a:p>
                  </a:txBody>
                  <a:tcPr>
                    <a:solidFill>
                      <a:srgbClr val="1F3864"/>
                    </a:solidFill>
                  </a:tcPr>
                </a:tc>
              </a:tr>
              <a:tr h="347472">
                <a:tc>
                  <a:txBody>
                    <a:bodyPr/>
                    <a:lstStyle/>
                    <a:p>
                      <a:r>
                        <a:rPr sz="1000">
                          <a:solidFill>
                            <a:srgbClr val="404040"/>
                          </a:solidFill>
                          <a:latin typeface="Calibri"/>
                        </a:rPr>
                        <a:t>Single-Pass (Baseline)</a:t>
                      </a:r>
                    </a:p>
                  </a:txBody>
                  <a:tcPr>
                    <a:solidFill>
                      <a:srgbClr val="FFFFFF"/>
                    </a:solidFill>
                  </a:tcPr>
                </a:tc>
                <a:tc>
                  <a:txBody>
                    <a:bodyPr/>
                    <a:lstStyle/>
                    <a:p>
                      <a:r>
                        <a:rPr sz="1000">
                          <a:solidFill>
                            <a:srgbClr val="404040"/>
                          </a:solidFill>
                          <a:latin typeface="Calibri"/>
                        </a:rPr>
                        <a:t>316</a:t>
                      </a:r>
                    </a:p>
                  </a:txBody>
                  <a:tcPr>
                    <a:solidFill>
                      <a:srgbClr val="FFFFFF"/>
                    </a:solidFill>
                  </a:tcPr>
                </a:tc>
                <a:tc>
                  <a:txBody>
                    <a:bodyPr/>
                    <a:lstStyle/>
                    <a:p>
                      <a:r>
                        <a:rPr sz="1000">
                          <a:solidFill>
                            <a:srgbClr val="404040"/>
                          </a:solidFill>
                          <a:latin typeface="Calibri"/>
                        </a:rPr>
                        <a:t>21.1</a:t>
                      </a:r>
                    </a:p>
                  </a:txBody>
                  <a:tcPr>
                    <a:solidFill>
                      <a:srgbClr val="FFFFFF"/>
                    </a:solidFill>
                  </a:tcPr>
                </a:tc>
                <a:tc>
                  <a:txBody>
                    <a:bodyPr/>
                    <a:lstStyle/>
                    <a:p>
                      <a:r>
                        <a:rPr sz="1000">
                          <a:solidFill>
                            <a:srgbClr val="404040"/>
                          </a:solidFill>
                          <a:latin typeface="Calibri"/>
                        </a:rPr>
                        <a:t>—</a:t>
                      </a:r>
                    </a:p>
                  </a:txBody>
                  <a:tcPr>
                    <a:solidFill>
                      <a:srgbClr val="FFFFFF"/>
                    </a:solidFill>
                  </a:tcPr>
                </a:tc>
              </a:tr>
              <a:tr h="347472">
                <a:tc>
                  <a:txBody>
                    <a:bodyPr/>
                    <a:lstStyle/>
                    <a:p>
                      <a:r>
                        <a:rPr sz="1000">
                          <a:solidFill>
                            <a:srgbClr val="404040"/>
                          </a:solidFill>
                          <a:latin typeface="Calibri"/>
                        </a:rPr>
                        <a:t>Two-Pass</a:t>
                      </a:r>
                    </a:p>
                  </a:txBody>
                  <a:tcPr>
                    <a:solidFill>
                      <a:srgbClr val="F2F2F2"/>
                    </a:solidFill>
                  </a:tcPr>
                </a:tc>
                <a:tc>
                  <a:txBody>
                    <a:bodyPr/>
                    <a:lstStyle/>
                    <a:p>
                      <a:r>
                        <a:rPr sz="1000">
                          <a:solidFill>
                            <a:srgbClr val="404040"/>
                          </a:solidFill>
                          <a:latin typeface="Calibri"/>
                        </a:rPr>
                        <a:t>601</a:t>
                      </a:r>
                    </a:p>
                  </a:txBody>
                  <a:tcPr>
                    <a:solidFill>
                      <a:srgbClr val="F2F2F2"/>
                    </a:solidFill>
                  </a:tcPr>
                </a:tc>
                <a:tc>
                  <a:txBody>
                    <a:bodyPr/>
                    <a:lstStyle/>
                    <a:p>
                      <a:r>
                        <a:rPr sz="1000">
                          <a:solidFill>
                            <a:srgbClr val="404040"/>
                          </a:solidFill>
                          <a:latin typeface="Calibri"/>
                        </a:rPr>
                        <a:t>40.1</a:t>
                      </a:r>
                    </a:p>
                  </a:txBody>
                  <a:tcPr>
                    <a:solidFill>
                      <a:srgbClr val="F2F2F2"/>
                    </a:solidFill>
                  </a:tcPr>
                </a:tc>
                <a:tc>
                  <a:txBody>
                    <a:bodyPr/>
                    <a:lstStyle/>
                    <a:p>
                      <a:r>
                        <a:rPr sz="1000">
                          <a:solidFill>
                            <a:srgbClr val="404040"/>
                          </a:solidFill>
                          <a:latin typeface="Calibri"/>
                        </a:rPr>
                        <a:t>+90.2%</a:t>
                      </a:r>
                    </a:p>
                  </a:txBody>
                  <a:tcPr>
                    <a:solidFill>
                      <a:srgbClr val="F2F2F2"/>
                    </a:solidFill>
                  </a:tcPr>
                </a:tc>
              </a:tr>
              <a:tr h="347472">
                <a:tc>
                  <a:txBody>
                    <a:bodyPr/>
                    <a:lstStyle/>
                    <a:p>
                      <a:r>
                        <a:rPr sz="1000">
                          <a:solidFill>
                            <a:srgbClr val="404040"/>
                          </a:solidFill>
                          <a:latin typeface="Calibri"/>
                        </a:rPr>
                        <a:t>Three-Pass</a:t>
                      </a:r>
                    </a:p>
                  </a:txBody>
                  <a:tcPr>
                    <a:solidFill>
                      <a:srgbClr val="FFFFFF"/>
                    </a:solidFill>
                  </a:tcPr>
                </a:tc>
                <a:tc>
                  <a:txBody>
                    <a:bodyPr/>
                    <a:lstStyle/>
                    <a:p>
                      <a:r>
                        <a:rPr sz="1000">
                          <a:solidFill>
                            <a:srgbClr val="404040"/>
                          </a:solidFill>
                          <a:latin typeface="Calibri"/>
                        </a:rPr>
                        <a:t>812</a:t>
                      </a:r>
                    </a:p>
                  </a:txBody>
                  <a:tcPr>
                    <a:solidFill>
                      <a:srgbClr val="FFFFFF"/>
                    </a:solidFill>
                  </a:tcPr>
                </a:tc>
                <a:tc>
                  <a:txBody>
                    <a:bodyPr/>
                    <a:lstStyle/>
                    <a:p>
                      <a:r>
                        <a:rPr sz="1000">
                          <a:solidFill>
                            <a:srgbClr val="404040"/>
                          </a:solidFill>
                          <a:latin typeface="Calibri"/>
                        </a:rPr>
                        <a:t>54.1</a:t>
                      </a:r>
                    </a:p>
                  </a:txBody>
                  <a:tcPr>
                    <a:solidFill>
                      <a:srgbClr val="FFFFFF"/>
                    </a:solidFill>
                  </a:tcPr>
                </a:tc>
                <a:tc>
                  <a:txBody>
                    <a:bodyPr/>
                    <a:lstStyle/>
                    <a:p>
                      <a:r>
                        <a:rPr sz="1000">
                          <a:solidFill>
                            <a:srgbClr val="404040"/>
                          </a:solidFill>
                          <a:latin typeface="Calibri"/>
                        </a:rPr>
                        <a:t>+157.0%</a:t>
                      </a:r>
                    </a:p>
                  </a:txBody>
                  <a:tcPr>
                    <a:solidFill>
                      <a:srgbClr val="FFFFFF"/>
                    </a:solidFill>
                  </a:tcPr>
                </a:tc>
              </a:tr>
              <a:tr h="347472">
                <a:tc>
                  <a:txBody>
                    <a:bodyPr/>
                    <a:lstStyle/>
                    <a:p>
                      <a:r>
                        <a:rPr sz="1000">
                          <a:solidFill>
                            <a:srgbClr val="404040"/>
                          </a:solidFill>
                          <a:latin typeface="Calibri"/>
                        </a:rPr>
                        <a:t>Three-Pass + Validation (Final)</a:t>
                      </a:r>
                    </a:p>
                  </a:txBody>
                  <a:tcPr>
                    <a:solidFill>
                      <a:srgbClr val="F2F2F2"/>
                    </a:solidFill>
                  </a:tcPr>
                </a:tc>
                <a:tc>
                  <a:txBody>
                    <a:bodyPr/>
                    <a:lstStyle/>
                    <a:p>
                      <a:r>
                        <a:rPr sz="1000">
                          <a:solidFill>
                            <a:srgbClr val="404040"/>
                          </a:solidFill>
                          <a:latin typeface="Calibri"/>
                        </a:rPr>
                        <a:t>855</a:t>
                      </a:r>
                    </a:p>
                  </a:txBody>
                  <a:tcPr>
                    <a:solidFill>
                      <a:srgbClr val="F2F2F2"/>
                    </a:solidFill>
                  </a:tcPr>
                </a:tc>
                <a:tc>
                  <a:txBody>
                    <a:bodyPr/>
                    <a:lstStyle/>
                    <a:p>
                      <a:r>
                        <a:rPr sz="1000">
                          <a:solidFill>
                            <a:srgbClr val="404040"/>
                          </a:solidFill>
                          <a:latin typeface="Calibri"/>
                        </a:rPr>
                        <a:t>57.0</a:t>
                      </a:r>
                    </a:p>
                  </a:txBody>
                  <a:tcPr>
                    <a:solidFill>
                      <a:srgbClr val="F2F2F2"/>
                    </a:solidFill>
                  </a:tcPr>
                </a:tc>
                <a:tc>
                  <a:txBody>
                    <a:bodyPr/>
                    <a:lstStyle/>
                    <a:p>
                      <a:r>
                        <a:rPr sz="1000">
                          <a:solidFill>
                            <a:srgbClr val="404040"/>
                          </a:solidFill>
                          <a:latin typeface="Calibri"/>
                        </a:rPr>
                        <a:t>+170.6%  (2.7×)</a:t>
                      </a:r>
                    </a:p>
                  </a:txBody>
                  <a:tcPr>
                    <a:solidFill>
                      <a:srgbClr val="F2F2F2"/>
                    </a:solidFill>
                  </a:tcPr>
                </a:tc>
              </a:tr>
            </a:tbl>
          </a:graphicData>
        </a:graphic>
      </p:graphicFrame>
      <p:sp>
        <p:nvSpPr>
          <p:cNvPr id="9" name="TextBox 8"/>
          <p:cNvSpPr txBox="1"/>
          <p:nvPr/>
        </p:nvSpPr>
        <p:spPr>
          <a:xfrm>
            <a:off x="274320" y="4114800"/>
            <a:ext cx="6309360" cy="329184"/>
          </a:xfrm>
          <a:prstGeom prst="rect">
            <a:avLst/>
          </a:prstGeom>
          <a:noFill/>
        </p:spPr>
        <p:txBody>
          <a:bodyPr wrap="square">
            <a:spAutoFit/>
          </a:bodyPr>
          <a:lstStyle/>
          <a:p>
            <a:pPr algn="l"/>
            <a:r>
              <a:rPr sz="1300" b="1" i="0">
                <a:solidFill>
                  <a:srgbClr val="1F3864"/>
                </a:solidFill>
                <a:latin typeface="Calibri"/>
              </a:rPr>
              <a:t>Per-Pass Contribution</a:t>
            </a:r>
          </a:p>
        </p:txBody>
      </p:sp>
      <p:graphicFrame>
        <p:nvGraphicFramePr>
          <p:cNvPr id="10" name="Table 9"/>
          <p:cNvGraphicFramePr>
            <a:graphicFrameLocks noGrp="1"/>
          </p:cNvGraphicFramePr>
          <p:nvPr/>
        </p:nvGraphicFramePr>
        <p:xfrm>
          <a:off x="274320" y="4480560"/>
          <a:ext cx="6309360" cy="1828800"/>
        </p:xfrm>
        <a:graphic>
          <a:graphicData uri="http://schemas.openxmlformats.org/drawingml/2006/table">
            <a:tbl>
              <a:tblPr firstRow="1" bandRow="1">
                <a:tableStyleId>{5C22544A-7EE6-4342-B048-85BDC9FD1C3A}</a:tableStyleId>
              </a:tblPr>
              <a:tblGrid>
                <a:gridCol w="2011680"/>
                <a:gridCol w="1280160"/>
                <a:gridCol w="1188720"/>
                <a:gridCol w="1828800"/>
              </a:tblGrid>
              <a:tr h="365760">
                <a:tc>
                  <a:txBody>
                    <a:bodyPr/>
                    <a:lstStyle/>
                    <a:p>
                      <a:pPr algn="ctr"/>
                      <a:r>
                        <a:rPr b="1" sz="1000">
                          <a:solidFill>
                            <a:srgbClr val="FFFFFF"/>
                          </a:solidFill>
                          <a:latin typeface="Calibri"/>
                        </a:rPr>
                        <a:t>Pass</a:t>
                      </a:r>
                    </a:p>
                  </a:txBody>
                  <a:tcPr>
                    <a:solidFill>
                      <a:srgbClr val="1F3864"/>
                    </a:solidFill>
                  </a:tcPr>
                </a:tc>
                <a:tc>
                  <a:txBody>
                    <a:bodyPr/>
                    <a:lstStyle/>
                    <a:p>
                      <a:pPr algn="ctr"/>
                      <a:r>
                        <a:rPr b="1" sz="1000">
                          <a:solidFill>
                            <a:srgbClr val="FFFFFF"/>
                          </a:solidFill>
                          <a:latin typeface="Calibri"/>
                        </a:rPr>
                        <a:t>Triples Added</a:t>
                      </a:r>
                    </a:p>
                  </a:txBody>
                  <a:tcPr>
                    <a:solidFill>
                      <a:srgbClr val="1F3864"/>
                    </a:solidFill>
                  </a:tcPr>
                </a:tc>
                <a:tc>
                  <a:txBody>
                    <a:bodyPr/>
                    <a:lstStyle/>
                    <a:p>
                      <a:pPr algn="ctr"/>
                      <a:r>
                        <a:rPr b="1" sz="1000">
                          <a:solidFill>
                            <a:srgbClr val="FFFFFF"/>
                          </a:solidFill>
                          <a:latin typeface="Calibri"/>
                        </a:rPr>
                        <a:t>% of Total</a:t>
                      </a:r>
                    </a:p>
                  </a:txBody>
                  <a:tcPr>
                    <a:solidFill>
                      <a:srgbClr val="1F3864"/>
                    </a:solidFill>
                  </a:tcPr>
                </a:tc>
                <a:tc>
                  <a:txBody>
                    <a:bodyPr/>
                    <a:lstStyle/>
                    <a:p>
                      <a:pPr algn="ctr"/>
                      <a:r>
                        <a:rPr b="1" sz="1000">
                          <a:solidFill>
                            <a:srgbClr val="FFFFFF"/>
                          </a:solidFill>
                          <a:latin typeface="Calibri"/>
                        </a:rPr>
                        <a:t>What It Captures</a:t>
                      </a:r>
                    </a:p>
                  </a:txBody>
                  <a:tcPr>
                    <a:solidFill>
                      <a:srgbClr val="1F3864"/>
                    </a:solidFill>
                  </a:tcPr>
                </a:tc>
              </a:tr>
              <a:tr h="365760">
                <a:tc>
                  <a:txBody>
                    <a:bodyPr/>
                    <a:lstStyle/>
                    <a:p>
                      <a:r>
                        <a:rPr sz="1000">
                          <a:solidFill>
                            <a:srgbClr val="404040"/>
                          </a:solidFill>
                          <a:latin typeface="Calibri"/>
                        </a:rPr>
                        <a:t>Pass 1 — Exhaustive</a:t>
                      </a:r>
                    </a:p>
                  </a:txBody>
                  <a:tcPr>
                    <a:solidFill>
                      <a:srgbClr val="FFFFFF"/>
                    </a:solidFill>
                  </a:tcPr>
                </a:tc>
                <a:tc>
                  <a:txBody>
                    <a:bodyPr/>
                    <a:lstStyle/>
                    <a:p>
                      <a:r>
                        <a:rPr sz="1000">
                          <a:solidFill>
                            <a:srgbClr val="404040"/>
                          </a:solidFill>
                          <a:latin typeface="Calibri"/>
                        </a:rPr>
                        <a:t>391</a:t>
                      </a:r>
                    </a:p>
                  </a:txBody>
                  <a:tcPr>
                    <a:solidFill>
                      <a:srgbClr val="FFFFFF"/>
                    </a:solidFill>
                  </a:tcPr>
                </a:tc>
                <a:tc>
                  <a:txBody>
                    <a:bodyPr/>
                    <a:lstStyle/>
                    <a:p>
                      <a:r>
                        <a:rPr sz="1000">
                          <a:solidFill>
                            <a:srgbClr val="404040"/>
                          </a:solidFill>
                          <a:latin typeface="Calibri"/>
                        </a:rPr>
                        <a:t>45.7%</a:t>
                      </a:r>
                    </a:p>
                  </a:txBody>
                  <a:tcPr>
                    <a:solidFill>
                      <a:srgbClr val="FFFFFF"/>
                    </a:solidFill>
                  </a:tcPr>
                </a:tc>
                <a:tc>
                  <a:txBody>
                    <a:bodyPr/>
                    <a:lstStyle/>
                    <a:p>
                      <a:r>
                        <a:rPr sz="1000">
                          <a:solidFill>
                            <a:srgbClr val="404040"/>
                          </a:solidFill>
                          <a:latin typeface="Calibri"/>
                        </a:rPr>
                        <a:t>Most prominent relationships in abstract</a:t>
                      </a:r>
                    </a:p>
                  </a:txBody>
                  <a:tcPr>
                    <a:solidFill>
                      <a:srgbClr val="FFFFFF"/>
                    </a:solidFill>
                  </a:tcPr>
                </a:tc>
              </a:tr>
              <a:tr h="365760">
                <a:tc>
                  <a:txBody>
                    <a:bodyPr/>
                    <a:lstStyle/>
                    <a:p>
                      <a:r>
                        <a:rPr sz="1000">
                          <a:solidFill>
                            <a:srgbClr val="404040"/>
                          </a:solidFill>
                          <a:latin typeface="Calibri"/>
                        </a:rPr>
                        <a:t>Pass 2 — Overlooked Scan</a:t>
                      </a:r>
                    </a:p>
                  </a:txBody>
                  <a:tcPr>
                    <a:solidFill>
                      <a:srgbClr val="F2F2F2"/>
                    </a:solidFill>
                  </a:tcPr>
                </a:tc>
                <a:tc>
                  <a:txBody>
                    <a:bodyPr/>
                    <a:lstStyle/>
                    <a:p>
                      <a:r>
                        <a:rPr sz="1000">
                          <a:solidFill>
                            <a:srgbClr val="404040"/>
                          </a:solidFill>
                          <a:latin typeface="Calibri"/>
                        </a:rPr>
                        <a:t>302</a:t>
                      </a:r>
                    </a:p>
                  </a:txBody>
                  <a:tcPr>
                    <a:solidFill>
                      <a:srgbClr val="F2F2F2"/>
                    </a:solidFill>
                  </a:tcPr>
                </a:tc>
                <a:tc>
                  <a:txBody>
                    <a:bodyPr/>
                    <a:lstStyle/>
                    <a:p>
                      <a:r>
                        <a:rPr sz="1000">
                          <a:solidFill>
                            <a:srgbClr val="404040"/>
                          </a:solidFill>
                          <a:latin typeface="Calibri"/>
                        </a:rPr>
                        <a:t>35.3%</a:t>
                      </a:r>
                    </a:p>
                  </a:txBody>
                  <a:tcPr>
                    <a:solidFill>
                      <a:srgbClr val="F2F2F2"/>
                    </a:solidFill>
                  </a:tcPr>
                </a:tc>
                <a:tc>
                  <a:txBody>
                    <a:bodyPr/>
                    <a:lstStyle/>
                    <a:p>
                      <a:r>
                        <a:rPr sz="1000">
                          <a:solidFill>
                            <a:srgbClr val="404040"/>
                          </a:solidFill>
                          <a:latin typeface="Calibri"/>
                        </a:rPr>
                        <a:t>Engineering details, genetic mods missed by Pass 1</a:t>
                      </a:r>
                    </a:p>
                  </a:txBody>
                  <a:tcPr>
                    <a:solidFill>
                      <a:srgbClr val="F2F2F2"/>
                    </a:solidFill>
                  </a:tcPr>
                </a:tc>
              </a:tr>
              <a:tr h="365760">
                <a:tc>
                  <a:txBody>
                    <a:bodyPr/>
                    <a:lstStyle/>
                    <a:p>
                      <a:r>
                        <a:rPr sz="1000">
                          <a:solidFill>
                            <a:srgbClr val="404040"/>
                          </a:solidFill>
                          <a:latin typeface="Calibri"/>
                        </a:rPr>
                        <a:t>Pass 3 — Gap-Filling</a:t>
                      </a:r>
                    </a:p>
                  </a:txBody>
                  <a:tcPr>
                    <a:solidFill>
                      <a:srgbClr val="FFFFFF"/>
                    </a:solidFill>
                  </a:tcPr>
                </a:tc>
                <a:tc>
                  <a:txBody>
                    <a:bodyPr/>
                    <a:lstStyle/>
                    <a:p>
                      <a:r>
                        <a:rPr sz="1000">
                          <a:solidFill>
                            <a:srgbClr val="404040"/>
                          </a:solidFill>
                          <a:latin typeface="Calibri"/>
                        </a:rPr>
                        <a:t>162</a:t>
                      </a:r>
                    </a:p>
                  </a:txBody>
                  <a:tcPr>
                    <a:solidFill>
                      <a:srgbClr val="FFFFFF"/>
                    </a:solidFill>
                  </a:tcPr>
                </a:tc>
                <a:tc>
                  <a:txBody>
                    <a:bodyPr/>
                    <a:lstStyle/>
                    <a:p>
                      <a:r>
                        <a:rPr sz="1000">
                          <a:solidFill>
                            <a:srgbClr val="404040"/>
                          </a:solidFill>
                          <a:latin typeface="Calibri"/>
                        </a:rPr>
                        <a:t>18.9%</a:t>
                      </a:r>
                    </a:p>
                  </a:txBody>
                  <a:tcPr>
                    <a:solidFill>
                      <a:srgbClr val="FFFFFF"/>
                    </a:solidFill>
                  </a:tcPr>
                </a:tc>
                <a:tc>
                  <a:txBody>
                    <a:bodyPr/>
                    <a:lstStyle/>
                    <a:p>
                      <a:r>
                        <a:rPr sz="1000">
                          <a:solidFill>
                            <a:srgbClr val="404040"/>
                          </a:solidFill>
                          <a:latin typeface="Calibri"/>
                        </a:rPr>
                        <a:t>Implied relationships, subordinate-clause facts</a:t>
                      </a:r>
                    </a:p>
                  </a:txBody>
                  <a:tcPr>
                    <a:solidFill>
                      <a:srgbClr val="FFFFFF"/>
                    </a:solidFill>
                  </a:tcPr>
                </a:tc>
              </a:tr>
              <a:tr h="365760">
                <a:tc>
                  <a:txBody>
                    <a:bodyPr/>
                    <a:lstStyle/>
                    <a:p>
                      <a:r>
                        <a:rPr sz="1000">
                          <a:solidFill>
                            <a:srgbClr val="404040"/>
                          </a:solidFill>
                          <a:latin typeface="Calibri"/>
                        </a:rPr>
                        <a:t>Total</a:t>
                      </a:r>
                    </a:p>
                  </a:txBody>
                  <a:tcPr>
                    <a:solidFill>
                      <a:srgbClr val="F2F2F2"/>
                    </a:solidFill>
                  </a:tcPr>
                </a:tc>
                <a:tc>
                  <a:txBody>
                    <a:bodyPr/>
                    <a:lstStyle/>
                    <a:p>
                      <a:r>
                        <a:rPr sz="1000">
                          <a:solidFill>
                            <a:srgbClr val="404040"/>
                          </a:solidFill>
                          <a:latin typeface="Calibri"/>
                        </a:rPr>
                        <a:t>855</a:t>
                      </a:r>
                    </a:p>
                  </a:txBody>
                  <a:tcPr>
                    <a:solidFill>
                      <a:srgbClr val="F2F2F2"/>
                    </a:solidFill>
                  </a:tcPr>
                </a:tc>
                <a:tc>
                  <a:txBody>
                    <a:bodyPr/>
                    <a:lstStyle/>
                    <a:p>
                      <a:r>
                        <a:rPr sz="1000">
                          <a:solidFill>
                            <a:srgbClr val="404040"/>
                          </a:solidFill>
                          <a:latin typeface="Calibri"/>
                        </a:rPr>
                        <a:t>100%</a:t>
                      </a:r>
                    </a:p>
                  </a:txBody>
                  <a:tcPr>
                    <a:solidFill>
                      <a:srgbClr val="F2F2F2"/>
                    </a:solidFill>
                  </a:tcPr>
                </a:tc>
                <a:tc>
                  <a:txBody>
                    <a:bodyPr/>
                    <a:lstStyle/>
                    <a:p>
                      <a:r>
                        <a:rPr sz="1000">
                          <a:solidFill>
                            <a:srgbClr val="404040"/>
                          </a:solidFill>
                          <a:latin typeface="Calibri"/>
                        </a:rPr>
                        <a:t>All four passes merged via set union</a:t>
                      </a:r>
                    </a:p>
                  </a:txBody>
                  <a:tcPr>
                    <a:solidFill>
                      <a:srgbClr val="F2F2F2"/>
                    </a:solidFill>
                  </a:tcPr>
                </a:tc>
              </a:tr>
            </a:tbl>
          </a:graphicData>
        </a:graphic>
      </p:graphicFrame>
      <p:sp>
        <p:nvSpPr>
          <p:cNvPr id="11" name="TextBox 10"/>
          <p:cNvSpPr txBox="1"/>
          <p:nvPr/>
        </p:nvSpPr>
        <p:spPr>
          <a:xfrm>
            <a:off x="6858000" y="1828800"/>
            <a:ext cx="5029200" cy="329184"/>
          </a:xfrm>
          <a:prstGeom prst="rect">
            <a:avLst/>
          </a:prstGeom>
          <a:noFill/>
        </p:spPr>
        <p:txBody>
          <a:bodyPr wrap="square">
            <a:spAutoFit/>
          </a:bodyPr>
          <a:lstStyle/>
          <a:p>
            <a:pPr algn="l"/>
            <a:r>
              <a:rPr sz="1300" b="1" i="0">
                <a:solidFill>
                  <a:srgbClr val="1F3864"/>
                </a:solidFill>
                <a:latin typeface="Calibri"/>
              </a:rPr>
              <a:t>Key Insights</a:t>
            </a:r>
          </a:p>
        </p:txBody>
      </p:sp>
      <p:sp>
        <p:nvSpPr>
          <p:cNvPr id="12" name="Rounded Rectangle 11"/>
          <p:cNvSpPr/>
          <p:nvPr/>
        </p:nvSpPr>
        <p:spPr>
          <a:xfrm>
            <a:off x="6858000" y="2212848"/>
            <a:ext cx="5029200" cy="978408"/>
          </a:xfrm>
          <a:prstGeom prst="roundRect">
            <a:avLst/>
          </a:prstGeom>
          <a:solidFill>
            <a:srgbClr val="FFE599"/>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95160" y="2286000"/>
            <a:ext cx="4754880" cy="804672"/>
          </a:xfrm>
          <a:prstGeom prst="rect">
            <a:avLst/>
          </a:prstGeom>
          <a:noFill/>
        </p:spPr>
        <p:txBody>
          <a:bodyPr wrap="square">
            <a:spAutoFit/>
          </a:bodyPr>
          <a:lstStyle/>
          <a:p>
            <a:pPr algn="l"/>
            <a:r>
              <a:rPr sz="1100" b="0" i="0">
                <a:solidFill>
                  <a:srgbClr val="000000"/>
                </a:solidFill>
                <a:latin typeface="Calibri"/>
              </a:rPr>
              <a:t>Pass 2 alone = 35.3% of triples — &gt; 75% of Pass 1's yield. Secondary details are systematically missed by single-pass.</a:t>
            </a:r>
          </a:p>
        </p:txBody>
      </p:sp>
      <p:sp>
        <p:nvSpPr>
          <p:cNvPr id="14" name="Rounded Rectangle 13"/>
          <p:cNvSpPr/>
          <p:nvPr/>
        </p:nvSpPr>
        <p:spPr>
          <a:xfrm>
            <a:off x="6858000" y="3291839"/>
            <a:ext cx="5029200" cy="978408"/>
          </a:xfrm>
          <a:prstGeom prst="roundRect">
            <a:avLst/>
          </a:prstGeom>
          <a:solidFill>
            <a:srgbClr val="FFE599"/>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3364991"/>
            <a:ext cx="4754880" cy="804672"/>
          </a:xfrm>
          <a:prstGeom prst="rect">
            <a:avLst/>
          </a:prstGeom>
          <a:noFill/>
        </p:spPr>
        <p:txBody>
          <a:bodyPr wrap="square">
            <a:spAutoFit/>
          </a:bodyPr>
          <a:lstStyle/>
          <a:p>
            <a:pPr algn="l"/>
            <a:r>
              <a:rPr sz="1100" b="0" i="0">
                <a:solidFill>
                  <a:srgbClr val="000000"/>
                </a:solidFill>
                <a:latin typeface="Calibri"/>
              </a:rPr>
              <a:t>Single-pass misses 63% of available triples — a systematic gap, not random noise.</a:t>
            </a:r>
          </a:p>
        </p:txBody>
      </p:sp>
      <p:sp>
        <p:nvSpPr>
          <p:cNvPr id="16" name="Rounded Rectangle 15"/>
          <p:cNvSpPr/>
          <p:nvPr/>
        </p:nvSpPr>
        <p:spPr>
          <a:xfrm>
            <a:off x="6858000" y="4370831"/>
            <a:ext cx="5029200" cy="978408"/>
          </a:xfrm>
          <a:prstGeom prst="roundRect">
            <a:avLst/>
          </a:prstGeom>
          <a:solidFill>
            <a:srgbClr val="FFE599"/>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4443983"/>
            <a:ext cx="4754880" cy="804672"/>
          </a:xfrm>
          <a:prstGeom prst="rect">
            <a:avLst/>
          </a:prstGeom>
          <a:noFill/>
        </p:spPr>
        <p:txBody>
          <a:bodyPr wrap="square">
            <a:spAutoFit/>
          </a:bodyPr>
          <a:lstStyle/>
          <a:p>
            <a:pPr algn="l"/>
            <a:r>
              <a:rPr sz="1100" b="0" i="0">
                <a:solidFill>
                  <a:srgbClr val="000000"/>
                </a:solidFill>
                <a:latin typeface="Calibri"/>
              </a:rPr>
              <a:t>4× API calls (multi-pass) → 2.7× triple yield: favorable information gain tradeoff for literature mining.</a:t>
            </a:r>
          </a:p>
        </p:txBody>
      </p:sp>
      <p:sp>
        <p:nvSpPr>
          <p:cNvPr id="18" name="Rounded Rectangle 17"/>
          <p:cNvSpPr/>
          <p:nvPr/>
        </p:nvSpPr>
        <p:spPr>
          <a:xfrm>
            <a:off x="6858000" y="5449824"/>
            <a:ext cx="5029200" cy="978408"/>
          </a:xfrm>
          <a:prstGeom prst="roundRect">
            <a:avLst/>
          </a:prstGeom>
          <a:solidFill>
            <a:srgbClr val="D5E8D4"/>
          </a:solidFill>
          <a:ln w="889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5522976"/>
            <a:ext cx="4754880" cy="804672"/>
          </a:xfrm>
          <a:prstGeom prst="rect">
            <a:avLst/>
          </a:prstGeom>
          <a:noFill/>
        </p:spPr>
        <p:txBody>
          <a:bodyPr wrap="square">
            <a:spAutoFit/>
          </a:bodyPr>
          <a:lstStyle/>
          <a:p>
            <a:pPr algn="l"/>
            <a:r>
              <a:rPr sz="1100" b="0" i="0">
                <a:solidFill>
                  <a:srgbClr val="000000"/>
                </a:solidFill>
                <a:latin typeface="Calibri"/>
              </a:rPr>
              <a:t>Diminishing returns (45.7% → 35.3% → 18.9%) confirms 3 passes is the right stopping point.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Semantic Search Results &amp; Structured Metric Benchmarks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417320"/>
            <a:ext cx="6675120" cy="347472"/>
          </a:xfrm>
          <a:prstGeom prst="rect">
            <a:avLst/>
          </a:prstGeom>
          <a:noFill/>
        </p:spPr>
        <p:txBody>
          <a:bodyPr wrap="square">
            <a:spAutoFit/>
          </a:bodyPr>
          <a:lstStyle/>
          <a:p>
            <a:pPr algn="l"/>
            <a:r>
              <a:rPr sz="1200" b="1" i="0">
                <a:solidFill>
                  <a:srgbClr val="1F3864"/>
                </a:solidFill>
                <a:latin typeface="Calibri"/>
              </a:rPr>
              <a:t>Query: 'How can we increase beta-carotene production?'  —  Top 10 of 50 retrieved triples (cosine similarity)</a:t>
            </a:r>
          </a:p>
        </p:txBody>
      </p:sp>
      <p:graphicFrame>
        <p:nvGraphicFramePr>
          <p:cNvPr id="7" name="Table 6"/>
          <p:cNvGraphicFramePr>
            <a:graphicFrameLocks noGrp="1"/>
          </p:cNvGraphicFramePr>
          <p:nvPr/>
        </p:nvGraphicFramePr>
        <p:xfrm>
          <a:off x="274320" y="1828800"/>
          <a:ext cx="6675120" cy="3931920"/>
        </p:xfrm>
        <a:graphic>
          <a:graphicData uri="http://schemas.openxmlformats.org/drawingml/2006/table">
            <a:tbl>
              <a:tblPr firstRow="1" bandRow="1">
                <a:tableStyleId>{5C22544A-7EE6-4342-B048-85BDC9FD1C3A}</a:tableStyleId>
              </a:tblPr>
              <a:tblGrid>
                <a:gridCol w="411480"/>
                <a:gridCol w="594360"/>
                <a:gridCol w="4343400"/>
                <a:gridCol w="1325880"/>
              </a:tblGrid>
              <a:tr h="357447">
                <a:tc>
                  <a:txBody>
                    <a:bodyPr/>
                    <a:lstStyle/>
                    <a:p>
                      <a:pPr algn="ctr"/>
                      <a:r>
                        <a:rPr b="1" sz="900">
                          <a:solidFill>
                            <a:srgbClr val="FFFFFF"/>
                          </a:solidFill>
                          <a:latin typeface="Calibri"/>
                        </a:rPr>
                        <a:t>Rank</a:t>
                      </a:r>
                    </a:p>
                  </a:txBody>
                  <a:tcPr>
                    <a:solidFill>
                      <a:srgbClr val="1F3864"/>
                    </a:solidFill>
                  </a:tcPr>
                </a:tc>
                <a:tc>
                  <a:txBody>
                    <a:bodyPr/>
                    <a:lstStyle/>
                    <a:p>
                      <a:pPr algn="ctr"/>
                      <a:r>
                        <a:rPr b="1" sz="900">
                          <a:solidFill>
                            <a:srgbClr val="FFFFFF"/>
                          </a:solidFill>
                          <a:latin typeface="Calibri"/>
                        </a:rPr>
                        <a:t>Score</a:t>
                      </a:r>
                    </a:p>
                  </a:txBody>
                  <a:tcPr>
                    <a:solidFill>
                      <a:srgbClr val="1F3864"/>
                    </a:solidFill>
                  </a:tcPr>
                </a:tc>
                <a:tc>
                  <a:txBody>
                    <a:bodyPr/>
                    <a:lstStyle/>
                    <a:p>
                      <a:pPr algn="ctr"/>
                      <a:r>
                        <a:rPr b="1" sz="900">
                          <a:solidFill>
                            <a:srgbClr val="FFFFFF"/>
                          </a:solidFill>
                          <a:latin typeface="Calibri"/>
                        </a:rPr>
                        <a:t>Subject  →  Relation  →  Object</a:t>
                      </a:r>
                    </a:p>
                  </a:txBody>
                  <a:tcPr>
                    <a:solidFill>
                      <a:srgbClr val="1F3864"/>
                    </a:solidFill>
                  </a:tcPr>
                </a:tc>
                <a:tc>
                  <a:txBody>
                    <a:bodyPr/>
                    <a:lstStyle/>
                    <a:p>
                      <a:pPr algn="ctr"/>
                      <a:r>
                        <a:rPr b="1" sz="900">
                          <a:solidFill>
                            <a:srgbClr val="FFFFFF"/>
                          </a:solidFill>
                          <a:latin typeface="Calibri"/>
                        </a:rPr>
                        <a:t>PMID</a:t>
                      </a:r>
                    </a:p>
                  </a:txBody>
                  <a:tcPr>
                    <a:solidFill>
                      <a:srgbClr val="1F3864"/>
                    </a:solidFill>
                  </a:tcPr>
                </a:tc>
              </a:tr>
              <a:tr h="357447">
                <a:tc>
                  <a:txBody>
                    <a:bodyPr/>
                    <a:lstStyle/>
                    <a:p>
                      <a:r>
                        <a:rPr sz="800">
                          <a:solidFill>
                            <a:srgbClr val="404040"/>
                          </a:solidFill>
                          <a:latin typeface="Calibri"/>
                        </a:rPr>
                        <a:t>1</a:t>
                      </a:r>
                    </a:p>
                  </a:txBody>
                  <a:tcPr>
                    <a:solidFill>
                      <a:srgbClr val="FFFFFF"/>
                    </a:solidFill>
                  </a:tcPr>
                </a:tc>
                <a:tc>
                  <a:txBody>
                    <a:bodyPr/>
                    <a:lstStyle/>
                    <a:p>
                      <a:r>
                        <a:rPr sz="800">
                          <a:solidFill>
                            <a:srgbClr val="404040"/>
                          </a:solidFill>
                          <a:latin typeface="Calibri"/>
                        </a:rPr>
                        <a:t>0.871</a:t>
                      </a:r>
                    </a:p>
                  </a:txBody>
                  <a:tcPr>
                    <a:solidFill>
                      <a:srgbClr val="FFFFFF"/>
                    </a:solidFill>
                  </a:tcPr>
                </a:tc>
                <a:tc>
                  <a:txBody>
                    <a:bodyPr/>
                    <a:lstStyle/>
                    <a:p>
                      <a:r>
                        <a:rPr sz="800">
                          <a:solidFill>
                            <a:srgbClr val="404040"/>
                          </a:solidFill>
                          <a:latin typeface="Calibri"/>
                        </a:rPr>
                        <a:t>beta-carotene production  →  increased  →  —</a:t>
                      </a:r>
                    </a:p>
                  </a:txBody>
                  <a:tcPr>
                    <a:solidFill>
                      <a:srgbClr val="FFFFFF"/>
                    </a:solidFill>
                  </a:tcPr>
                </a:tc>
                <a:tc>
                  <a:txBody>
                    <a:bodyPr/>
                    <a:lstStyle/>
                    <a:p>
                      <a:r>
                        <a:rPr sz="800">
                          <a:solidFill>
                            <a:srgbClr val="404040"/>
                          </a:solidFill>
                          <a:latin typeface="Calibri"/>
                        </a:rPr>
                        <a:t>35102143</a:t>
                      </a:r>
                    </a:p>
                  </a:txBody>
                  <a:tcPr>
                    <a:solidFill>
                      <a:srgbClr val="FFFFFF"/>
                    </a:solidFill>
                  </a:tcPr>
                </a:tc>
              </a:tr>
              <a:tr h="357447">
                <a:tc>
                  <a:txBody>
                    <a:bodyPr/>
                    <a:lstStyle/>
                    <a:p>
                      <a:r>
                        <a:rPr sz="800">
                          <a:solidFill>
                            <a:srgbClr val="404040"/>
                          </a:solidFill>
                          <a:latin typeface="Calibri"/>
                        </a:rPr>
                        <a:t>2</a:t>
                      </a:r>
                    </a:p>
                  </a:txBody>
                  <a:tcPr>
                    <a:solidFill>
                      <a:srgbClr val="F2F2F2"/>
                    </a:solidFill>
                  </a:tcPr>
                </a:tc>
                <a:tc>
                  <a:txBody>
                    <a:bodyPr/>
                    <a:lstStyle/>
                    <a:p>
                      <a:r>
                        <a:rPr sz="800">
                          <a:solidFill>
                            <a:srgbClr val="404040"/>
                          </a:solidFill>
                          <a:latin typeface="Calibri"/>
                        </a:rPr>
                        <a:t>0.861</a:t>
                      </a:r>
                    </a:p>
                  </a:txBody>
                  <a:tcPr>
                    <a:solidFill>
                      <a:srgbClr val="F2F2F2"/>
                    </a:solidFill>
                  </a:tcPr>
                </a:tc>
                <a:tc>
                  <a:txBody>
                    <a:bodyPr/>
                    <a:lstStyle/>
                    <a:p>
                      <a:r>
                        <a:rPr sz="800">
                          <a:solidFill>
                            <a:srgbClr val="404040"/>
                          </a:solidFill>
                          <a:latin typeface="Calibri"/>
                        </a:rPr>
                        <a:t>new strategies  →  increases  →  beta-carotene production</a:t>
                      </a:r>
                    </a:p>
                  </a:txBody>
                  <a:tcPr>
                    <a:solidFill>
                      <a:srgbClr val="F2F2F2"/>
                    </a:solidFill>
                  </a:tcPr>
                </a:tc>
                <a:tc>
                  <a:txBody>
                    <a:bodyPr/>
                    <a:lstStyle/>
                    <a:p>
                      <a:r>
                        <a:rPr sz="800">
                          <a:solidFill>
                            <a:srgbClr val="404040"/>
                          </a:solidFill>
                          <a:latin typeface="Calibri"/>
                        </a:rPr>
                        <a:t>38607448</a:t>
                      </a:r>
                    </a:p>
                  </a:txBody>
                  <a:tcPr>
                    <a:solidFill>
                      <a:srgbClr val="F2F2F2"/>
                    </a:solidFill>
                  </a:tcPr>
                </a:tc>
              </a:tr>
              <a:tr h="357447">
                <a:tc>
                  <a:txBody>
                    <a:bodyPr/>
                    <a:lstStyle/>
                    <a:p>
                      <a:r>
                        <a:rPr sz="800">
                          <a:solidFill>
                            <a:srgbClr val="404040"/>
                          </a:solidFill>
                          <a:latin typeface="Calibri"/>
                        </a:rPr>
                        <a:t>3</a:t>
                      </a:r>
                    </a:p>
                  </a:txBody>
                  <a:tcPr>
                    <a:solidFill>
                      <a:srgbClr val="FFFFFF"/>
                    </a:solidFill>
                  </a:tcPr>
                </a:tc>
                <a:tc>
                  <a:txBody>
                    <a:bodyPr/>
                    <a:lstStyle/>
                    <a:p>
                      <a:r>
                        <a:rPr sz="800">
                          <a:solidFill>
                            <a:srgbClr val="404040"/>
                          </a:solidFill>
                          <a:latin typeface="Calibri"/>
                        </a:rPr>
                        <a:t>0.851</a:t>
                      </a:r>
                    </a:p>
                  </a:txBody>
                  <a:tcPr>
                    <a:solidFill>
                      <a:srgbClr val="FFFFFF"/>
                    </a:solidFill>
                  </a:tcPr>
                </a:tc>
                <a:tc>
                  <a:txBody>
                    <a:bodyPr/>
                    <a:lstStyle/>
                    <a:p>
                      <a:r>
                        <a:rPr sz="800">
                          <a:solidFill>
                            <a:srgbClr val="404040"/>
                          </a:solidFill>
                          <a:latin typeface="Calibri"/>
                        </a:rPr>
                        <a:t>inexpensive carbon sources  →  enhance  →  beta-carotene production</a:t>
                      </a:r>
                    </a:p>
                  </a:txBody>
                  <a:tcPr>
                    <a:solidFill>
                      <a:srgbClr val="FFFFFF"/>
                    </a:solidFill>
                  </a:tcPr>
                </a:tc>
                <a:tc>
                  <a:txBody>
                    <a:bodyPr/>
                    <a:lstStyle/>
                    <a:p>
                      <a:r>
                        <a:rPr sz="800">
                          <a:solidFill>
                            <a:srgbClr val="404040"/>
                          </a:solidFill>
                          <a:latin typeface="Calibri"/>
                        </a:rPr>
                        <a:t>38607448</a:t>
                      </a:r>
                    </a:p>
                  </a:txBody>
                  <a:tcPr>
                    <a:solidFill>
                      <a:srgbClr val="FFFFFF"/>
                    </a:solidFill>
                  </a:tcPr>
                </a:tc>
              </a:tr>
              <a:tr h="357447">
                <a:tc>
                  <a:txBody>
                    <a:bodyPr/>
                    <a:lstStyle/>
                    <a:p>
                      <a:r>
                        <a:rPr sz="800">
                          <a:solidFill>
                            <a:srgbClr val="404040"/>
                          </a:solidFill>
                          <a:latin typeface="Calibri"/>
                        </a:rPr>
                        <a:t>4</a:t>
                      </a:r>
                    </a:p>
                  </a:txBody>
                  <a:tcPr>
                    <a:solidFill>
                      <a:srgbClr val="F2F2F2"/>
                    </a:solidFill>
                  </a:tcPr>
                </a:tc>
                <a:tc>
                  <a:txBody>
                    <a:bodyPr/>
                    <a:lstStyle/>
                    <a:p>
                      <a:r>
                        <a:rPr sz="800">
                          <a:solidFill>
                            <a:srgbClr val="404040"/>
                          </a:solidFill>
                          <a:latin typeface="Calibri"/>
                        </a:rPr>
                        <a:t>0.833</a:t>
                      </a:r>
                    </a:p>
                  </a:txBody>
                  <a:tcPr>
                    <a:solidFill>
                      <a:srgbClr val="F2F2F2"/>
                    </a:solidFill>
                  </a:tcPr>
                </a:tc>
                <a:tc>
                  <a:txBody>
                    <a:bodyPr/>
                    <a:lstStyle/>
                    <a:p>
                      <a:r>
                        <a:rPr sz="800">
                          <a:solidFill>
                            <a:srgbClr val="404040"/>
                          </a:solidFill>
                          <a:latin typeface="Calibri"/>
                        </a:rPr>
                        <a:t>beta-carotene production  →  depends_on  →  culture conditions</a:t>
                      </a:r>
                    </a:p>
                  </a:txBody>
                  <a:tcPr>
                    <a:solidFill>
                      <a:srgbClr val="F2F2F2"/>
                    </a:solidFill>
                  </a:tcPr>
                </a:tc>
                <a:tc>
                  <a:txBody>
                    <a:bodyPr/>
                    <a:lstStyle/>
                    <a:p>
                      <a:r>
                        <a:rPr sz="800">
                          <a:solidFill>
                            <a:srgbClr val="404040"/>
                          </a:solidFill>
                          <a:latin typeface="Calibri"/>
                        </a:rPr>
                        <a:t>33151382</a:t>
                      </a:r>
                    </a:p>
                  </a:txBody>
                  <a:tcPr>
                    <a:solidFill>
                      <a:srgbClr val="F2F2F2"/>
                    </a:solidFill>
                  </a:tcPr>
                </a:tc>
              </a:tr>
              <a:tr h="357447">
                <a:tc>
                  <a:txBody>
                    <a:bodyPr/>
                    <a:lstStyle/>
                    <a:p>
                      <a:r>
                        <a:rPr sz="800">
                          <a:solidFill>
                            <a:srgbClr val="404040"/>
                          </a:solidFill>
                          <a:latin typeface="Calibri"/>
                        </a:rPr>
                        <a:t>5</a:t>
                      </a:r>
                    </a:p>
                  </a:txBody>
                  <a:tcPr>
                    <a:solidFill>
                      <a:srgbClr val="FFFFFF"/>
                    </a:solidFill>
                  </a:tcPr>
                </a:tc>
                <a:tc>
                  <a:txBody>
                    <a:bodyPr/>
                    <a:lstStyle/>
                    <a:p>
                      <a:r>
                        <a:rPr sz="800">
                          <a:solidFill>
                            <a:srgbClr val="404040"/>
                          </a:solidFill>
                          <a:latin typeface="Calibri"/>
                        </a:rPr>
                        <a:t>0.805</a:t>
                      </a:r>
                    </a:p>
                  </a:txBody>
                  <a:tcPr>
                    <a:solidFill>
                      <a:srgbClr val="FFFFFF"/>
                    </a:solidFill>
                  </a:tcPr>
                </a:tc>
                <a:tc>
                  <a:txBody>
                    <a:bodyPr/>
                    <a:lstStyle/>
                    <a:p>
                      <a:r>
                        <a:rPr sz="800">
                          <a:solidFill>
                            <a:srgbClr val="404040"/>
                          </a:solidFill>
                          <a:latin typeface="Calibri"/>
                        </a:rPr>
                        <a:t>metabolic engineering  →  improves  →  beta-carotene production</a:t>
                      </a:r>
                    </a:p>
                  </a:txBody>
                  <a:tcPr>
                    <a:solidFill>
                      <a:srgbClr val="FFFFFF"/>
                    </a:solidFill>
                  </a:tcPr>
                </a:tc>
                <a:tc>
                  <a:txBody>
                    <a:bodyPr/>
                    <a:lstStyle/>
                    <a:p>
                      <a:r>
                        <a:rPr sz="800">
                          <a:solidFill>
                            <a:srgbClr val="404040"/>
                          </a:solidFill>
                          <a:latin typeface="Calibri"/>
                        </a:rPr>
                        <a:t>38607448</a:t>
                      </a:r>
                    </a:p>
                  </a:txBody>
                  <a:tcPr>
                    <a:solidFill>
                      <a:srgbClr val="FFFFFF"/>
                    </a:solidFill>
                  </a:tcPr>
                </a:tc>
              </a:tr>
              <a:tr h="357447">
                <a:tc>
                  <a:txBody>
                    <a:bodyPr/>
                    <a:lstStyle/>
                    <a:p>
                      <a:r>
                        <a:rPr sz="800">
                          <a:solidFill>
                            <a:srgbClr val="404040"/>
                          </a:solidFill>
                          <a:latin typeface="Calibri"/>
                        </a:rPr>
                        <a:t>6</a:t>
                      </a:r>
                    </a:p>
                  </a:txBody>
                  <a:tcPr>
                    <a:solidFill>
                      <a:srgbClr val="F2F2F2"/>
                    </a:solidFill>
                  </a:tcPr>
                </a:tc>
                <a:tc>
                  <a:txBody>
                    <a:bodyPr/>
                    <a:lstStyle/>
                    <a:p>
                      <a:r>
                        <a:rPr sz="800">
                          <a:solidFill>
                            <a:srgbClr val="404040"/>
                          </a:solidFill>
                          <a:latin typeface="Calibri"/>
                        </a:rPr>
                        <a:t>0.789</a:t>
                      </a:r>
                    </a:p>
                  </a:txBody>
                  <a:tcPr>
                    <a:solidFill>
                      <a:srgbClr val="F2F2F2"/>
                    </a:solidFill>
                  </a:tcPr>
                </a:tc>
                <a:tc>
                  <a:txBody>
                    <a:bodyPr/>
                    <a:lstStyle/>
                    <a:p>
                      <a:r>
                        <a:rPr sz="800">
                          <a:solidFill>
                            <a:srgbClr val="404040"/>
                          </a:solidFill>
                          <a:latin typeface="Calibri"/>
                        </a:rPr>
                        <a:t>research study  →  increases  →  beta-carotene production</a:t>
                      </a:r>
                    </a:p>
                  </a:txBody>
                  <a:tcPr>
                    <a:solidFill>
                      <a:srgbClr val="F2F2F2"/>
                    </a:solidFill>
                  </a:tcPr>
                </a:tc>
                <a:tc>
                  <a:txBody>
                    <a:bodyPr/>
                    <a:lstStyle/>
                    <a:p>
                      <a:r>
                        <a:rPr sz="800">
                          <a:solidFill>
                            <a:srgbClr val="404040"/>
                          </a:solidFill>
                          <a:latin typeface="Calibri"/>
                        </a:rPr>
                        <a:t>35419827</a:t>
                      </a:r>
                    </a:p>
                  </a:txBody>
                  <a:tcPr>
                    <a:solidFill>
                      <a:srgbClr val="F2F2F2"/>
                    </a:solidFill>
                  </a:tcPr>
                </a:tc>
              </a:tr>
              <a:tr h="357447">
                <a:tc>
                  <a:txBody>
                    <a:bodyPr/>
                    <a:lstStyle/>
                    <a:p>
                      <a:r>
                        <a:rPr sz="800">
                          <a:solidFill>
                            <a:srgbClr val="404040"/>
                          </a:solidFill>
                          <a:latin typeface="Calibri"/>
                        </a:rPr>
                        <a:t>7</a:t>
                      </a:r>
                    </a:p>
                  </a:txBody>
                  <a:tcPr>
                    <a:solidFill>
                      <a:srgbClr val="FFFFFF"/>
                    </a:solidFill>
                  </a:tcPr>
                </a:tc>
                <a:tc>
                  <a:txBody>
                    <a:bodyPr/>
                    <a:lstStyle/>
                    <a:p>
                      <a:r>
                        <a:rPr sz="800">
                          <a:solidFill>
                            <a:srgbClr val="404040"/>
                          </a:solidFill>
                          <a:latin typeface="Calibri"/>
                        </a:rPr>
                        <a:t>0.782</a:t>
                      </a:r>
                    </a:p>
                  </a:txBody>
                  <a:tcPr>
                    <a:solidFill>
                      <a:srgbClr val="FFFFFF"/>
                    </a:solidFill>
                  </a:tcPr>
                </a:tc>
                <a:tc>
                  <a:txBody>
                    <a:bodyPr/>
                    <a:lstStyle/>
                    <a:p>
                      <a:r>
                        <a:rPr sz="800">
                          <a:solidFill>
                            <a:srgbClr val="404040"/>
                          </a:solidFill>
                          <a:latin typeface="Calibri"/>
                        </a:rPr>
                        <a:t>beta-carotene production  →  reaches  →  142 mg/L</a:t>
                      </a:r>
                    </a:p>
                  </a:txBody>
                  <a:tcPr>
                    <a:solidFill>
                      <a:srgbClr val="FFFFFF"/>
                    </a:solidFill>
                  </a:tcPr>
                </a:tc>
                <a:tc>
                  <a:txBody>
                    <a:bodyPr/>
                    <a:lstStyle/>
                    <a:p>
                      <a:r>
                        <a:rPr sz="800">
                          <a:solidFill>
                            <a:srgbClr val="404040"/>
                          </a:solidFill>
                          <a:latin typeface="Calibri"/>
                        </a:rPr>
                        <a:t>34983533</a:t>
                      </a:r>
                    </a:p>
                  </a:txBody>
                  <a:tcPr>
                    <a:solidFill>
                      <a:srgbClr val="FFFFFF"/>
                    </a:solidFill>
                  </a:tcPr>
                </a:tc>
              </a:tr>
              <a:tr h="357447">
                <a:tc>
                  <a:txBody>
                    <a:bodyPr/>
                    <a:lstStyle/>
                    <a:p>
                      <a:r>
                        <a:rPr sz="800">
                          <a:solidFill>
                            <a:srgbClr val="404040"/>
                          </a:solidFill>
                          <a:latin typeface="Calibri"/>
                        </a:rPr>
                        <a:t>8</a:t>
                      </a:r>
                    </a:p>
                  </a:txBody>
                  <a:tcPr>
                    <a:solidFill>
                      <a:srgbClr val="F2F2F2"/>
                    </a:solidFill>
                  </a:tcPr>
                </a:tc>
                <a:tc>
                  <a:txBody>
                    <a:bodyPr/>
                    <a:lstStyle/>
                    <a:p>
                      <a:r>
                        <a:rPr sz="800">
                          <a:solidFill>
                            <a:srgbClr val="404040"/>
                          </a:solidFill>
                          <a:latin typeface="Calibri"/>
                        </a:rPr>
                        <a:t>0.773</a:t>
                      </a:r>
                    </a:p>
                  </a:txBody>
                  <a:tcPr>
                    <a:solidFill>
                      <a:srgbClr val="F2F2F2"/>
                    </a:solidFill>
                  </a:tcPr>
                </a:tc>
                <a:tc>
                  <a:txBody>
                    <a:bodyPr/>
                    <a:lstStyle/>
                    <a:p>
                      <a:r>
                        <a:rPr sz="800">
                          <a:solidFill>
                            <a:srgbClr val="404040"/>
                          </a:solidFill>
                          <a:latin typeface="Calibri"/>
                        </a:rPr>
                        <a:t>beta-carotene production  →  has_metric  →  11.3-fold increase</a:t>
                      </a:r>
                    </a:p>
                  </a:txBody>
                  <a:tcPr>
                    <a:solidFill>
                      <a:srgbClr val="F2F2F2"/>
                    </a:solidFill>
                  </a:tcPr>
                </a:tc>
                <a:tc>
                  <a:txBody>
                    <a:bodyPr/>
                    <a:lstStyle/>
                    <a:p>
                      <a:r>
                        <a:rPr sz="800">
                          <a:solidFill>
                            <a:srgbClr val="404040"/>
                          </a:solidFill>
                          <a:latin typeface="Calibri"/>
                        </a:rPr>
                        <a:t>31193511</a:t>
                      </a:r>
                    </a:p>
                  </a:txBody>
                  <a:tcPr>
                    <a:solidFill>
                      <a:srgbClr val="F2F2F2"/>
                    </a:solidFill>
                  </a:tcPr>
                </a:tc>
              </a:tr>
              <a:tr h="357447">
                <a:tc>
                  <a:txBody>
                    <a:bodyPr/>
                    <a:lstStyle/>
                    <a:p>
                      <a:r>
                        <a:rPr sz="800">
                          <a:solidFill>
                            <a:srgbClr val="404040"/>
                          </a:solidFill>
                          <a:latin typeface="Calibri"/>
                        </a:rPr>
                        <a:t>9</a:t>
                      </a:r>
                    </a:p>
                  </a:txBody>
                  <a:tcPr>
                    <a:solidFill>
                      <a:srgbClr val="FFFFFF"/>
                    </a:solidFill>
                  </a:tcPr>
                </a:tc>
                <a:tc>
                  <a:txBody>
                    <a:bodyPr/>
                    <a:lstStyle/>
                    <a:p>
                      <a:r>
                        <a:rPr sz="800">
                          <a:solidFill>
                            <a:srgbClr val="404040"/>
                          </a:solidFill>
                          <a:latin typeface="Calibri"/>
                        </a:rPr>
                        <a:t>0.771</a:t>
                      </a:r>
                    </a:p>
                  </a:txBody>
                  <a:tcPr>
                    <a:solidFill>
                      <a:srgbClr val="FFFFFF"/>
                    </a:solidFill>
                  </a:tcPr>
                </a:tc>
                <a:tc>
                  <a:txBody>
                    <a:bodyPr/>
                    <a:lstStyle/>
                    <a:p>
                      <a:r>
                        <a:rPr sz="800">
                          <a:solidFill>
                            <a:srgbClr val="404040"/>
                          </a:solidFill>
                          <a:latin typeface="Calibri"/>
                        </a:rPr>
                        <a:t>carbon sources  →  affect  →  beta-carotene production</a:t>
                      </a:r>
                    </a:p>
                  </a:txBody>
                  <a:tcPr>
                    <a:solidFill>
                      <a:srgbClr val="FFFFFF"/>
                    </a:solidFill>
                  </a:tcPr>
                </a:tc>
                <a:tc>
                  <a:txBody>
                    <a:bodyPr/>
                    <a:lstStyle/>
                    <a:p>
                      <a:r>
                        <a:rPr sz="800">
                          <a:solidFill>
                            <a:srgbClr val="404040"/>
                          </a:solidFill>
                          <a:latin typeface="Calibri"/>
                        </a:rPr>
                        <a:t>38607448</a:t>
                      </a:r>
                    </a:p>
                  </a:txBody>
                  <a:tcPr>
                    <a:solidFill>
                      <a:srgbClr val="FFFFFF"/>
                    </a:solidFill>
                  </a:tcPr>
                </a:tc>
              </a:tr>
              <a:tr h="357450">
                <a:tc>
                  <a:txBody>
                    <a:bodyPr/>
                    <a:lstStyle/>
                    <a:p>
                      <a:r>
                        <a:rPr sz="800">
                          <a:solidFill>
                            <a:srgbClr val="404040"/>
                          </a:solidFill>
                          <a:latin typeface="Calibri"/>
                        </a:rPr>
                        <a:t>10</a:t>
                      </a:r>
                    </a:p>
                  </a:txBody>
                  <a:tcPr>
                    <a:solidFill>
                      <a:srgbClr val="F2F2F2"/>
                    </a:solidFill>
                  </a:tcPr>
                </a:tc>
                <a:tc>
                  <a:txBody>
                    <a:bodyPr/>
                    <a:lstStyle/>
                    <a:p>
                      <a:r>
                        <a:rPr sz="800">
                          <a:solidFill>
                            <a:srgbClr val="404040"/>
                          </a:solidFill>
                          <a:latin typeface="Calibri"/>
                        </a:rPr>
                        <a:t>0.761</a:t>
                      </a:r>
                    </a:p>
                  </a:txBody>
                  <a:tcPr>
                    <a:solidFill>
                      <a:srgbClr val="F2F2F2"/>
                    </a:solidFill>
                  </a:tcPr>
                </a:tc>
                <a:tc>
                  <a:txBody>
                    <a:bodyPr/>
                    <a:lstStyle/>
                    <a:p>
                      <a:r>
                        <a:rPr sz="800">
                          <a:solidFill>
                            <a:srgbClr val="404040"/>
                          </a:solidFill>
                          <a:latin typeface="Calibri"/>
                        </a:rPr>
                        <a:t>optimized medium  →  increases  →  beta-carotene production</a:t>
                      </a:r>
                    </a:p>
                  </a:txBody>
                  <a:tcPr>
                    <a:solidFill>
                      <a:srgbClr val="F2F2F2"/>
                    </a:solidFill>
                  </a:tcPr>
                </a:tc>
                <a:tc>
                  <a:txBody>
                    <a:bodyPr/>
                    <a:lstStyle/>
                    <a:p>
                      <a:r>
                        <a:rPr sz="800">
                          <a:solidFill>
                            <a:srgbClr val="404040"/>
                          </a:solidFill>
                          <a:latin typeface="Calibri"/>
                        </a:rPr>
                        <a:t>31193511</a:t>
                      </a:r>
                    </a:p>
                  </a:txBody>
                  <a:tcPr>
                    <a:solidFill>
                      <a:srgbClr val="F2F2F2"/>
                    </a:solidFill>
                  </a:tcPr>
                </a:tc>
              </a:tr>
            </a:tbl>
          </a:graphicData>
        </a:graphic>
      </p:graphicFrame>
      <p:sp>
        <p:nvSpPr>
          <p:cNvPr id="8" name="TextBox 7"/>
          <p:cNvSpPr txBox="1"/>
          <p:nvPr/>
        </p:nvSpPr>
        <p:spPr>
          <a:xfrm>
            <a:off x="274320" y="5833872"/>
            <a:ext cx="6675120" cy="292608"/>
          </a:xfrm>
          <a:prstGeom prst="rect">
            <a:avLst/>
          </a:prstGeom>
          <a:noFill/>
        </p:spPr>
        <p:txBody>
          <a:bodyPr wrap="square">
            <a:spAutoFit/>
          </a:bodyPr>
          <a:lstStyle/>
          <a:p>
            <a:pPr algn="l"/>
            <a:r>
              <a:rPr sz="1000" b="0" i="1">
                <a:solidFill>
                  <a:srgbClr val="404040"/>
                </a:solidFill>
                <a:latin typeface="Calibri"/>
              </a:rPr>
              <a:t>50 retrieved triples span 23 unique papers, 13 distinct relation types</a:t>
            </a:r>
          </a:p>
        </p:txBody>
      </p:sp>
      <p:sp>
        <p:nvSpPr>
          <p:cNvPr id="9" name="TextBox 8"/>
          <p:cNvSpPr txBox="1"/>
          <p:nvPr/>
        </p:nvSpPr>
        <p:spPr>
          <a:xfrm>
            <a:off x="7223760" y="1417320"/>
            <a:ext cx="4663440" cy="347472"/>
          </a:xfrm>
          <a:prstGeom prst="rect">
            <a:avLst/>
          </a:prstGeom>
          <a:noFill/>
        </p:spPr>
        <p:txBody>
          <a:bodyPr wrap="square">
            <a:spAutoFit/>
          </a:bodyPr>
          <a:lstStyle/>
          <a:p>
            <a:pPr algn="l"/>
            <a:r>
              <a:rPr sz="1200" b="1" i="0">
                <a:solidFill>
                  <a:srgbClr val="1F3864"/>
                </a:solidFill>
                <a:latin typeface="Calibri"/>
              </a:rPr>
              <a:t>has_metric Production Benchmarks  (598 total metric triples)</a:t>
            </a:r>
          </a:p>
        </p:txBody>
      </p:sp>
      <p:graphicFrame>
        <p:nvGraphicFramePr>
          <p:cNvPr id="10" name="Table 9"/>
          <p:cNvGraphicFramePr>
            <a:graphicFrameLocks noGrp="1"/>
          </p:cNvGraphicFramePr>
          <p:nvPr/>
        </p:nvGraphicFramePr>
        <p:xfrm>
          <a:off x="7223760" y="1828800"/>
          <a:ext cx="4663440" cy="4160520"/>
        </p:xfrm>
        <a:graphic>
          <a:graphicData uri="http://schemas.openxmlformats.org/drawingml/2006/table">
            <a:tbl>
              <a:tblPr firstRow="1" bandRow="1">
                <a:tableStyleId>{5C22544A-7EE6-4342-B048-85BDC9FD1C3A}</a:tableStyleId>
              </a:tblPr>
              <a:tblGrid>
                <a:gridCol w="2240280"/>
                <a:gridCol w="1325880"/>
                <a:gridCol w="1097280"/>
              </a:tblGrid>
              <a:tr h="378229">
                <a:tc>
                  <a:txBody>
                    <a:bodyPr/>
                    <a:lstStyle/>
                    <a:p>
                      <a:pPr algn="ctr"/>
                      <a:r>
                        <a:rPr b="1" sz="900">
                          <a:solidFill>
                            <a:srgbClr val="FFFFFF"/>
                          </a:solidFill>
                          <a:latin typeface="Calibri"/>
                        </a:rPr>
                        <a:t>Entity / Strategy</a:t>
                      </a:r>
                    </a:p>
                  </a:txBody>
                  <a:tcPr>
                    <a:solidFill>
                      <a:srgbClr val="1F3864"/>
                    </a:solidFill>
                  </a:tcPr>
                </a:tc>
                <a:tc>
                  <a:txBody>
                    <a:bodyPr/>
                    <a:lstStyle/>
                    <a:p>
                      <a:pPr algn="ctr"/>
                      <a:r>
                        <a:rPr b="1" sz="900">
                          <a:solidFill>
                            <a:srgbClr val="FFFFFF"/>
                          </a:solidFill>
                          <a:latin typeface="Calibri"/>
                        </a:rPr>
                        <a:t>Value</a:t>
                      </a:r>
                    </a:p>
                  </a:txBody>
                  <a:tcPr>
                    <a:solidFill>
                      <a:srgbClr val="1F3864"/>
                    </a:solidFill>
                  </a:tcPr>
                </a:tc>
                <a:tc>
                  <a:txBody>
                    <a:bodyPr/>
                    <a:lstStyle/>
                    <a:p>
                      <a:pPr algn="ctr"/>
                      <a:r>
                        <a:rPr b="1" sz="900">
                          <a:solidFill>
                            <a:srgbClr val="FFFFFF"/>
                          </a:solidFill>
                          <a:latin typeface="Calibri"/>
                        </a:rPr>
                        <a:t>PMID</a:t>
                      </a:r>
                    </a:p>
                  </a:txBody>
                  <a:tcPr>
                    <a:solidFill>
                      <a:srgbClr val="1F3864"/>
                    </a:solidFill>
                  </a:tcPr>
                </a:tc>
              </a:tr>
              <a:tr h="378229">
                <a:tc>
                  <a:txBody>
                    <a:bodyPr/>
                    <a:lstStyle/>
                    <a:p>
                      <a:r>
                        <a:rPr sz="800">
                          <a:solidFill>
                            <a:srgbClr val="404040"/>
                          </a:solidFill>
                          <a:latin typeface="Calibri"/>
                        </a:rPr>
                        <a:t>Hydroxylase overexpression</a:t>
                      </a:r>
                    </a:p>
                    <a:p>
                      <a:r>
                        <a:t>(all-trans-beta-carotene)</a:t>
                      </a:r>
                    </a:p>
                  </a:txBody>
                  <a:tcPr>
                    <a:solidFill>
                      <a:srgbClr val="FFFFFF"/>
                    </a:solidFill>
                  </a:tcPr>
                </a:tc>
                <a:tc>
                  <a:txBody>
                    <a:bodyPr/>
                    <a:lstStyle/>
                    <a:p>
                      <a:r>
                        <a:rPr sz="800">
                          <a:solidFill>
                            <a:srgbClr val="404040"/>
                          </a:solidFill>
                          <a:latin typeface="Calibri"/>
                        </a:rPr>
                        <a:t>11.3-fold increase</a:t>
                      </a:r>
                    </a:p>
                  </a:txBody>
                  <a:tcPr>
                    <a:solidFill>
                      <a:srgbClr val="FFFFFF"/>
                    </a:solidFill>
                  </a:tcPr>
                </a:tc>
                <a:tc>
                  <a:txBody>
                    <a:bodyPr/>
                    <a:lstStyle/>
                    <a:p>
                      <a:r>
                        <a:rPr sz="800">
                          <a:solidFill>
                            <a:srgbClr val="404040"/>
                          </a:solidFill>
                          <a:latin typeface="Calibri"/>
                        </a:rPr>
                        <a:t>31193511</a:t>
                      </a:r>
                    </a:p>
                  </a:txBody>
                  <a:tcPr>
                    <a:solidFill>
                      <a:srgbClr val="FFFFFF"/>
                    </a:solidFill>
                  </a:tcPr>
                </a:tc>
              </a:tr>
              <a:tr h="378229">
                <a:tc>
                  <a:txBody>
                    <a:bodyPr/>
                    <a:lstStyle/>
                    <a:p>
                      <a:r>
                        <a:rPr sz="800">
                          <a:solidFill>
                            <a:srgbClr val="404040"/>
                          </a:solidFill>
                          <a:latin typeface="Calibri"/>
                        </a:rPr>
                        <a:t>beta-carotene titer</a:t>
                      </a:r>
                    </a:p>
                    <a:p>
                      <a:r>
                        <a:t>(glucose carbon source)</a:t>
                      </a:r>
                    </a:p>
                  </a:txBody>
                  <a:tcPr>
                    <a:solidFill>
                      <a:srgbClr val="F2F2F2"/>
                    </a:solidFill>
                  </a:tcPr>
                </a:tc>
                <a:tc>
                  <a:txBody>
                    <a:bodyPr/>
                    <a:lstStyle/>
                    <a:p>
                      <a:r>
                        <a:rPr sz="800">
                          <a:solidFill>
                            <a:srgbClr val="404040"/>
                          </a:solidFill>
                          <a:latin typeface="Calibri"/>
                        </a:rPr>
                        <a:t>107.22 mg/L</a:t>
                      </a:r>
                    </a:p>
                  </a:txBody>
                  <a:tcPr>
                    <a:solidFill>
                      <a:srgbClr val="F2F2F2"/>
                    </a:solidFill>
                  </a:tcPr>
                </a:tc>
                <a:tc>
                  <a:txBody>
                    <a:bodyPr/>
                    <a:lstStyle/>
                    <a:p>
                      <a:r>
                        <a:rPr sz="800">
                          <a:solidFill>
                            <a:srgbClr val="404040"/>
                          </a:solidFill>
                          <a:latin typeface="Calibri"/>
                        </a:rPr>
                        <a:t>18633963</a:t>
                      </a:r>
                    </a:p>
                  </a:txBody>
                  <a:tcPr>
                    <a:solidFill>
                      <a:srgbClr val="F2F2F2"/>
                    </a:solidFill>
                  </a:tcPr>
                </a:tc>
              </a:tr>
              <a:tr h="378229">
                <a:tc>
                  <a:txBody>
                    <a:bodyPr/>
                    <a:lstStyle/>
                    <a:p>
                      <a:r>
                        <a:rPr sz="800">
                          <a:solidFill>
                            <a:srgbClr val="404040"/>
                          </a:solidFill>
                          <a:latin typeface="Calibri"/>
                        </a:rPr>
                        <a:t>Yarrowia lipolytica yield</a:t>
                      </a:r>
                    </a:p>
                    <a:p>
                      <a:r>
                        <a:t>(highest in graph)</a:t>
                      </a:r>
                    </a:p>
                  </a:txBody>
                  <a:tcPr>
                    <a:solidFill>
                      <a:srgbClr val="FFFFFF"/>
                    </a:solidFill>
                  </a:tcPr>
                </a:tc>
                <a:tc>
                  <a:txBody>
                    <a:bodyPr/>
                    <a:lstStyle/>
                    <a:p>
                      <a:r>
                        <a:rPr sz="800">
                          <a:solidFill>
                            <a:srgbClr val="404040"/>
                          </a:solidFill>
                          <a:latin typeface="Calibri"/>
                        </a:rPr>
                        <a:t>142 mg/L</a:t>
                      </a:r>
                    </a:p>
                  </a:txBody>
                  <a:tcPr>
                    <a:solidFill>
                      <a:srgbClr val="FFFFFF"/>
                    </a:solidFill>
                  </a:tcPr>
                </a:tc>
                <a:tc>
                  <a:txBody>
                    <a:bodyPr/>
                    <a:lstStyle/>
                    <a:p>
                      <a:r>
                        <a:rPr sz="800">
                          <a:solidFill>
                            <a:srgbClr val="404040"/>
                          </a:solidFill>
                          <a:latin typeface="Calibri"/>
                        </a:rPr>
                        <a:t>34983533</a:t>
                      </a:r>
                    </a:p>
                  </a:txBody>
                  <a:tcPr>
                    <a:solidFill>
                      <a:srgbClr val="FFFFFF"/>
                    </a:solidFill>
                  </a:tcPr>
                </a:tc>
              </a:tr>
              <a:tr h="378229">
                <a:tc>
                  <a:txBody>
                    <a:bodyPr/>
                    <a:lstStyle/>
                    <a:p>
                      <a:r>
                        <a:rPr sz="800">
                          <a:solidFill>
                            <a:srgbClr val="404040"/>
                          </a:solidFill>
                          <a:latin typeface="Calibri"/>
                        </a:rPr>
                        <a:t>Astaxanthin titer</a:t>
                      </a:r>
                    </a:p>
                    <a:p>
                      <a:r>
                        <a:t>(engineered E. coli)</a:t>
                      </a:r>
                    </a:p>
                  </a:txBody>
                  <a:tcPr>
                    <a:solidFill>
                      <a:srgbClr val="F2F2F2"/>
                    </a:solidFill>
                  </a:tcPr>
                </a:tc>
                <a:tc>
                  <a:txBody>
                    <a:bodyPr/>
                    <a:lstStyle/>
                    <a:p>
                      <a:r>
                        <a:rPr sz="800">
                          <a:solidFill>
                            <a:srgbClr val="404040"/>
                          </a:solidFill>
                          <a:latin typeface="Calibri"/>
                        </a:rPr>
                        <a:t>225 mg/L</a:t>
                      </a:r>
                    </a:p>
                  </a:txBody>
                  <a:tcPr>
                    <a:solidFill>
                      <a:srgbClr val="F2F2F2"/>
                    </a:solidFill>
                  </a:tcPr>
                </a:tc>
                <a:tc>
                  <a:txBody>
                    <a:bodyPr/>
                    <a:lstStyle/>
                    <a:p>
                      <a:r>
                        <a:rPr sz="800">
                          <a:solidFill>
                            <a:srgbClr val="404040"/>
                          </a:solidFill>
                          <a:latin typeface="Calibri"/>
                        </a:rPr>
                        <a:t>20711573</a:t>
                      </a:r>
                    </a:p>
                  </a:txBody>
                  <a:tcPr>
                    <a:solidFill>
                      <a:srgbClr val="F2F2F2"/>
                    </a:solidFill>
                  </a:tcPr>
                </a:tc>
              </a:tr>
              <a:tr h="378229">
                <a:tc>
                  <a:txBody>
                    <a:bodyPr/>
                    <a:lstStyle/>
                    <a:p>
                      <a:r>
                        <a:rPr sz="800">
                          <a:solidFill>
                            <a:srgbClr val="404040"/>
                          </a:solidFill>
                          <a:latin typeface="Calibri"/>
                        </a:rPr>
                        <a:t>Lutein content (algae)</a:t>
                      </a:r>
                    </a:p>
                  </a:txBody>
                  <a:tcPr>
                    <a:solidFill>
                      <a:srgbClr val="FFFFFF"/>
                    </a:solidFill>
                  </a:tcPr>
                </a:tc>
                <a:tc>
                  <a:txBody>
                    <a:bodyPr/>
                    <a:lstStyle/>
                    <a:p>
                      <a:r>
                        <a:rPr sz="800">
                          <a:solidFill>
                            <a:srgbClr val="404040"/>
                          </a:solidFill>
                          <a:latin typeface="Calibri"/>
                        </a:rPr>
                        <a:t>10 g/kg dry weight</a:t>
                      </a:r>
                    </a:p>
                  </a:txBody>
                  <a:tcPr>
                    <a:solidFill>
                      <a:srgbClr val="FFFFFF"/>
                    </a:solidFill>
                  </a:tcPr>
                </a:tc>
                <a:tc>
                  <a:txBody>
                    <a:bodyPr/>
                    <a:lstStyle/>
                    <a:p>
                      <a:r>
                        <a:rPr sz="800">
                          <a:solidFill>
                            <a:srgbClr val="404040"/>
                          </a:solidFill>
                          <a:latin typeface="Calibri"/>
                        </a:rPr>
                        <a:t>20811803</a:t>
                      </a:r>
                    </a:p>
                  </a:txBody>
                  <a:tcPr>
                    <a:solidFill>
                      <a:srgbClr val="FFFFFF"/>
                    </a:solidFill>
                  </a:tcPr>
                </a:tc>
              </a:tr>
              <a:tr h="378229">
                <a:tc>
                  <a:txBody>
                    <a:bodyPr/>
                    <a:lstStyle/>
                    <a:p>
                      <a:r>
                        <a:rPr sz="800">
                          <a:solidFill>
                            <a:srgbClr val="404040"/>
                          </a:solidFill>
                          <a:latin typeface="Calibri"/>
                        </a:rPr>
                        <a:t>Vitamin E co-production</a:t>
                      </a:r>
                    </a:p>
                  </a:txBody>
                  <a:tcPr>
                    <a:solidFill>
                      <a:srgbClr val="F2F2F2"/>
                    </a:solidFill>
                  </a:tcPr>
                </a:tc>
                <a:tc>
                  <a:txBody>
                    <a:bodyPr/>
                    <a:lstStyle/>
                    <a:p>
                      <a:r>
                        <a:rPr sz="800">
                          <a:solidFill>
                            <a:srgbClr val="404040"/>
                          </a:solidFill>
                          <a:latin typeface="Calibri"/>
                        </a:rPr>
                        <a:t>30.1 mg/L</a:t>
                      </a:r>
                    </a:p>
                  </a:txBody>
                  <a:tcPr>
                    <a:solidFill>
                      <a:srgbClr val="F2F2F2"/>
                    </a:solidFill>
                  </a:tcPr>
                </a:tc>
                <a:tc>
                  <a:txBody>
                    <a:bodyPr/>
                    <a:lstStyle/>
                    <a:p>
                      <a:r>
                        <a:rPr sz="800">
                          <a:solidFill>
                            <a:srgbClr val="404040"/>
                          </a:solidFill>
                          <a:latin typeface="Calibri"/>
                        </a:rPr>
                        <a:t>18633963</a:t>
                      </a:r>
                    </a:p>
                  </a:txBody>
                  <a:tcPr>
                    <a:solidFill>
                      <a:srgbClr val="F2F2F2"/>
                    </a:solidFill>
                  </a:tcPr>
                </a:tc>
              </a:tr>
              <a:tr h="378229">
                <a:tc>
                  <a:txBody>
                    <a:bodyPr/>
                    <a:lstStyle/>
                    <a:p>
                      <a:r>
                        <a:rPr sz="800">
                          <a:solidFill>
                            <a:srgbClr val="404040"/>
                          </a:solidFill>
                          <a:latin typeface="Calibri"/>
                        </a:rPr>
                        <a:t>Specific productivity</a:t>
                      </a:r>
                    </a:p>
                  </a:txBody>
                  <a:tcPr>
                    <a:solidFill>
                      <a:srgbClr val="FFFFFF"/>
                    </a:solidFill>
                  </a:tcPr>
                </a:tc>
                <a:tc>
                  <a:txBody>
                    <a:bodyPr/>
                    <a:lstStyle/>
                    <a:p>
                      <a:r>
                        <a:rPr sz="800">
                          <a:solidFill>
                            <a:srgbClr val="404040"/>
                          </a:solidFill>
                          <a:latin typeface="Calibri"/>
                        </a:rPr>
                        <a:t>0.165 g/L/h</a:t>
                      </a:r>
                    </a:p>
                  </a:txBody>
                  <a:tcPr>
                    <a:solidFill>
                      <a:srgbClr val="FFFFFF"/>
                    </a:solidFill>
                  </a:tcPr>
                </a:tc>
                <a:tc>
                  <a:txBody>
                    <a:bodyPr/>
                    <a:lstStyle/>
                    <a:p>
                      <a:r>
                        <a:rPr sz="800">
                          <a:solidFill>
                            <a:srgbClr val="404040"/>
                          </a:solidFill>
                          <a:latin typeface="Calibri"/>
                        </a:rPr>
                        <a:t>—</a:t>
                      </a:r>
                    </a:p>
                  </a:txBody>
                  <a:tcPr>
                    <a:solidFill>
                      <a:srgbClr val="FFFFFF"/>
                    </a:solidFill>
                  </a:tcPr>
                </a:tc>
              </a:tr>
              <a:tr h="378229">
                <a:tc>
                  <a:txBody>
                    <a:bodyPr/>
                    <a:lstStyle/>
                    <a:p>
                      <a:r>
                        <a:rPr sz="800">
                          <a:solidFill>
                            <a:srgbClr val="404040"/>
                          </a:solidFill>
                          <a:latin typeface="Calibri"/>
                        </a:rPr>
                        <a:t>Gene deletion improvement</a:t>
                      </a:r>
                    </a:p>
                  </a:txBody>
                  <a:tcPr>
                    <a:solidFill>
                      <a:srgbClr val="F2F2F2"/>
                    </a:solidFill>
                  </a:tcPr>
                </a:tc>
                <a:tc>
                  <a:txBody>
                    <a:bodyPr/>
                    <a:lstStyle/>
                    <a:p>
                      <a:r>
                        <a:rPr sz="800">
                          <a:solidFill>
                            <a:srgbClr val="404040"/>
                          </a:solidFill>
                          <a:latin typeface="Calibri"/>
                        </a:rPr>
                        <a:t>107.3% over WT</a:t>
                      </a:r>
                    </a:p>
                  </a:txBody>
                  <a:tcPr>
                    <a:solidFill>
                      <a:srgbClr val="F2F2F2"/>
                    </a:solidFill>
                  </a:tcPr>
                </a:tc>
                <a:tc>
                  <a:txBody>
                    <a:bodyPr/>
                    <a:lstStyle/>
                    <a:p>
                      <a:r>
                        <a:rPr sz="800">
                          <a:solidFill>
                            <a:srgbClr val="404040"/>
                          </a:solidFill>
                          <a:latin typeface="Calibri"/>
                        </a:rPr>
                        <a:t>—</a:t>
                      </a:r>
                    </a:p>
                  </a:txBody>
                  <a:tcPr>
                    <a:solidFill>
                      <a:srgbClr val="F2F2F2"/>
                    </a:solidFill>
                  </a:tcPr>
                </a:tc>
              </a:tr>
              <a:tr h="378229">
                <a:tc>
                  <a:txBody>
                    <a:bodyPr/>
                    <a:lstStyle/>
                    <a:p>
                      <a:r>
                        <a:rPr sz="800">
                          <a:solidFill>
                            <a:srgbClr val="404040"/>
                          </a:solidFill>
                          <a:latin typeface="Calibri"/>
                        </a:rPr>
                        <a:t>H2O2 reduction</a:t>
                      </a:r>
                    </a:p>
                  </a:txBody>
                  <a:tcPr>
                    <a:solidFill>
                      <a:srgbClr val="FFFFFF"/>
                    </a:solidFill>
                  </a:tcPr>
                </a:tc>
                <a:tc>
                  <a:txBody>
                    <a:bodyPr/>
                    <a:lstStyle/>
                    <a:p>
                      <a:r>
                        <a:rPr sz="800">
                          <a:solidFill>
                            <a:srgbClr val="404040"/>
                          </a:solidFill>
                          <a:latin typeface="Calibri"/>
                        </a:rPr>
                        <a:t>78.9% decrease</a:t>
                      </a:r>
                    </a:p>
                  </a:txBody>
                  <a:tcPr>
                    <a:solidFill>
                      <a:srgbClr val="FFFFFF"/>
                    </a:solidFill>
                  </a:tcPr>
                </a:tc>
                <a:tc>
                  <a:txBody>
                    <a:bodyPr/>
                    <a:lstStyle/>
                    <a:p>
                      <a:r>
                        <a:rPr sz="800">
                          <a:solidFill>
                            <a:srgbClr val="404040"/>
                          </a:solidFill>
                          <a:latin typeface="Calibri"/>
                        </a:rPr>
                        <a:t>—</a:t>
                      </a:r>
                    </a:p>
                  </a:txBody>
                  <a:tcPr>
                    <a:solidFill>
                      <a:srgbClr val="FFFFFF"/>
                    </a:solidFill>
                  </a:tcPr>
                </a:tc>
              </a:tr>
              <a:tr h="378230">
                <a:tc>
                  <a:txBody>
                    <a:bodyPr/>
                    <a:lstStyle/>
                    <a:p>
                      <a:r>
                        <a:rPr sz="800">
                          <a:solidFill>
                            <a:srgbClr val="404040"/>
                          </a:solidFill>
                          <a:latin typeface="Calibri"/>
                        </a:rPr>
                        <a:t>Lutein DCW yield</a:t>
                      </a:r>
                    </a:p>
                  </a:txBody>
                  <a:tcPr>
                    <a:solidFill>
                      <a:srgbClr val="F2F2F2"/>
                    </a:solidFill>
                  </a:tcPr>
                </a:tc>
                <a:tc>
                  <a:txBody>
                    <a:bodyPr/>
                    <a:lstStyle/>
                    <a:p>
                      <a:r>
                        <a:rPr sz="800">
                          <a:solidFill>
                            <a:srgbClr val="404040"/>
                          </a:solidFill>
                          <a:latin typeface="Calibri"/>
                        </a:rPr>
                        <a:t>11.4 mg/g DCW</a:t>
                      </a:r>
                    </a:p>
                  </a:txBody>
                  <a:tcPr>
                    <a:solidFill>
                      <a:srgbClr val="F2F2F2"/>
                    </a:solidFill>
                  </a:tcPr>
                </a:tc>
                <a:tc>
                  <a:txBody>
                    <a:bodyPr/>
                    <a:lstStyle/>
                    <a:p>
                      <a:r>
                        <a:rPr sz="800">
                          <a:solidFill>
                            <a:srgbClr val="404040"/>
                          </a:solidFill>
                          <a:latin typeface="Calibri"/>
                        </a:rPr>
                        <a:t>—</a:t>
                      </a:r>
                    </a:p>
                  </a:txBody>
                  <a:tcPr>
                    <a:solidFill>
                      <a:srgbClr val="F2F2F2"/>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347472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Final Answer Comparison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NEKO / BTP1-Style Output — Query: 'How can we increase beta-carotene production?'</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17320"/>
            <a:ext cx="11640312" cy="384048"/>
          </a:xfrm>
          <a:prstGeom prst="roundRect">
            <a:avLst/>
          </a:prstGeom>
          <a:solidFill>
            <a:srgbClr val="FFEBEB"/>
          </a:solidFill>
          <a:ln w="1016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11338560" cy="320040"/>
          </a:xfrm>
          <a:prstGeom prst="rect">
            <a:avLst/>
          </a:prstGeom>
          <a:noFill/>
        </p:spPr>
        <p:txBody>
          <a:bodyPr wrap="square">
            <a:spAutoFit/>
          </a:bodyPr>
          <a:lstStyle/>
          <a:p>
            <a:pPr algn="l"/>
            <a:r>
              <a:rPr sz="1200" b="1" i="0">
                <a:solidFill>
                  <a:srgbClr val="BB0000"/>
                </a:solidFill>
                <a:latin typeface="Calibri"/>
              </a:rPr>
              <a:t>⚠  BTP1 / NEKO-Style System Output  (Keyword-Based, Untyped Relations, No Citations)</a:t>
            </a:r>
          </a:p>
        </p:txBody>
      </p:sp>
      <p:sp>
        <p:nvSpPr>
          <p:cNvPr id="8" name="Rectangle 7"/>
          <p:cNvSpPr/>
          <p:nvPr/>
        </p:nvSpPr>
        <p:spPr>
          <a:xfrm>
            <a:off x="274320" y="1874519"/>
            <a:ext cx="11640312" cy="4114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0240"/>
            <a:ext cx="11338560" cy="347472"/>
          </a:xfrm>
          <a:prstGeom prst="rect">
            <a:avLst/>
          </a:prstGeom>
          <a:noFill/>
        </p:spPr>
        <p:txBody>
          <a:bodyPr wrap="square">
            <a:spAutoFit/>
          </a:bodyPr>
          <a:lstStyle/>
          <a:p>
            <a:pPr algn="l"/>
            <a:r>
              <a:rPr sz="1100" b="1" i="0">
                <a:solidFill>
                  <a:srgbClr val="404040"/>
                </a:solidFill>
                <a:latin typeface="Calibri"/>
              </a:rPr>
              <a:t>Step 1 — User submits keyword:  beta-carotene</a:t>
            </a:r>
          </a:p>
        </p:txBody>
      </p:sp>
      <p:sp>
        <p:nvSpPr>
          <p:cNvPr id="10" name="Rectangle 9"/>
          <p:cNvSpPr/>
          <p:nvPr/>
        </p:nvSpPr>
        <p:spPr>
          <a:xfrm>
            <a:off x="274320" y="2350008"/>
            <a:ext cx="11640312" cy="777240"/>
          </a:xfrm>
          <a:prstGeom prst="rect">
            <a:avLst/>
          </a:prstGeom>
          <a:solidFill>
            <a:srgbClr val="FFFFFF"/>
          </a:solidFill>
          <a:ln w="762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395728"/>
            <a:ext cx="11338560" cy="292608"/>
          </a:xfrm>
          <a:prstGeom prst="rect">
            <a:avLst/>
          </a:prstGeom>
          <a:noFill/>
        </p:spPr>
        <p:txBody>
          <a:bodyPr wrap="square">
            <a:spAutoFit/>
          </a:bodyPr>
          <a:lstStyle/>
          <a:p>
            <a:pPr algn="l"/>
            <a:r>
              <a:rPr sz="1100" b="1" i="0">
                <a:solidFill>
                  <a:srgbClr val="000000"/>
                </a:solidFill>
                <a:latin typeface="Calibri"/>
              </a:rPr>
              <a:t>Entities Connected to 'beta-carotene' in Graph:</a:t>
            </a:r>
          </a:p>
        </p:txBody>
      </p:sp>
      <p:sp>
        <p:nvSpPr>
          <p:cNvPr id="12" name="TextBox 11"/>
          <p:cNvSpPr txBox="1"/>
          <p:nvPr/>
        </p:nvSpPr>
        <p:spPr>
          <a:xfrm>
            <a:off x="457200" y="2706624"/>
            <a:ext cx="11338560" cy="384048"/>
          </a:xfrm>
          <a:prstGeom prst="rect">
            <a:avLst/>
          </a:prstGeom>
          <a:noFill/>
        </p:spPr>
        <p:txBody>
          <a:bodyPr wrap="square">
            <a:spAutoFit/>
          </a:bodyPr>
          <a:lstStyle/>
          <a:p>
            <a:pPr algn="l"/>
            <a:r>
              <a:rPr sz="1000" b="0" i="1">
                <a:solidFill>
                  <a:srgbClr val="404040"/>
                </a:solidFill>
                <a:latin typeface="Calibri"/>
              </a:rPr>
              <a:t>Yarrowia lipolytica,  Escherichia coli,  metabolic engineering,  carotenoid pathway,  crtYB gene,  lycopene,  IPP,  MVA pathway,  culture conditions,  carbon source,  glucose,  nitrogen source,  fermentation,  bioreactor,  Saccharomyces cerevisiae</a:t>
            </a:r>
          </a:p>
        </p:txBody>
      </p:sp>
      <p:sp>
        <p:nvSpPr>
          <p:cNvPr id="13" name="Rectangle 12"/>
          <p:cNvSpPr/>
          <p:nvPr/>
        </p:nvSpPr>
        <p:spPr>
          <a:xfrm>
            <a:off x="274320" y="3200400"/>
            <a:ext cx="11640312" cy="4114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1338560" cy="347472"/>
          </a:xfrm>
          <a:prstGeom prst="rect">
            <a:avLst/>
          </a:prstGeom>
          <a:noFill/>
        </p:spPr>
        <p:txBody>
          <a:bodyPr wrap="square">
            <a:spAutoFit/>
          </a:bodyPr>
          <a:lstStyle/>
          <a:p>
            <a:pPr algn="l"/>
            <a:r>
              <a:rPr sz="1100" b="1" i="0">
                <a:solidFill>
                  <a:srgbClr val="404040"/>
                </a:solidFill>
                <a:latin typeface="Calibri"/>
              </a:rPr>
              <a:t>Step 2 — LLM generates ungrounded summary from entity list:</a:t>
            </a:r>
          </a:p>
        </p:txBody>
      </p:sp>
      <p:sp>
        <p:nvSpPr>
          <p:cNvPr id="15" name="Rectangle 14"/>
          <p:cNvSpPr/>
          <p:nvPr/>
        </p:nvSpPr>
        <p:spPr>
          <a:xfrm>
            <a:off x="274320" y="3675887"/>
            <a:ext cx="11640312" cy="1965960"/>
          </a:xfrm>
          <a:prstGeom prst="rect">
            <a:avLst/>
          </a:prstGeom>
          <a:solidFill>
            <a:srgbClr val="FFFFFF"/>
          </a:solidFill>
          <a:ln w="762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749039"/>
            <a:ext cx="11338560" cy="1737360"/>
          </a:xfrm>
          <a:prstGeom prst="rect">
            <a:avLst/>
          </a:prstGeom>
          <a:noFill/>
        </p:spPr>
        <p:txBody>
          <a:bodyPr wrap="square">
            <a:spAutoFit/>
          </a:bodyPr>
          <a:lstStyle/>
          <a:p>
            <a:pPr algn="l"/>
            <a:r>
              <a:rPr sz="1200" b="0" i="1">
                <a:solidFill>
                  <a:srgbClr val="404040"/>
                </a:solidFill>
                <a:latin typeface="Calibri"/>
              </a:rPr>
              <a:t>Beta-carotene production involves carotenoid pathway engineering in organisms such as Yarrowia lipolytica and Escherichia coli. Metabolic engineering strategies including pathway overexpression and carbon source optimization have been reported. The crtYB gene is associated with carotenoid biosynthesis. Culture conditions including glucose and nitrogen sources affect production levels. Further studies are needed to optimize these parameters for industrial-scale applications.</a:t>
            </a:r>
          </a:p>
        </p:txBody>
      </p:sp>
      <p:sp>
        <p:nvSpPr>
          <p:cNvPr id="17" name="Rounded Rectangle 16"/>
          <p:cNvSpPr/>
          <p:nvPr/>
        </p:nvSpPr>
        <p:spPr>
          <a:xfrm>
            <a:off x="274320" y="5760720"/>
            <a:ext cx="11640312" cy="841248"/>
          </a:xfrm>
          <a:prstGeom prst="roundRect">
            <a:avLst/>
          </a:prstGeom>
          <a:solidFill>
            <a:srgbClr val="FFEBEB"/>
          </a:solidFill>
          <a:ln w="10160">
            <a:solidFill>
              <a:srgbClr val="BB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5833872"/>
            <a:ext cx="11247120" cy="713232"/>
          </a:xfrm>
          <a:prstGeom prst="rect">
            <a:avLst/>
          </a:prstGeom>
          <a:noFill/>
        </p:spPr>
        <p:txBody>
          <a:bodyPr wrap="square">
            <a:spAutoFit/>
          </a:bodyPr>
          <a:lstStyle/>
          <a:p>
            <a:pPr algn="l">
              <a:spcBef>
                <a:spcPts val="300"/>
              </a:spcBef>
            </a:pPr>
            <a:r>
              <a:rPr sz="1100" b="1">
                <a:solidFill>
                  <a:srgbClr val="BB0000"/>
                </a:solidFill>
                <a:latin typeface="Calibri"/>
              </a:rPr>
              <a:t>✗  No relation types  |  No citations  |  No specific yield values  |  No mechanism details</a:t>
            </a:r>
          </a:p>
          <a:p>
            <a:pPr algn="l">
              <a:spcBef>
                <a:spcPts val="300"/>
              </a:spcBef>
            </a:pPr>
            <a:r>
              <a:rPr sz="1100" b="0">
                <a:solidFill>
                  <a:srgbClr val="BB0000"/>
                </a:solidFill>
                <a:latin typeface="Calibri"/>
              </a:rPr>
              <a:t>✗  Requires exact keyword  |  LLM may add background training knowledge  |  Unverifiable claims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347472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Final Answer Comparison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KGMiner Actual System Output — Same Query (Verbatim)</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17320"/>
            <a:ext cx="11640312" cy="384048"/>
          </a:xfrm>
          <a:prstGeom prst="roundRect">
            <a:avLst/>
          </a:prstGeom>
          <a:solidFill>
            <a:srgbClr val="D5E8D4"/>
          </a:solidFill>
          <a:ln w="10160">
            <a:solidFill>
              <a:srgbClr val="1A6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11338560" cy="320040"/>
          </a:xfrm>
          <a:prstGeom prst="rect">
            <a:avLst/>
          </a:prstGeom>
          <a:noFill/>
        </p:spPr>
        <p:txBody>
          <a:bodyPr wrap="square">
            <a:spAutoFit/>
          </a:bodyPr>
          <a:lstStyle/>
          <a:p>
            <a:pPr algn="l"/>
            <a:r>
              <a:rPr sz="1200" b="1" i="0">
                <a:solidFill>
                  <a:srgbClr val="1A6B1A"/>
                </a:solidFill>
                <a:latin typeface="Calibri"/>
              </a:rPr>
              <a:t>✓  KGMiner Exact Output  (50 retrieved triples, 23 papers — NO LLM training knowledge used)</a:t>
            </a:r>
          </a:p>
        </p:txBody>
      </p:sp>
      <p:sp>
        <p:nvSpPr>
          <p:cNvPr id="8" name="TextBox 7"/>
          <p:cNvSpPr txBox="1"/>
          <p:nvPr/>
        </p:nvSpPr>
        <p:spPr>
          <a:xfrm>
            <a:off x="274320" y="1920240"/>
            <a:ext cx="5577840" cy="329184"/>
          </a:xfrm>
          <a:prstGeom prst="rect">
            <a:avLst/>
          </a:prstGeom>
          <a:noFill/>
        </p:spPr>
        <p:txBody>
          <a:bodyPr wrap="square">
            <a:spAutoFit/>
          </a:bodyPr>
          <a:lstStyle/>
          <a:p>
            <a:pPr algn="l"/>
            <a:r>
              <a:rPr sz="1200" b="1" i="0">
                <a:solidFill>
                  <a:srgbClr val="1F3864"/>
                </a:solidFill>
                <a:latin typeface="Calibri"/>
              </a:rPr>
              <a:t>Metabolic Engineering</a:t>
            </a:r>
          </a:p>
        </p:txBody>
      </p:sp>
      <p:sp>
        <p:nvSpPr>
          <p:cNvPr id="9" name="TextBox 8"/>
          <p:cNvSpPr txBox="1"/>
          <p:nvPr/>
        </p:nvSpPr>
        <p:spPr>
          <a:xfrm>
            <a:off x="274320" y="2286000"/>
            <a:ext cx="5577840" cy="1024128"/>
          </a:xfrm>
          <a:prstGeom prst="rect">
            <a:avLst/>
          </a:prstGeom>
          <a:noFill/>
        </p:spPr>
        <p:txBody>
          <a:bodyPr wrap="square">
            <a:spAutoFit/>
          </a:bodyPr>
          <a:lstStyle/>
          <a:p>
            <a:pPr algn="l"/>
            <a:r>
              <a:rPr sz="1000" b="0" i="0">
                <a:solidFill>
                  <a:srgbClr val="404040"/>
                </a:solidFill>
                <a:latin typeface="Calibri"/>
              </a:rPr>
              <a:t>Overexpression of all-trans-beta-carotene hydroxylase → 11.3-fold increase in beta-carotene [PMID: 31193511].
Peroxisomal targeting of key enzymes enhances flux by compartmentalizing intermediates.
Gene deletions via multi-objective optimisation → 107.3% increase over wild-type strain.</a:t>
            </a:r>
          </a:p>
        </p:txBody>
      </p:sp>
      <p:sp>
        <p:nvSpPr>
          <p:cNvPr id="10" name="TextBox 9"/>
          <p:cNvSpPr txBox="1"/>
          <p:nvPr/>
        </p:nvSpPr>
        <p:spPr>
          <a:xfrm>
            <a:off x="274320" y="3401568"/>
            <a:ext cx="5577840" cy="329184"/>
          </a:xfrm>
          <a:prstGeom prst="rect">
            <a:avLst/>
          </a:prstGeom>
          <a:noFill/>
        </p:spPr>
        <p:txBody>
          <a:bodyPr wrap="square">
            <a:spAutoFit/>
          </a:bodyPr>
          <a:lstStyle/>
          <a:p>
            <a:pPr algn="l"/>
            <a:r>
              <a:rPr sz="1200" b="1" i="0">
                <a:solidFill>
                  <a:srgbClr val="1F3864"/>
                </a:solidFill>
                <a:latin typeface="Calibri"/>
              </a:rPr>
              <a:t>Culture Medium Optimization</a:t>
            </a:r>
          </a:p>
        </p:txBody>
      </p:sp>
      <p:sp>
        <p:nvSpPr>
          <p:cNvPr id="11" name="TextBox 10"/>
          <p:cNvSpPr txBox="1"/>
          <p:nvPr/>
        </p:nvSpPr>
        <p:spPr>
          <a:xfrm>
            <a:off x="274320" y="3767328"/>
            <a:ext cx="5577840" cy="1005840"/>
          </a:xfrm>
          <a:prstGeom prst="rect">
            <a:avLst/>
          </a:prstGeom>
          <a:noFill/>
        </p:spPr>
        <p:txBody>
          <a:bodyPr wrap="square">
            <a:spAutoFit/>
          </a:bodyPr>
          <a:lstStyle/>
          <a:p>
            <a:pPr algn="l"/>
            <a:r>
              <a:rPr sz="1000" b="0" i="0">
                <a:solidFill>
                  <a:srgbClr val="404040"/>
                </a:solidFill>
                <a:latin typeface="Calibri"/>
              </a:rPr>
              <a:t>Inexpensive carbon sources (glucose, peptone) significantly increase production → 107.22 mg/L [PMID: 18633963].
Optimal pH and temperature (30°C) reduce oxidative stress — 78.9% decrease in H2O2.
Specific productivity achieved: 0.165 g/L/h.</a:t>
            </a:r>
          </a:p>
        </p:txBody>
      </p:sp>
      <p:sp>
        <p:nvSpPr>
          <p:cNvPr id="12" name="TextBox 11"/>
          <p:cNvSpPr txBox="1"/>
          <p:nvPr/>
        </p:nvSpPr>
        <p:spPr>
          <a:xfrm>
            <a:off x="274320" y="4864608"/>
            <a:ext cx="5577840" cy="329184"/>
          </a:xfrm>
          <a:prstGeom prst="rect">
            <a:avLst/>
          </a:prstGeom>
          <a:noFill/>
        </p:spPr>
        <p:txBody>
          <a:bodyPr wrap="square">
            <a:spAutoFit/>
          </a:bodyPr>
          <a:lstStyle/>
          <a:p>
            <a:pPr algn="l"/>
            <a:r>
              <a:rPr sz="1200" b="1" i="0">
                <a:solidFill>
                  <a:srgbClr val="1F3864"/>
                </a:solidFill>
                <a:latin typeface="Calibri"/>
              </a:rPr>
              <a:t>Host-Specific Strategies</a:t>
            </a:r>
          </a:p>
        </p:txBody>
      </p:sp>
      <p:sp>
        <p:nvSpPr>
          <p:cNvPr id="13" name="TextBox 12"/>
          <p:cNvSpPr txBox="1"/>
          <p:nvPr/>
        </p:nvSpPr>
        <p:spPr>
          <a:xfrm>
            <a:off x="274320" y="5230368"/>
            <a:ext cx="5577840" cy="914400"/>
          </a:xfrm>
          <a:prstGeom prst="rect">
            <a:avLst/>
          </a:prstGeom>
          <a:noFill/>
        </p:spPr>
        <p:txBody>
          <a:bodyPr wrap="square">
            <a:spAutoFit/>
          </a:bodyPr>
          <a:lstStyle/>
          <a:p>
            <a:pPr algn="l"/>
            <a:r>
              <a:rPr sz="1000" b="0" i="0">
                <a:solidFill>
                  <a:srgbClr val="404040"/>
                </a:solidFill>
                <a:latin typeface="Calibri"/>
              </a:rPr>
              <a:t>Yarrowia lipolytica and Mucor wosnessenskii highlighted as high-yield hosts.
Highest reported yield: 142 mg/L [PMID: 34983533].
E. coli astaxanthin pathway: 225 mg/L [PMID: 20711573].</a:t>
            </a:r>
          </a:p>
        </p:txBody>
      </p:sp>
      <p:sp>
        <p:nvSpPr>
          <p:cNvPr id="14" name="TextBox 13"/>
          <p:cNvSpPr txBox="1"/>
          <p:nvPr/>
        </p:nvSpPr>
        <p:spPr>
          <a:xfrm>
            <a:off x="6080760" y="1920240"/>
            <a:ext cx="5806440" cy="329184"/>
          </a:xfrm>
          <a:prstGeom prst="rect">
            <a:avLst/>
          </a:prstGeom>
          <a:noFill/>
        </p:spPr>
        <p:txBody>
          <a:bodyPr wrap="square">
            <a:spAutoFit/>
          </a:bodyPr>
          <a:lstStyle/>
          <a:p>
            <a:pPr algn="l"/>
            <a:r>
              <a:rPr sz="1200" b="1" i="0">
                <a:solidFill>
                  <a:srgbClr val="1F3864"/>
                </a:solidFill>
                <a:latin typeface="Calibri"/>
              </a:rPr>
              <a:t>Key Quantitative Findings (from has_metric triples)</a:t>
            </a:r>
          </a:p>
        </p:txBody>
      </p:sp>
      <p:graphicFrame>
        <p:nvGraphicFramePr>
          <p:cNvPr id="15" name="Table 14"/>
          <p:cNvGraphicFramePr>
            <a:graphicFrameLocks noGrp="1"/>
          </p:cNvGraphicFramePr>
          <p:nvPr/>
        </p:nvGraphicFramePr>
        <p:xfrm>
          <a:off x="6080760" y="2304288"/>
          <a:ext cx="5806440" cy="2743200"/>
        </p:xfrm>
        <a:graphic>
          <a:graphicData uri="http://schemas.openxmlformats.org/drawingml/2006/table">
            <a:tbl>
              <a:tblPr firstRow="1" bandRow="1">
                <a:tableStyleId>{5C22544A-7EE6-4342-B048-85BDC9FD1C3A}</a:tableStyleId>
              </a:tblPr>
              <a:tblGrid>
                <a:gridCol w="2926080"/>
                <a:gridCol w="1737360"/>
                <a:gridCol w="1143000"/>
              </a:tblGrid>
              <a:tr h="342900">
                <a:tc>
                  <a:txBody>
                    <a:bodyPr/>
                    <a:lstStyle/>
                    <a:p>
                      <a:pPr algn="ctr"/>
                      <a:r>
                        <a:rPr b="1" sz="1000">
                          <a:solidFill>
                            <a:srgbClr val="FFFFFF"/>
                          </a:solidFill>
                          <a:latin typeface="Calibri"/>
                        </a:rPr>
                        <a:t>Finding</a:t>
                      </a:r>
                    </a:p>
                  </a:txBody>
                  <a:tcPr>
                    <a:solidFill>
                      <a:srgbClr val="1F3864"/>
                    </a:solidFill>
                  </a:tcPr>
                </a:tc>
                <a:tc>
                  <a:txBody>
                    <a:bodyPr/>
                    <a:lstStyle/>
                    <a:p>
                      <a:pPr algn="ctr"/>
                      <a:r>
                        <a:rPr b="1" sz="1000">
                          <a:solidFill>
                            <a:srgbClr val="FFFFFF"/>
                          </a:solidFill>
                          <a:latin typeface="Calibri"/>
                        </a:rPr>
                        <a:t>Impact / Value</a:t>
                      </a:r>
                    </a:p>
                  </a:txBody>
                  <a:tcPr>
                    <a:solidFill>
                      <a:srgbClr val="1F3864"/>
                    </a:solidFill>
                  </a:tcPr>
                </a:tc>
                <a:tc>
                  <a:txBody>
                    <a:bodyPr/>
                    <a:lstStyle/>
                    <a:p>
                      <a:pPr algn="ctr"/>
                      <a:r>
                        <a:rPr b="1" sz="1000">
                          <a:solidFill>
                            <a:srgbClr val="FFFFFF"/>
                          </a:solidFill>
                          <a:latin typeface="Calibri"/>
                        </a:rPr>
                        <a:t>PMID</a:t>
                      </a:r>
                    </a:p>
                  </a:txBody>
                  <a:tcPr>
                    <a:solidFill>
                      <a:srgbClr val="1F3864"/>
                    </a:solidFill>
                  </a:tcPr>
                </a:tc>
              </a:tr>
              <a:tr h="342900">
                <a:tc>
                  <a:txBody>
                    <a:bodyPr/>
                    <a:lstStyle/>
                    <a:p>
                      <a:r>
                        <a:rPr sz="1000">
                          <a:solidFill>
                            <a:srgbClr val="404040"/>
                          </a:solidFill>
                          <a:latin typeface="Calibri"/>
                        </a:rPr>
                        <a:t>Hydroxylase overexpression</a:t>
                      </a:r>
                    </a:p>
                  </a:txBody>
                  <a:tcPr>
                    <a:solidFill>
                      <a:srgbClr val="FFFFFF"/>
                    </a:solidFill>
                  </a:tcPr>
                </a:tc>
                <a:tc>
                  <a:txBody>
                    <a:bodyPr/>
                    <a:lstStyle/>
                    <a:p>
                      <a:r>
                        <a:rPr sz="1000">
                          <a:solidFill>
                            <a:srgbClr val="404040"/>
                          </a:solidFill>
                          <a:latin typeface="Calibri"/>
                        </a:rPr>
                        <a:t>11.3-fold increase</a:t>
                      </a:r>
                    </a:p>
                  </a:txBody>
                  <a:tcPr>
                    <a:solidFill>
                      <a:srgbClr val="FFFFFF"/>
                    </a:solidFill>
                  </a:tcPr>
                </a:tc>
                <a:tc>
                  <a:txBody>
                    <a:bodyPr/>
                    <a:lstStyle/>
                    <a:p>
                      <a:r>
                        <a:rPr sz="1000">
                          <a:solidFill>
                            <a:srgbClr val="404040"/>
                          </a:solidFill>
                          <a:latin typeface="Calibri"/>
                        </a:rPr>
                        <a:t>31193511</a:t>
                      </a:r>
                    </a:p>
                  </a:txBody>
                  <a:tcPr>
                    <a:solidFill>
                      <a:srgbClr val="FFFFFF"/>
                    </a:solidFill>
                  </a:tcPr>
                </a:tc>
              </a:tr>
              <a:tr h="342900">
                <a:tc>
                  <a:txBody>
                    <a:bodyPr/>
                    <a:lstStyle/>
                    <a:p>
                      <a:r>
                        <a:rPr sz="1000">
                          <a:solidFill>
                            <a:srgbClr val="404040"/>
                          </a:solidFill>
                          <a:latin typeface="Calibri"/>
                        </a:rPr>
                        <a:t>Targeted gene deletions</a:t>
                      </a:r>
                    </a:p>
                  </a:txBody>
                  <a:tcPr>
                    <a:solidFill>
                      <a:srgbClr val="F2F2F2"/>
                    </a:solidFill>
                  </a:tcPr>
                </a:tc>
                <a:tc>
                  <a:txBody>
                    <a:bodyPr/>
                    <a:lstStyle/>
                    <a:p>
                      <a:r>
                        <a:rPr sz="1000">
                          <a:solidFill>
                            <a:srgbClr val="404040"/>
                          </a:solidFill>
                          <a:latin typeface="Calibri"/>
                        </a:rPr>
                        <a:t>107.3% over parent strain</a:t>
                      </a:r>
                    </a:p>
                  </a:txBody>
                  <a:tcPr>
                    <a:solidFill>
                      <a:srgbClr val="F2F2F2"/>
                    </a:solidFill>
                  </a:tcPr>
                </a:tc>
                <a:tc>
                  <a:txBody>
                    <a:bodyPr/>
                    <a:lstStyle/>
                    <a:p>
                      <a:r>
                        <a:rPr sz="1000">
                          <a:solidFill>
                            <a:srgbClr val="404040"/>
                          </a:solidFill>
                          <a:latin typeface="Calibri"/>
                        </a:rPr>
                        <a:t>—</a:t>
                      </a:r>
                    </a:p>
                  </a:txBody>
                  <a:tcPr>
                    <a:solidFill>
                      <a:srgbClr val="F2F2F2"/>
                    </a:solidFill>
                  </a:tcPr>
                </a:tc>
              </a:tr>
              <a:tr h="342900">
                <a:tc>
                  <a:txBody>
                    <a:bodyPr/>
                    <a:lstStyle/>
                    <a:p>
                      <a:r>
                        <a:rPr sz="1000">
                          <a:solidFill>
                            <a:srgbClr val="404040"/>
                          </a:solidFill>
                          <a:latin typeface="Calibri"/>
                        </a:rPr>
                        <a:t>H2O2 reduction</a:t>
                      </a:r>
                    </a:p>
                  </a:txBody>
                  <a:tcPr>
                    <a:solidFill>
                      <a:srgbClr val="FFFFFF"/>
                    </a:solidFill>
                  </a:tcPr>
                </a:tc>
                <a:tc>
                  <a:txBody>
                    <a:bodyPr/>
                    <a:lstStyle/>
                    <a:p>
                      <a:r>
                        <a:rPr sz="1000">
                          <a:solidFill>
                            <a:srgbClr val="404040"/>
                          </a:solidFill>
                          <a:latin typeface="Calibri"/>
                        </a:rPr>
                        <a:t>78.9% decrease</a:t>
                      </a:r>
                    </a:p>
                  </a:txBody>
                  <a:tcPr>
                    <a:solidFill>
                      <a:srgbClr val="FFFFFF"/>
                    </a:solidFill>
                  </a:tcPr>
                </a:tc>
                <a:tc>
                  <a:txBody>
                    <a:bodyPr/>
                    <a:lstStyle/>
                    <a:p>
                      <a:r>
                        <a:rPr sz="1000">
                          <a:solidFill>
                            <a:srgbClr val="404040"/>
                          </a:solidFill>
                          <a:latin typeface="Calibri"/>
                        </a:rPr>
                        <a:t>—</a:t>
                      </a:r>
                    </a:p>
                  </a:txBody>
                  <a:tcPr>
                    <a:solidFill>
                      <a:srgbClr val="FFFFFF"/>
                    </a:solidFill>
                  </a:tcPr>
                </a:tc>
              </a:tr>
              <a:tr h="342900">
                <a:tc>
                  <a:txBody>
                    <a:bodyPr/>
                    <a:lstStyle/>
                    <a:p>
                      <a:r>
                        <a:rPr sz="1000">
                          <a:solidFill>
                            <a:srgbClr val="404040"/>
                          </a:solidFill>
                          <a:latin typeface="Calibri"/>
                        </a:rPr>
                        <a:t>Glucose carbon source titer</a:t>
                      </a:r>
                    </a:p>
                  </a:txBody>
                  <a:tcPr>
                    <a:solidFill>
                      <a:srgbClr val="F2F2F2"/>
                    </a:solidFill>
                  </a:tcPr>
                </a:tc>
                <a:tc>
                  <a:txBody>
                    <a:bodyPr/>
                    <a:lstStyle/>
                    <a:p>
                      <a:r>
                        <a:rPr sz="1000">
                          <a:solidFill>
                            <a:srgbClr val="404040"/>
                          </a:solidFill>
                          <a:latin typeface="Calibri"/>
                        </a:rPr>
                        <a:t>107.22 mg/L</a:t>
                      </a:r>
                    </a:p>
                  </a:txBody>
                  <a:tcPr>
                    <a:solidFill>
                      <a:srgbClr val="F2F2F2"/>
                    </a:solidFill>
                  </a:tcPr>
                </a:tc>
                <a:tc>
                  <a:txBody>
                    <a:bodyPr/>
                    <a:lstStyle/>
                    <a:p>
                      <a:r>
                        <a:rPr sz="1000">
                          <a:solidFill>
                            <a:srgbClr val="404040"/>
                          </a:solidFill>
                          <a:latin typeface="Calibri"/>
                        </a:rPr>
                        <a:t>18633963</a:t>
                      </a:r>
                    </a:p>
                  </a:txBody>
                  <a:tcPr>
                    <a:solidFill>
                      <a:srgbClr val="F2F2F2"/>
                    </a:solidFill>
                  </a:tcPr>
                </a:tc>
              </a:tr>
              <a:tr h="342900">
                <a:tc>
                  <a:txBody>
                    <a:bodyPr/>
                    <a:lstStyle/>
                    <a:p>
                      <a:r>
                        <a:rPr sz="1000">
                          <a:solidFill>
                            <a:srgbClr val="404040"/>
                          </a:solidFill>
                          <a:latin typeface="Calibri"/>
                        </a:rPr>
                        <a:t>Highest reported yield (Y. lipolytica)</a:t>
                      </a:r>
                    </a:p>
                  </a:txBody>
                  <a:tcPr>
                    <a:solidFill>
                      <a:srgbClr val="FFFFFF"/>
                    </a:solidFill>
                  </a:tcPr>
                </a:tc>
                <a:tc>
                  <a:txBody>
                    <a:bodyPr/>
                    <a:lstStyle/>
                    <a:p>
                      <a:r>
                        <a:rPr sz="1000">
                          <a:solidFill>
                            <a:srgbClr val="404040"/>
                          </a:solidFill>
                          <a:latin typeface="Calibri"/>
                        </a:rPr>
                        <a:t>142 mg/L</a:t>
                      </a:r>
                    </a:p>
                  </a:txBody>
                  <a:tcPr>
                    <a:solidFill>
                      <a:srgbClr val="FFFFFF"/>
                    </a:solidFill>
                  </a:tcPr>
                </a:tc>
                <a:tc>
                  <a:txBody>
                    <a:bodyPr/>
                    <a:lstStyle/>
                    <a:p>
                      <a:r>
                        <a:rPr sz="1000">
                          <a:solidFill>
                            <a:srgbClr val="404040"/>
                          </a:solidFill>
                          <a:latin typeface="Calibri"/>
                        </a:rPr>
                        <a:t>34983533</a:t>
                      </a:r>
                    </a:p>
                  </a:txBody>
                  <a:tcPr>
                    <a:solidFill>
                      <a:srgbClr val="FFFFFF"/>
                    </a:solidFill>
                  </a:tcPr>
                </a:tc>
              </a:tr>
              <a:tr h="342900">
                <a:tc>
                  <a:txBody>
                    <a:bodyPr/>
                    <a:lstStyle/>
                    <a:p>
                      <a:r>
                        <a:rPr sz="1000">
                          <a:solidFill>
                            <a:srgbClr val="404040"/>
                          </a:solidFill>
                          <a:latin typeface="Calibri"/>
                        </a:rPr>
                        <a:t>Astaxanthin (E. coli)</a:t>
                      </a:r>
                    </a:p>
                  </a:txBody>
                  <a:tcPr>
                    <a:solidFill>
                      <a:srgbClr val="F2F2F2"/>
                    </a:solidFill>
                  </a:tcPr>
                </a:tc>
                <a:tc>
                  <a:txBody>
                    <a:bodyPr/>
                    <a:lstStyle/>
                    <a:p>
                      <a:r>
                        <a:rPr sz="1000">
                          <a:solidFill>
                            <a:srgbClr val="404040"/>
                          </a:solidFill>
                          <a:latin typeface="Calibri"/>
                        </a:rPr>
                        <a:t>225 mg/L</a:t>
                      </a:r>
                    </a:p>
                  </a:txBody>
                  <a:tcPr>
                    <a:solidFill>
                      <a:srgbClr val="F2F2F2"/>
                    </a:solidFill>
                  </a:tcPr>
                </a:tc>
                <a:tc>
                  <a:txBody>
                    <a:bodyPr/>
                    <a:lstStyle/>
                    <a:p>
                      <a:r>
                        <a:rPr sz="1000">
                          <a:solidFill>
                            <a:srgbClr val="404040"/>
                          </a:solidFill>
                          <a:latin typeface="Calibri"/>
                        </a:rPr>
                        <a:t>20711573</a:t>
                      </a:r>
                    </a:p>
                  </a:txBody>
                  <a:tcPr>
                    <a:solidFill>
                      <a:srgbClr val="F2F2F2"/>
                    </a:solidFill>
                  </a:tcPr>
                </a:tc>
              </a:tr>
              <a:tr h="342900">
                <a:tc>
                  <a:txBody>
                    <a:bodyPr/>
                    <a:lstStyle/>
                    <a:p>
                      <a:r>
                        <a:rPr sz="1000">
                          <a:solidFill>
                            <a:srgbClr val="404040"/>
                          </a:solidFill>
                          <a:latin typeface="Calibri"/>
                        </a:rPr>
                        <a:t>Specific productivity</a:t>
                      </a:r>
                    </a:p>
                  </a:txBody>
                  <a:tcPr>
                    <a:solidFill>
                      <a:srgbClr val="FFFFFF"/>
                    </a:solidFill>
                  </a:tcPr>
                </a:tc>
                <a:tc>
                  <a:txBody>
                    <a:bodyPr/>
                    <a:lstStyle/>
                    <a:p>
                      <a:r>
                        <a:rPr sz="1000">
                          <a:solidFill>
                            <a:srgbClr val="404040"/>
                          </a:solidFill>
                          <a:latin typeface="Calibri"/>
                        </a:rPr>
                        <a:t>0.165 g/L/h</a:t>
                      </a:r>
                    </a:p>
                  </a:txBody>
                  <a:tcPr>
                    <a:solidFill>
                      <a:srgbClr val="FFFFFF"/>
                    </a:solidFill>
                  </a:tcPr>
                </a:tc>
                <a:tc>
                  <a:txBody>
                    <a:bodyPr/>
                    <a:lstStyle/>
                    <a:p>
                      <a:r>
                        <a:rPr sz="1000">
                          <a:solidFill>
                            <a:srgbClr val="404040"/>
                          </a:solidFill>
                          <a:latin typeface="Calibri"/>
                        </a:rPr>
                        <a:t>—</a:t>
                      </a:r>
                    </a:p>
                  </a:txBody>
                  <a:tcPr>
                    <a:solidFill>
                      <a:srgbClr val="FFFFFF"/>
                    </a:solidFill>
                  </a:tcPr>
                </a:tc>
              </a:tr>
            </a:tbl>
          </a:graphicData>
        </a:graphic>
      </p:graphicFrame>
      <p:sp>
        <p:nvSpPr>
          <p:cNvPr id="16" name="TextBox 15"/>
          <p:cNvSpPr txBox="1"/>
          <p:nvPr/>
        </p:nvSpPr>
        <p:spPr>
          <a:xfrm>
            <a:off x="6080760" y="5138928"/>
            <a:ext cx="5806440" cy="329184"/>
          </a:xfrm>
          <a:prstGeom prst="rect">
            <a:avLst/>
          </a:prstGeom>
          <a:noFill/>
        </p:spPr>
        <p:txBody>
          <a:bodyPr wrap="square">
            <a:spAutoFit/>
          </a:bodyPr>
          <a:lstStyle/>
          <a:p>
            <a:pPr algn="l"/>
            <a:r>
              <a:rPr sz="1200" b="1" i="0">
                <a:solidFill>
                  <a:srgbClr val="1F3864"/>
                </a:solidFill>
                <a:latin typeface="Calibri"/>
              </a:rPr>
              <a:t>Source Tracing</a:t>
            </a:r>
          </a:p>
        </p:txBody>
      </p:sp>
      <p:sp>
        <p:nvSpPr>
          <p:cNvPr id="17" name="TextBox 16"/>
          <p:cNvSpPr txBox="1"/>
          <p:nvPr/>
        </p:nvSpPr>
        <p:spPr>
          <a:xfrm>
            <a:off x="6080760" y="5504688"/>
            <a:ext cx="5806440" cy="731520"/>
          </a:xfrm>
          <a:prstGeom prst="rect">
            <a:avLst/>
          </a:prstGeom>
          <a:noFill/>
        </p:spPr>
        <p:txBody>
          <a:bodyPr wrap="square">
            <a:spAutoFit/>
          </a:bodyPr>
          <a:lstStyle/>
          <a:p>
            <a:pPr algn="l"/>
            <a:r>
              <a:rPr sz="1000" b="0" i="1">
                <a:solidFill>
                  <a:srgbClr val="404040"/>
                </a:solidFill>
                <a:latin typeface="Calibri"/>
              </a:rPr>
              <a:t>Generated from 50 semantically retrieved triples  |  23 source papers synthesized  |  Every quantitative value (11.3-fold, 107.22 mg/L, 142 mg/L, 78.9%) traceable to a specific PMID  |  NO LLM training-data content used</a:t>
            </a:r>
          </a:p>
        </p:txBody>
      </p:sp>
      <p:sp>
        <p:nvSpPr>
          <p:cNvPr id="18" name="Rounded Rectangle 17"/>
          <p:cNvSpPr/>
          <p:nvPr/>
        </p:nvSpPr>
        <p:spPr>
          <a:xfrm>
            <a:off x="274320" y="6263640"/>
            <a:ext cx="11640312" cy="438912"/>
          </a:xfrm>
          <a:prstGeom prst="roundRect">
            <a:avLst/>
          </a:prstGeom>
          <a:solidFill>
            <a:srgbClr val="D5E8D4"/>
          </a:solidFill>
          <a:ln w="10160">
            <a:solidFill>
              <a:srgbClr val="1A6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309360"/>
            <a:ext cx="11247120" cy="347472"/>
          </a:xfrm>
          <a:prstGeom prst="rect">
            <a:avLst/>
          </a:prstGeom>
          <a:noFill/>
        </p:spPr>
        <p:txBody>
          <a:bodyPr wrap="square">
            <a:spAutoFit/>
          </a:bodyPr>
          <a:lstStyle/>
          <a:p>
            <a:pPr algn="l">
              <a:spcBef>
                <a:spcPts val="300"/>
              </a:spcBef>
            </a:pPr>
            <a:r>
              <a:rPr sz="1100" b="1">
                <a:solidFill>
                  <a:srgbClr val="1A6B1A"/>
                </a:solidFill>
                <a:latin typeface="Calibri"/>
              </a:rPr>
              <a:t>✓  Typed relations  |  PMID per claim  |  Specific yields &amp; genes  |  23 papers synthesized  |  Verifiable  |  NL query accepted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Output Quality Criteria — BTP1 / NEKO vs.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11640312" cy="5321808"/>
        </p:xfrm>
        <a:graphic>
          <a:graphicData uri="http://schemas.openxmlformats.org/drawingml/2006/table">
            <a:tbl>
              <a:tblPr firstRow="1" bandRow="1">
                <a:tableStyleId>{5C22544A-7EE6-4342-B048-85BDC9FD1C3A}</a:tableStyleId>
              </a:tblPr>
              <a:tblGrid>
                <a:gridCol w="2560320"/>
                <a:gridCol w="3931920"/>
                <a:gridCol w="5148072"/>
              </a:tblGrid>
              <a:tr h="409369">
                <a:tc>
                  <a:txBody>
                    <a:bodyPr/>
                    <a:lstStyle/>
                    <a:p>
                      <a:pPr algn="ctr"/>
                      <a:r>
                        <a:rPr b="1" sz="1000">
                          <a:solidFill>
                            <a:srgbClr val="FFFFFF"/>
                          </a:solidFill>
                          <a:latin typeface="Calibri"/>
                        </a:rPr>
                        <a:t>Criterion</a:t>
                      </a:r>
                    </a:p>
                  </a:txBody>
                  <a:tcPr>
                    <a:solidFill>
                      <a:srgbClr val="1F3864"/>
                    </a:solidFill>
                  </a:tcPr>
                </a:tc>
                <a:tc>
                  <a:txBody>
                    <a:bodyPr/>
                    <a:lstStyle/>
                    <a:p>
                      <a:pPr algn="ctr"/>
                      <a:r>
                        <a:rPr b="1" sz="1000">
                          <a:solidFill>
                            <a:srgbClr val="FFFFFF"/>
                          </a:solidFill>
                          <a:latin typeface="Calibri"/>
                        </a:rPr>
                        <a:t>BTP1 / NEKO-Style</a:t>
                      </a:r>
                    </a:p>
                  </a:txBody>
                  <a:tcPr>
                    <a:solidFill>
                      <a:srgbClr val="1F3864"/>
                    </a:solidFill>
                  </a:tcPr>
                </a:tc>
                <a:tc>
                  <a:txBody>
                    <a:bodyPr/>
                    <a:lstStyle/>
                    <a:p>
                      <a:pPr algn="ctr"/>
                      <a:r>
                        <a:rPr b="1" sz="1000">
                          <a:solidFill>
                            <a:srgbClr val="FFFFFF"/>
                          </a:solidFill>
                          <a:latin typeface="Calibri"/>
                        </a:rPr>
                        <a:t>KGMiner (Actual)</a:t>
                      </a:r>
                    </a:p>
                  </a:txBody>
                  <a:tcPr>
                    <a:solidFill>
                      <a:srgbClr val="1F3864"/>
                    </a:solidFill>
                  </a:tcPr>
                </a:tc>
              </a:tr>
              <a:tr h="409369">
                <a:tc>
                  <a:txBody>
                    <a:bodyPr/>
                    <a:lstStyle/>
                    <a:p>
                      <a:r>
                        <a:rPr sz="900">
                          <a:solidFill>
                            <a:srgbClr val="404040"/>
                          </a:solidFill>
                          <a:latin typeface="Calibri"/>
                        </a:rPr>
                        <a:t>Query type</a:t>
                      </a:r>
                    </a:p>
                  </a:txBody>
                  <a:tcPr>
                    <a:solidFill>
                      <a:srgbClr val="FFFFFF"/>
                    </a:solidFill>
                  </a:tcPr>
                </a:tc>
                <a:tc>
                  <a:txBody>
                    <a:bodyPr/>
                    <a:lstStyle/>
                    <a:p>
                      <a:r>
                        <a:rPr sz="900">
                          <a:solidFill>
                            <a:srgbClr val="404040"/>
                          </a:solidFill>
                          <a:latin typeface="Calibri"/>
                        </a:rPr>
                        <a:t>Keyword only — exact entity name required</a:t>
                      </a:r>
                    </a:p>
                  </a:txBody>
                  <a:tcPr>
                    <a:solidFill>
                      <a:srgbClr val="FFFFFF"/>
                    </a:solidFill>
                  </a:tcPr>
                </a:tc>
                <a:tc>
                  <a:txBody>
                    <a:bodyPr/>
                    <a:lstStyle/>
                    <a:p>
                      <a:r>
                        <a:rPr sz="900">
                          <a:solidFill>
                            <a:srgbClr val="404040"/>
                          </a:solidFill>
                          <a:latin typeface="Calibri"/>
                        </a:rPr>
                        <a:t>Full natural language sentence</a:t>
                      </a:r>
                    </a:p>
                  </a:txBody>
                  <a:tcPr>
                    <a:solidFill>
                      <a:srgbClr val="FFFFFF"/>
                    </a:solidFill>
                  </a:tcPr>
                </a:tc>
              </a:tr>
              <a:tr h="409369">
                <a:tc>
                  <a:txBody>
                    <a:bodyPr/>
                    <a:lstStyle/>
                    <a:p>
                      <a:r>
                        <a:rPr sz="900">
                          <a:solidFill>
                            <a:srgbClr val="404040"/>
                          </a:solidFill>
                          <a:latin typeface="Calibri"/>
                        </a:rPr>
                        <a:t>Relation types</a:t>
                      </a:r>
                    </a:p>
                  </a:txBody>
                  <a:tcPr>
                    <a:solidFill>
                      <a:srgbClr val="F2F2F2"/>
                    </a:solidFill>
                  </a:tcPr>
                </a:tc>
                <a:tc>
                  <a:txBody>
                    <a:bodyPr/>
                    <a:lstStyle/>
                    <a:p>
                      <a:r>
                        <a:rPr sz="900">
                          <a:solidFill>
                            <a:srgbClr val="404040"/>
                          </a:solidFill>
                          <a:latin typeface="Calibri"/>
                        </a:rPr>
                        <a:t>None — entity list only</a:t>
                      </a:r>
                    </a:p>
                  </a:txBody>
                  <a:tcPr>
                    <a:solidFill>
                      <a:srgbClr val="F2F2F2"/>
                    </a:solidFill>
                  </a:tcPr>
                </a:tc>
                <a:tc>
                  <a:txBody>
                    <a:bodyPr/>
                    <a:lstStyle/>
                    <a:p>
                      <a:r>
                        <a:rPr sz="900">
                          <a:solidFill>
                            <a:srgbClr val="404040"/>
                          </a:solidFill>
                          <a:latin typeface="Calibri"/>
                        </a:rPr>
                        <a:t>13 typed (activates, produces, has_metric…)</a:t>
                      </a:r>
                    </a:p>
                  </a:txBody>
                  <a:tcPr>
                    <a:solidFill>
                      <a:srgbClr val="F2F2F2"/>
                    </a:solidFill>
                  </a:tcPr>
                </a:tc>
              </a:tr>
              <a:tr h="409369">
                <a:tc>
                  <a:txBody>
                    <a:bodyPr/>
                    <a:lstStyle/>
                    <a:p>
                      <a:r>
                        <a:rPr sz="900">
                          <a:solidFill>
                            <a:srgbClr val="404040"/>
                          </a:solidFill>
                          <a:latin typeface="Calibri"/>
                        </a:rPr>
                        <a:t>Quantitative data</a:t>
                      </a:r>
                    </a:p>
                  </a:txBody>
                  <a:tcPr>
                    <a:solidFill>
                      <a:srgbClr val="FFFFFF"/>
                    </a:solidFill>
                  </a:tcPr>
                </a:tc>
                <a:tc>
                  <a:txBody>
                    <a:bodyPr/>
                    <a:lstStyle/>
                    <a:p>
                      <a:r>
                        <a:rPr sz="900">
                          <a:solidFill>
                            <a:srgbClr val="404040"/>
                          </a:solidFill>
                          <a:latin typeface="Calibri"/>
                        </a:rPr>
                        <a:t>Absent — no yield values, no fold-changes</a:t>
                      </a:r>
                    </a:p>
                  </a:txBody>
                  <a:tcPr>
                    <a:solidFill>
                      <a:srgbClr val="FFFFFF"/>
                    </a:solidFill>
                  </a:tcPr>
                </a:tc>
                <a:tc>
                  <a:txBody>
                    <a:bodyPr/>
                    <a:lstStyle/>
                    <a:p>
                      <a:r>
                        <a:rPr sz="900">
                          <a:solidFill>
                            <a:srgbClr val="404040"/>
                          </a:solidFill>
                          <a:latin typeface="Calibri"/>
                        </a:rPr>
                        <a:t>11.3×,  107.22 mg/L,  142 mg/L,  78.9%,  225 mg/L</a:t>
                      </a:r>
                    </a:p>
                  </a:txBody>
                  <a:tcPr>
                    <a:solidFill>
                      <a:srgbClr val="FFFFFF"/>
                    </a:solidFill>
                  </a:tcPr>
                </a:tc>
              </a:tr>
              <a:tr h="409369">
                <a:tc>
                  <a:txBody>
                    <a:bodyPr/>
                    <a:lstStyle/>
                    <a:p>
                      <a:r>
                        <a:rPr sz="900">
                          <a:solidFill>
                            <a:srgbClr val="404040"/>
                          </a:solidFill>
                          <a:latin typeface="Calibri"/>
                        </a:rPr>
                        <a:t>Source citations</a:t>
                      </a:r>
                    </a:p>
                  </a:txBody>
                  <a:tcPr>
                    <a:solidFill>
                      <a:srgbClr val="F2F2F2"/>
                    </a:solidFill>
                  </a:tcPr>
                </a:tc>
                <a:tc>
                  <a:txBody>
                    <a:bodyPr/>
                    <a:lstStyle/>
                    <a:p>
                      <a:r>
                        <a:rPr sz="900">
                          <a:solidFill>
                            <a:srgbClr val="404040"/>
                          </a:solidFill>
                          <a:latin typeface="Calibri"/>
                        </a:rPr>
                        <a:t>None</a:t>
                      </a:r>
                    </a:p>
                  </a:txBody>
                  <a:tcPr>
                    <a:solidFill>
                      <a:srgbClr val="F2F2F2"/>
                    </a:solidFill>
                  </a:tcPr>
                </a:tc>
                <a:tc>
                  <a:txBody>
                    <a:bodyPr/>
                    <a:lstStyle/>
                    <a:p>
                      <a:r>
                        <a:rPr sz="900">
                          <a:solidFill>
                            <a:srgbClr val="404040"/>
                          </a:solidFill>
                          <a:latin typeface="Calibri"/>
                        </a:rPr>
                        <a:t>PMID traceable for every quantitative claim</a:t>
                      </a:r>
                    </a:p>
                  </a:txBody>
                  <a:tcPr>
                    <a:solidFill>
                      <a:srgbClr val="F2F2F2"/>
                    </a:solidFill>
                  </a:tcPr>
                </a:tc>
              </a:tr>
              <a:tr h="409369">
                <a:tc>
                  <a:txBody>
                    <a:bodyPr/>
                    <a:lstStyle/>
                    <a:p>
                      <a:r>
                        <a:rPr sz="900">
                          <a:solidFill>
                            <a:srgbClr val="404040"/>
                          </a:solidFill>
                          <a:latin typeface="Calibri"/>
                        </a:rPr>
                        <a:t>Hallucination risk</a:t>
                      </a:r>
                    </a:p>
                  </a:txBody>
                  <a:tcPr>
                    <a:solidFill>
                      <a:srgbClr val="FFFFFF"/>
                    </a:solidFill>
                  </a:tcPr>
                </a:tc>
                <a:tc>
                  <a:txBody>
                    <a:bodyPr/>
                    <a:lstStyle/>
                    <a:p>
                      <a:r>
                        <a:rPr sz="900">
                          <a:solidFill>
                            <a:srgbClr val="404040"/>
                          </a:solidFill>
                          <a:latin typeface="Calibri"/>
                        </a:rPr>
                        <a:t>High — LLM uses training knowledge freely</a:t>
                      </a:r>
                    </a:p>
                  </a:txBody>
                  <a:tcPr>
                    <a:solidFill>
                      <a:srgbClr val="FFFFFF"/>
                    </a:solidFill>
                  </a:tcPr>
                </a:tc>
                <a:tc>
                  <a:txBody>
                    <a:bodyPr/>
                    <a:lstStyle/>
                    <a:p>
                      <a:r>
                        <a:rPr sz="900">
                          <a:solidFill>
                            <a:srgbClr val="404040"/>
                          </a:solidFill>
                          <a:latin typeface="Calibri"/>
                        </a:rPr>
                        <a:t>Low — restricted strictly to extracted triples</a:t>
                      </a:r>
                    </a:p>
                  </a:txBody>
                  <a:tcPr>
                    <a:solidFill>
                      <a:srgbClr val="FFFFFF"/>
                    </a:solidFill>
                  </a:tcPr>
                </a:tc>
              </a:tr>
              <a:tr h="409369">
                <a:tc>
                  <a:txBody>
                    <a:bodyPr/>
                    <a:lstStyle/>
                    <a:p>
                      <a:r>
                        <a:rPr sz="900">
                          <a:solidFill>
                            <a:srgbClr val="404040"/>
                          </a:solidFill>
                          <a:latin typeface="Calibri"/>
                        </a:rPr>
                        <a:t>Mechanistic detail</a:t>
                      </a:r>
                    </a:p>
                  </a:txBody>
                  <a:tcPr>
                    <a:solidFill>
                      <a:srgbClr val="F2F2F2"/>
                    </a:solidFill>
                  </a:tcPr>
                </a:tc>
                <a:tc>
                  <a:txBody>
                    <a:bodyPr/>
                    <a:lstStyle/>
                    <a:p>
                      <a:r>
                        <a:rPr sz="900">
                          <a:solidFill>
                            <a:srgbClr val="404040"/>
                          </a:solidFill>
                          <a:latin typeface="Calibri"/>
                        </a:rPr>
                        <a:t>Generic ('associated with', 'affects')</a:t>
                      </a:r>
                    </a:p>
                  </a:txBody>
                  <a:tcPr>
                    <a:solidFill>
                      <a:srgbClr val="F2F2F2"/>
                    </a:solidFill>
                  </a:tcPr>
                </a:tc>
                <a:tc>
                  <a:txBody>
                    <a:bodyPr/>
                    <a:lstStyle/>
                    <a:p>
                      <a:r>
                        <a:rPr sz="900">
                          <a:solidFill>
                            <a:srgbClr val="404040"/>
                          </a:solidFill>
                          <a:latin typeface="Calibri"/>
                        </a:rPr>
                        <a:t>Specific enzyme targets, gene strategies, pathways</a:t>
                      </a:r>
                    </a:p>
                  </a:txBody>
                  <a:tcPr>
                    <a:solidFill>
                      <a:srgbClr val="F2F2F2"/>
                    </a:solidFill>
                  </a:tcPr>
                </a:tc>
              </a:tr>
              <a:tr h="409369">
                <a:tc>
                  <a:txBody>
                    <a:bodyPr/>
                    <a:lstStyle/>
                    <a:p>
                      <a:r>
                        <a:rPr sz="900">
                          <a:solidFill>
                            <a:srgbClr val="404040"/>
                          </a:solidFill>
                          <a:latin typeface="Calibri"/>
                        </a:rPr>
                        <a:t>Papers synthesized</a:t>
                      </a:r>
                    </a:p>
                  </a:txBody>
                  <a:tcPr>
                    <a:solidFill>
                      <a:srgbClr val="FFFFFF"/>
                    </a:solidFill>
                  </a:tcPr>
                </a:tc>
                <a:tc>
                  <a:txBody>
                    <a:bodyPr/>
                    <a:lstStyle/>
                    <a:p>
                      <a:r>
                        <a:rPr sz="900">
                          <a:solidFill>
                            <a:srgbClr val="404040"/>
                          </a:solidFill>
                          <a:latin typeface="Calibri"/>
                        </a:rPr>
                        <a:t>Single graph traversal</a:t>
                      </a:r>
                    </a:p>
                  </a:txBody>
                  <a:tcPr>
                    <a:solidFill>
                      <a:srgbClr val="FFFFFF"/>
                    </a:solidFill>
                  </a:tcPr>
                </a:tc>
                <a:tc>
                  <a:txBody>
                    <a:bodyPr/>
                    <a:lstStyle/>
                    <a:p>
                      <a:r>
                        <a:rPr sz="900">
                          <a:solidFill>
                            <a:srgbClr val="404040"/>
                          </a:solidFill>
                          <a:latin typeface="Calibri"/>
                        </a:rPr>
                        <a:t>23 papers, 50 triples in one answer</a:t>
                      </a:r>
                    </a:p>
                  </a:txBody>
                  <a:tcPr>
                    <a:solidFill>
                      <a:srgbClr val="FFFFFF"/>
                    </a:solidFill>
                  </a:tcPr>
                </a:tc>
              </a:tr>
              <a:tr h="409369">
                <a:tc>
                  <a:txBody>
                    <a:bodyPr/>
                    <a:lstStyle/>
                    <a:p>
                      <a:r>
                        <a:rPr sz="900">
                          <a:solidFill>
                            <a:srgbClr val="404040"/>
                          </a:solidFill>
                          <a:latin typeface="Calibri"/>
                        </a:rPr>
                        <a:t>Output structure</a:t>
                      </a:r>
                    </a:p>
                  </a:txBody>
                  <a:tcPr>
                    <a:solidFill>
                      <a:srgbClr val="F2F2F2"/>
                    </a:solidFill>
                  </a:tcPr>
                </a:tc>
                <a:tc>
                  <a:txBody>
                    <a:bodyPr/>
                    <a:lstStyle/>
                    <a:p>
                      <a:r>
                        <a:rPr sz="900">
                          <a:solidFill>
                            <a:srgbClr val="404040"/>
                          </a:solidFill>
                          <a:latin typeface="Calibri"/>
                        </a:rPr>
                        <a:t>Paragraph summary, no sections</a:t>
                      </a:r>
                    </a:p>
                  </a:txBody>
                  <a:tcPr>
                    <a:solidFill>
                      <a:srgbClr val="F2F2F2"/>
                    </a:solidFill>
                  </a:tcPr>
                </a:tc>
                <a:tc>
                  <a:txBody>
                    <a:bodyPr/>
                    <a:lstStyle/>
                    <a:p>
                      <a:r>
                        <a:rPr sz="900">
                          <a:solidFill>
                            <a:srgbClr val="404040"/>
                          </a:solidFill>
                          <a:latin typeface="Calibri"/>
                        </a:rPr>
                        <a:t>Structured report: sections + tables + metrics</a:t>
                      </a:r>
                    </a:p>
                  </a:txBody>
                  <a:tcPr>
                    <a:solidFill>
                      <a:srgbClr val="F2F2F2"/>
                    </a:solidFill>
                  </a:tcPr>
                </a:tc>
              </a:tr>
              <a:tr h="409369">
                <a:tc>
                  <a:txBody>
                    <a:bodyPr/>
                    <a:lstStyle/>
                    <a:p>
                      <a:r>
                        <a:rPr sz="900">
                          <a:solidFill>
                            <a:srgbClr val="404040"/>
                          </a:solidFill>
                          <a:latin typeface="Calibri"/>
                        </a:rPr>
                        <a:t>Metric tracing</a:t>
                      </a:r>
                    </a:p>
                  </a:txBody>
                  <a:tcPr>
                    <a:solidFill>
                      <a:srgbClr val="FFFFFF"/>
                    </a:solidFill>
                  </a:tcPr>
                </a:tc>
                <a:tc>
                  <a:txBody>
                    <a:bodyPr/>
                    <a:lstStyle/>
                    <a:p>
                      <a:r>
                        <a:rPr sz="900">
                          <a:solidFill>
                            <a:srgbClr val="404040"/>
                          </a:solidFill>
                          <a:latin typeface="Calibri"/>
                        </a:rPr>
                        <a:t>No — values not separated from entity names</a:t>
                      </a:r>
                    </a:p>
                  </a:txBody>
                  <a:tcPr>
                    <a:solidFill>
                      <a:srgbClr val="FFFFFF"/>
                    </a:solidFill>
                  </a:tcPr>
                </a:tc>
                <a:tc>
                  <a:txBody>
                    <a:bodyPr/>
                    <a:lstStyle/>
                    <a:p>
                      <a:r>
                        <a:rPr sz="900">
                          <a:solidFill>
                            <a:srgbClr val="404040"/>
                          </a:solidFill>
                          <a:latin typeface="Calibri"/>
                        </a:rPr>
                        <a:t>Yes — 598 has_metric triples, all sortable</a:t>
                      </a:r>
                    </a:p>
                  </a:txBody>
                  <a:tcPr>
                    <a:solidFill>
                      <a:srgbClr val="FFFFFF"/>
                    </a:solidFill>
                  </a:tcPr>
                </a:tc>
              </a:tr>
              <a:tr h="409369">
                <a:tc>
                  <a:txBody>
                    <a:bodyPr/>
                    <a:lstStyle/>
                    <a:p>
                      <a:r>
                        <a:rPr sz="900">
                          <a:solidFill>
                            <a:srgbClr val="404040"/>
                          </a:solidFill>
                          <a:latin typeface="Calibri"/>
                        </a:rPr>
                        <a:t>Actionability</a:t>
                      </a:r>
                    </a:p>
                  </a:txBody>
                  <a:tcPr>
                    <a:solidFill>
                      <a:srgbClr val="F2F2F2"/>
                    </a:solidFill>
                  </a:tcPr>
                </a:tc>
                <a:tc>
                  <a:txBody>
                    <a:bodyPr/>
                    <a:lstStyle/>
                    <a:p>
                      <a:r>
                        <a:rPr sz="900">
                          <a:solidFill>
                            <a:srgbClr val="404040"/>
                          </a:solidFill>
                          <a:latin typeface="Calibri"/>
                        </a:rPr>
                        <a:t>Low — cannot prioritize experiments</a:t>
                      </a:r>
                    </a:p>
                  </a:txBody>
                  <a:tcPr>
                    <a:solidFill>
                      <a:srgbClr val="F2F2F2"/>
                    </a:solidFill>
                  </a:tcPr>
                </a:tc>
                <a:tc>
                  <a:txBody>
                    <a:bodyPr/>
                    <a:lstStyle/>
                    <a:p>
                      <a:r>
                        <a:rPr sz="900">
                          <a:solidFill>
                            <a:srgbClr val="404040"/>
                          </a:solidFill>
                          <a:latin typeface="Calibri"/>
                        </a:rPr>
                        <a:t>High — specific genes, strains, titers, conditions</a:t>
                      </a:r>
                    </a:p>
                  </a:txBody>
                  <a:tcPr>
                    <a:solidFill>
                      <a:srgbClr val="F2F2F2"/>
                    </a:solidFill>
                  </a:tcPr>
                </a:tc>
              </a:tr>
              <a:tr h="409369">
                <a:tc>
                  <a:txBody>
                    <a:bodyPr/>
                    <a:lstStyle/>
                    <a:p>
                      <a:r>
                        <a:rPr sz="900">
                          <a:solidFill>
                            <a:srgbClr val="404040"/>
                          </a:solidFill>
                          <a:latin typeface="Calibri"/>
                        </a:rPr>
                        <a:t>Auditability</a:t>
                      </a:r>
                    </a:p>
                  </a:txBody>
                  <a:tcPr>
                    <a:solidFill>
                      <a:srgbClr val="FFFFFF"/>
                    </a:solidFill>
                  </a:tcPr>
                </a:tc>
                <a:tc>
                  <a:txBody>
                    <a:bodyPr/>
                    <a:lstStyle/>
                    <a:p>
                      <a:r>
                        <a:rPr sz="900">
                          <a:solidFill>
                            <a:srgbClr val="404040"/>
                          </a:solidFill>
                          <a:latin typeface="Calibri"/>
                        </a:rPr>
                        <a:t>None — cannot verify any claim</a:t>
                      </a:r>
                    </a:p>
                  </a:txBody>
                  <a:tcPr>
                    <a:solidFill>
                      <a:srgbClr val="FFFFFF"/>
                    </a:solidFill>
                  </a:tcPr>
                </a:tc>
                <a:tc>
                  <a:txBody>
                    <a:bodyPr/>
                    <a:lstStyle/>
                    <a:p>
                      <a:r>
                        <a:rPr sz="900">
                          <a:solidFill>
                            <a:srgbClr val="404040"/>
                          </a:solidFill>
                          <a:latin typeface="Calibri"/>
                        </a:rPr>
                        <a:t>Full — every sentence cites extracted triple + PMID</a:t>
                      </a:r>
                    </a:p>
                  </a:txBody>
                  <a:tcPr>
                    <a:solidFill>
                      <a:srgbClr val="FFFFFF"/>
                    </a:solidFill>
                  </a:tcPr>
                </a:tc>
              </a:tr>
              <a:tr h="409380">
                <a:tc>
                  <a:txBody>
                    <a:bodyPr/>
                    <a:lstStyle/>
                    <a:p>
                      <a:r>
                        <a:rPr sz="900">
                          <a:solidFill>
                            <a:srgbClr val="404040"/>
                          </a:solidFill>
                          <a:latin typeface="Calibri"/>
                        </a:rPr>
                        <a:t>Graph query type</a:t>
                      </a:r>
                    </a:p>
                  </a:txBody>
                  <a:tcPr>
                    <a:solidFill>
                      <a:srgbClr val="F2F2F2"/>
                    </a:solidFill>
                  </a:tcPr>
                </a:tc>
                <a:tc>
                  <a:txBody>
                    <a:bodyPr/>
                    <a:lstStyle/>
                    <a:p>
                      <a:r>
                        <a:rPr sz="900">
                          <a:solidFill>
                            <a:srgbClr val="404040"/>
                          </a:solidFill>
                          <a:latin typeface="Calibri"/>
                        </a:rPr>
                        <a:t>Keyword node lookup</a:t>
                      </a:r>
                    </a:p>
                  </a:txBody>
                  <a:tcPr>
                    <a:solidFill>
                      <a:srgbClr val="F2F2F2"/>
                    </a:solidFill>
                  </a:tcPr>
                </a:tc>
                <a:tc>
                  <a:txBody>
                    <a:bodyPr/>
                    <a:lstStyle/>
                    <a:p>
                      <a:r>
                        <a:rPr sz="900">
                          <a:solidFill>
                            <a:srgbClr val="404040"/>
                          </a:solidFill>
                          <a:latin typeface="Calibri"/>
                        </a:rPr>
                        <a:t>Semantic embedding cosine similarity (Top-50)</a:t>
                      </a:r>
                    </a:p>
                  </a:txBody>
                  <a:tcPr>
                    <a:solidFill>
                      <a:srgbClr val="F2F2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Results &amp; Discussion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Full Pipeline Comparison — BTP1 (NEKO) vs. BTP2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274320" y="1417320"/>
          <a:ext cx="11640312" cy="5321808"/>
        </p:xfrm>
        <a:graphic>
          <a:graphicData uri="http://schemas.openxmlformats.org/drawingml/2006/table">
            <a:tbl>
              <a:tblPr firstRow="1" bandRow="1">
                <a:tableStyleId>{5C22544A-7EE6-4342-B048-85BDC9FD1C3A}</a:tableStyleId>
              </a:tblPr>
              <a:tblGrid>
                <a:gridCol w="2560320"/>
                <a:gridCol w="2880360"/>
                <a:gridCol w="3182112"/>
                <a:gridCol w="3017520"/>
              </a:tblGrid>
              <a:tr h="313047">
                <a:tc>
                  <a:txBody>
                    <a:bodyPr/>
                    <a:lstStyle/>
                    <a:p>
                      <a:pPr algn="ctr"/>
                      <a:r>
                        <a:rPr b="1" sz="900">
                          <a:solidFill>
                            <a:srgbClr val="FFFFFF"/>
                          </a:solidFill>
                          <a:latin typeface="Calibri"/>
                        </a:rPr>
                        <a:t>Feature / Component</a:t>
                      </a:r>
                    </a:p>
                  </a:txBody>
                  <a:tcPr>
                    <a:solidFill>
                      <a:srgbClr val="1F3864"/>
                    </a:solidFill>
                  </a:tcPr>
                </a:tc>
                <a:tc>
                  <a:txBody>
                    <a:bodyPr/>
                    <a:lstStyle/>
                    <a:p>
                      <a:pPr algn="ctr"/>
                      <a:r>
                        <a:rPr b="1" sz="900">
                          <a:solidFill>
                            <a:srgbClr val="FFFFFF"/>
                          </a:solidFill>
                          <a:latin typeface="Calibri"/>
                        </a:rPr>
                        <a:t>BTP1 — NEKO Implementation</a:t>
                      </a:r>
                    </a:p>
                  </a:txBody>
                  <a:tcPr>
                    <a:solidFill>
                      <a:srgbClr val="1F3864"/>
                    </a:solidFill>
                  </a:tcPr>
                </a:tc>
                <a:tc>
                  <a:txBody>
                    <a:bodyPr/>
                    <a:lstStyle/>
                    <a:p>
                      <a:pPr algn="ctr"/>
                      <a:r>
                        <a:rPr b="1" sz="900">
                          <a:solidFill>
                            <a:srgbClr val="FFFFFF"/>
                          </a:solidFill>
                          <a:latin typeface="Calibri"/>
                        </a:rPr>
                        <a:t>BTP2 — KGMiner</a:t>
                      </a:r>
                    </a:p>
                  </a:txBody>
                  <a:tcPr>
                    <a:solidFill>
                      <a:srgbClr val="1F3864"/>
                    </a:solidFill>
                  </a:tcPr>
                </a:tc>
                <a:tc>
                  <a:txBody>
                    <a:bodyPr/>
                    <a:lstStyle/>
                    <a:p>
                      <a:pPr algn="ctr"/>
                      <a:r>
                        <a:rPr b="1" sz="900">
                          <a:solidFill>
                            <a:srgbClr val="FFFFFF"/>
                          </a:solidFill>
                          <a:latin typeface="Calibri"/>
                        </a:rPr>
                        <a:t>Improvement</a:t>
                      </a:r>
                    </a:p>
                  </a:txBody>
                  <a:tcPr>
                    <a:solidFill>
                      <a:srgbClr val="1F3864"/>
                    </a:solidFill>
                  </a:tcPr>
                </a:tc>
              </a:tr>
              <a:tr h="313047">
                <a:tc>
                  <a:txBody>
                    <a:bodyPr/>
                    <a:lstStyle/>
                    <a:p>
                      <a:r>
                        <a:rPr sz="800">
                          <a:solidFill>
                            <a:srgbClr val="404040"/>
                          </a:solidFill>
                          <a:latin typeface="Calibri"/>
                        </a:rPr>
                        <a:t>Input method</a:t>
                      </a:r>
                    </a:p>
                  </a:txBody>
                  <a:tcPr>
                    <a:solidFill>
                      <a:srgbClr val="FFFFFF"/>
                    </a:solidFill>
                  </a:tcPr>
                </a:tc>
                <a:tc>
                  <a:txBody>
                    <a:bodyPr/>
                    <a:lstStyle/>
                    <a:p>
                      <a:r>
                        <a:rPr sz="800">
                          <a:solidFill>
                            <a:srgbClr val="404040"/>
                          </a:solidFill>
                          <a:latin typeface="Calibri"/>
                        </a:rPr>
                        <a:t>Manual PubMed keyword queries</a:t>
                      </a:r>
                    </a:p>
                  </a:txBody>
                  <a:tcPr>
                    <a:solidFill>
                      <a:srgbClr val="FFFFFF"/>
                    </a:solidFill>
                  </a:tcPr>
                </a:tc>
                <a:tc>
                  <a:txBody>
                    <a:bodyPr/>
                    <a:lstStyle/>
                    <a:p>
                      <a:r>
                        <a:rPr sz="800">
                          <a:solidFill>
                            <a:srgbClr val="404040"/>
                          </a:solidFill>
                          <a:latin typeface="Calibri"/>
                        </a:rPr>
                        <a:t>NL goal → auto 3-query decomposition</a:t>
                      </a:r>
                    </a:p>
                  </a:txBody>
                  <a:tcPr>
                    <a:solidFill>
                      <a:srgbClr val="FFFFFF"/>
                    </a:solidFill>
                  </a:tcPr>
                </a:tc>
                <a:tc>
                  <a:txBody>
                    <a:bodyPr/>
                    <a:lstStyle/>
                    <a:p>
                      <a:r>
                        <a:rPr sz="800">
                          <a:solidFill>
                            <a:srgbClr val="404040"/>
                          </a:solidFill>
                          <a:latin typeface="Calibri"/>
                        </a:rPr>
                        <a:t>No PubMed syntax expertise</a:t>
                      </a:r>
                    </a:p>
                  </a:txBody>
                  <a:tcPr>
                    <a:solidFill>
                      <a:srgbClr val="FFFFFF"/>
                    </a:solidFill>
                  </a:tcPr>
                </a:tc>
              </a:tr>
              <a:tr h="313047">
                <a:tc>
                  <a:txBody>
                    <a:bodyPr/>
                    <a:lstStyle/>
                    <a:p>
                      <a:r>
                        <a:rPr sz="800">
                          <a:solidFill>
                            <a:srgbClr val="404040"/>
                          </a:solidFill>
                          <a:latin typeface="Calibri"/>
                        </a:rPr>
                        <a:t>Relation types</a:t>
                      </a:r>
                    </a:p>
                  </a:txBody>
                  <a:tcPr>
                    <a:solidFill>
                      <a:srgbClr val="F2F2F2"/>
                    </a:solidFill>
                  </a:tcPr>
                </a:tc>
                <a:tc>
                  <a:txBody>
                    <a:bodyPr/>
                    <a:lstStyle/>
                    <a:p>
                      <a:r>
                        <a:rPr sz="800">
                          <a:solidFill>
                            <a:srgbClr val="404040"/>
                          </a:solidFill>
                          <a:latin typeface="Calibri"/>
                        </a:rPr>
                        <a:t>Untyped (any predicate string)</a:t>
                      </a:r>
                    </a:p>
                  </a:txBody>
                  <a:tcPr>
                    <a:solidFill>
                      <a:srgbClr val="F2F2F2"/>
                    </a:solidFill>
                  </a:tcPr>
                </a:tc>
                <a:tc>
                  <a:txBody>
                    <a:bodyPr/>
                    <a:lstStyle/>
                    <a:p>
                      <a:r>
                        <a:rPr sz="800">
                          <a:solidFill>
                            <a:srgbClr val="404040"/>
                          </a:solidFill>
                          <a:latin typeface="Calibri"/>
                        </a:rPr>
                        <a:t>13-relation controlled vocabulary</a:t>
                      </a:r>
                    </a:p>
                  </a:txBody>
                  <a:tcPr>
                    <a:solidFill>
                      <a:srgbClr val="F2F2F2"/>
                    </a:solidFill>
                  </a:tcPr>
                </a:tc>
                <a:tc>
                  <a:txBody>
                    <a:bodyPr/>
                    <a:lstStyle/>
                    <a:p>
                      <a:r>
                        <a:rPr sz="800">
                          <a:solidFill>
                            <a:srgbClr val="404040"/>
                          </a:solidFill>
                          <a:latin typeface="Calibri"/>
                        </a:rPr>
                        <a:t>Mechanistic reasoning enabled</a:t>
                      </a:r>
                    </a:p>
                  </a:txBody>
                  <a:tcPr>
                    <a:solidFill>
                      <a:srgbClr val="F2F2F2"/>
                    </a:solidFill>
                  </a:tcPr>
                </a:tc>
              </a:tr>
              <a:tr h="313047">
                <a:tc>
                  <a:txBody>
                    <a:bodyPr/>
                    <a:lstStyle/>
                    <a:p>
                      <a:r>
                        <a:rPr sz="800">
                          <a:solidFill>
                            <a:srgbClr val="404040"/>
                          </a:solidFill>
                          <a:latin typeface="Calibri"/>
                        </a:rPr>
                        <a:t>Extraction strategy</a:t>
                      </a:r>
                    </a:p>
                  </a:txBody>
                  <a:tcPr>
                    <a:solidFill>
                      <a:srgbClr val="FFFFFF"/>
                    </a:solidFill>
                  </a:tcPr>
                </a:tc>
                <a:tc>
                  <a:txBody>
                    <a:bodyPr/>
                    <a:lstStyle/>
                    <a:p>
                      <a:r>
                        <a:rPr sz="800">
                          <a:solidFill>
                            <a:srgbClr val="404040"/>
                          </a:solidFill>
                          <a:latin typeface="Calibri"/>
                        </a:rPr>
                        <a:t>Single-pass per abstract</a:t>
                      </a:r>
                    </a:p>
                  </a:txBody>
                  <a:tcPr>
                    <a:solidFill>
                      <a:srgbClr val="FFFFFF"/>
                    </a:solidFill>
                  </a:tcPr>
                </a:tc>
                <a:tc>
                  <a:txBody>
                    <a:bodyPr/>
                    <a:lstStyle/>
                    <a:p>
                      <a:r>
                        <a:rPr sz="800">
                          <a:solidFill>
                            <a:srgbClr val="404040"/>
                          </a:solidFill>
                          <a:latin typeface="Calibri"/>
                        </a:rPr>
                        <a:t>3 extraction + 1 validation pass</a:t>
                      </a:r>
                    </a:p>
                  </a:txBody>
                  <a:tcPr>
                    <a:solidFill>
                      <a:srgbClr val="FFFFFF"/>
                    </a:solidFill>
                  </a:tcPr>
                </a:tc>
                <a:tc>
                  <a:txBody>
                    <a:bodyPr/>
                    <a:lstStyle/>
                    <a:p>
                      <a:r>
                        <a:rPr sz="800">
                          <a:solidFill>
                            <a:srgbClr val="404040"/>
                          </a:solidFill>
                          <a:latin typeface="Calibri"/>
                        </a:rPr>
                        <a:t>170.6% more triples</a:t>
                      </a:r>
                    </a:p>
                  </a:txBody>
                  <a:tcPr>
                    <a:solidFill>
                      <a:srgbClr val="FFFFFF"/>
                    </a:solidFill>
                  </a:tcPr>
                </a:tc>
              </a:tr>
              <a:tr h="313047">
                <a:tc>
                  <a:txBody>
                    <a:bodyPr/>
                    <a:lstStyle/>
                    <a:p>
                      <a:r>
                        <a:rPr sz="800">
                          <a:solidFill>
                            <a:srgbClr val="404040"/>
                          </a:solidFill>
                          <a:latin typeface="Calibri"/>
                        </a:rPr>
                        <a:t>Ablation yield (15 articles)</a:t>
                      </a:r>
                    </a:p>
                  </a:txBody>
                  <a:tcPr>
                    <a:solidFill>
                      <a:srgbClr val="F2F2F2"/>
                    </a:solidFill>
                  </a:tcPr>
                </a:tc>
                <a:tc>
                  <a:txBody>
                    <a:bodyPr/>
                    <a:lstStyle/>
                    <a:p>
                      <a:r>
                        <a:rPr sz="800">
                          <a:solidFill>
                            <a:srgbClr val="404040"/>
                          </a:solidFill>
                          <a:latin typeface="Calibri"/>
                        </a:rPr>
                        <a:t>316 triples</a:t>
                      </a:r>
                    </a:p>
                  </a:txBody>
                  <a:tcPr>
                    <a:solidFill>
                      <a:srgbClr val="F2F2F2"/>
                    </a:solidFill>
                  </a:tcPr>
                </a:tc>
                <a:tc>
                  <a:txBody>
                    <a:bodyPr/>
                    <a:lstStyle/>
                    <a:p>
                      <a:r>
                        <a:rPr sz="800">
                          <a:solidFill>
                            <a:srgbClr val="404040"/>
                          </a:solidFill>
                          <a:latin typeface="Calibri"/>
                        </a:rPr>
                        <a:t>855 triples</a:t>
                      </a:r>
                    </a:p>
                  </a:txBody>
                  <a:tcPr>
                    <a:solidFill>
                      <a:srgbClr val="F2F2F2"/>
                    </a:solidFill>
                  </a:tcPr>
                </a:tc>
                <a:tc>
                  <a:txBody>
                    <a:bodyPr/>
                    <a:lstStyle/>
                    <a:p>
                      <a:r>
                        <a:rPr sz="800">
                          <a:solidFill>
                            <a:srgbClr val="404040"/>
                          </a:solidFill>
                          <a:latin typeface="Calibri"/>
                        </a:rPr>
                        <a:t>+539 triples  (2.7×)</a:t>
                      </a:r>
                    </a:p>
                  </a:txBody>
                  <a:tcPr>
                    <a:solidFill>
                      <a:srgbClr val="F2F2F2"/>
                    </a:solidFill>
                  </a:tcPr>
                </a:tc>
              </a:tr>
              <a:tr h="313047">
                <a:tc>
                  <a:txBody>
                    <a:bodyPr/>
                    <a:lstStyle/>
                    <a:p>
                      <a:r>
                        <a:rPr sz="800">
                          <a:solidFill>
                            <a:srgbClr val="404040"/>
                          </a:solidFill>
                          <a:latin typeface="Calibri"/>
                        </a:rPr>
                        <a:t>Canonical entity selection</a:t>
                      </a:r>
                    </a:p>
                  </a:txBody>
                  <a:tcPr>
                    <a:solidFill>
                      <a:srgbClr val="FFFFFF"/>
                    </a:solidFill>
                  </a:tcPr>
                </a:tc>
                <a:tc>
                  <a:txBody>
                    <a:bodyPr/>
                    <a:lstStyle/>
                    <a:p>
                      <a:r>
                        <a:rPr sz="800">
                          <a:solidFill>
                            <a:srgbClr val="404040"/>
                          </a:solidFill>
                          <a:latin typeface="Calibri"/>
                        </a:rPr>
                        <a:t>First-seen entity name</a:t>
                      </a:r>
                    </a:p>
                  </a:txBody>
                  <a:tcPr>
                    <a:solidFill>
                      <a:srgbClr val="FFFFFF"/>
                    </a:solidFill>
                  </a:tcPr>
                </a:tc>
                <a:tc>
                  <a:txBody>
                    <a:bodyPr/>
                    <a:lstStyle/>
                    <a:p>
                      <a:r>
                        <a:rPr sz="800">
                          <a:solidFill>
                            <a:srgbClr val="404040"/>
                          </a:solidFill>
                          <a:latin typeface="Calibri"/>
                        </a:rPr>
                        <a:t>Longest (most descriptive) name</a:t>
                      </a:r>
                    </a:p>
                  </a:txBody>
                  <a:tcPr>
                    <a:solidFill>
                      <a:srgbClr val="FFFFFF"/>
                    </a:solidFill>
                  </a:tcPr>
                </a:tc>
                <a:tc>
                  <a:txBody>
                    <a:bodyPr/>
                    <a:lstStyle/>
                    <a:p>
                      <a:r>
                        <a:rPr sz="800">
                          <a:solidFill>
                            <a:srgbClr val="404040"/>
                          </a:solidFill>
                          <a:latin typeface="Calibri"/>
                        </a:rPr>
                        <a:t>More informative node labels</a:t>
                      </a:r>
                    </a:p>
                  </a:txBody>
                  <a:tcPr>
                    <a:solidFill>
                      <a:srgbClr val="FFFFFF"/>
                    </a:solidFill>
                  </a:tcPr>
                </a:tc>
              </a:tr>
              <a:tr h="313047">
                <a:tc>
                  <a:txBody>
                    <a:bodyPr/>
                    <a:lstStyle/>
                    <a:p>
                      <a:r>
                        <a:rPr sz="800">
                          <a:solidFill>
                            <a:srgbClr val="404040"/>
                          </a:solidFill>
                          <a:latin typeface="Calibri"/>
                        </a:rPr>
                        <a:t>Dedup threshold</a:t>
                      </a:r>
                    </a:p>
                  </a:txBody>
                  <a:tcPr>
                    <a:solidFill>
                      <a:srgbClr val="F2F2F2"/>
                    </a:solidFill>
                  </a:tcPr>
                </a:tc>
                <a:tc>
                  <a:txBody>
                    <a:bodyPr/>
                    <a:lstStyle/>
                    <a:p>
                      <a:r>
                        <a:rPr sz="800">
                          <a:solidFill>
                            <a:srgbClr val="404040"/>
                          </a:solidFill>
                          <a:latin typeface="Calibri"/>
                        </a:rPr>
                        <a:t>Cosine &gt; 0.80</a:t>
                      </a:r>
                    </a:p>
                  </a:txBody>
                  <a:tcPr>
                    <a:solidFill>
                      <a:srgbClr val="F2F2F2"/>
                    </a:solidFill>
                  </a:tcPr>
                </a:tc>
                <a:tc>
                  <a:txBody>
                    <a:bodyPr/>
                    <a:lstStyle/>
                    <a:p>
                      <a:r>
                        <a:rPr sz="800">
                          <a:solidFill>
                            <a:srgbClr val="404040"/>
                          </a:solidFill>
                          <a:latin typeface="Calibri"/>
                        </a:rPr>
                        <a:t>Cosine &gt; 0.85</a:t>
                      </a:r>
                    </a:p>
                  </a:txBody>
                  <a:tcPr>
                    <a:solidFill>
                      <a:srgbClr val="F2F2F2"/>
                    </a:solidFill>
                  </a:tcPr>
                </a:tc>
                <a:tc>
                  <a:txBody>
                    <a:bodyPr/>
                    <a:lstStyle/>
                    <a:p>
                      <a:r>
                        <a:rPr sz="800">
                          <a:solidFill>
                            <a:srgbClr val="404040"/>
                          </a:solidFill>
                          <a:latin typeface="Calibri"/>
                        </a:rPr>
                        <a:t>Fewer false merges</a:t>
                      </a:r>
                    </a:p>
                  </a:txBody>
                  <a:tcPr>
                    <a:solidFill>
                      <a:srgbClr val="F2F2F2"/>
                    </a:solidFill>
                  </a:tcPr>
                </a:tc>
              </a:tr>
              <a:tr h="313047">
                <a:tc>
                  <a:txBody>
                    <a:bodyPr/>
                    <a:lstStyle/>
                    <a:p>
                      <a:r>
                        <a:rPr sz="800">
                          <a:solidFill>
                            <a:srgbClr val="404040"/>
                          </a:solidFill>
                          <a:latin typeface="Calibri"/>
                        </a:rPr>
                        <a:t>Transitive normalization</a:t>
                      </a:r>
                    </a:p>
                  </a:txBody>
                  <a:tcPr>
                    <a:solidFill>
                      <a:srgbClr val="FFFFFF"/>
                    </a:solidFill>
                  </a:tcPr>
                </a:tc>
                <a:tc>
                  <a:txBody>
                    <a:bodyPr/>
                    <a:lstStyle/>
                    <a:p>
                      <a:r>
                        <a:rPr sz="800">
                          <a:solidFill>
                            <a:srgbClr val="404040"/>
                          </a:solidFill>
                          <a:latin typeface="Calibri"/>
                        </a:rPr>
                        <a:t>No</a:t>
                      </a:r>
                    </a:p>
                  </a:txBody>
                  <a:tcPr>
                    <a:solidFill>
                      <a:srgbClr val="FFFFFF"/>
                    </a:solidFill>
                  </a:tcPr>
                </a:tc>
                <a:tc>
                  <a:txBody>
                    <a:bodyPr/>
                    <a:lstStyle/>
                    <a:p>
                      <a:r>
                        <a:rPr sz="800">
                          <a:solidFill>
                            <a:srgbClr val="404040"/>
                          </a:solidFill>
                          <a:latin typeface="Calibri"/>
                        </a:rPr>
                        <a:t>Yes (A→B→C resolved to A→C)</a:t>
                      </a:r>
                    </a:p>
                  </a:txBody>
                  <a:tcPr>
                    <a:solidFill>
                      <a:srgbClr val="FFFFFF"/>
                    </a:solidFill>
                  </a:tcPr>
                </a:tc>
                <a:tc>
                  <a:txBody>
                    <a:bodyPr/>
                    <a:lstStyle/>
                    <a:p>
                      <a:r>
                        <a:rPr sz="800">
                          <a:solidFill>
                            <a:srgbClr val="404040"/>
                          </a:solidFill>
                          <a:latin typeface="Calibri"/>
                        </a:rPr>
                        <a:t>No synonym islands in graph</a:t>
                      </a:r>
                    </a:p>
                  </a:txBody>
                  <a:tcPr>
                    <a:solidFill>
                      <a:srgbClr val="FFFFFF"/>
                    </a:solidFill>
                  </a:tcPr>
                </a:tc>
              </a:tr>
              <a:tr h="313047">
                <a:tc>
                  <a:txBody>
                    <a:bodyPr/>
                    <a:lstStyle/>
                    <a:p>
                      <a:r>
                        <a:rPr sz="800">
                          <a:solidFill>
                            <a:srgbClr val="404040"/>
                          </a:solidFill>
                          <a:latin typeface="Calibri"/>
                        </a:rPr>
                        <a:t>Metric handling</a:t>
                      </a:r>
                    </a:p>
                  </a:txBody>
                  <a:tcPr>
                    <a:solidFill>
                      <a:srgbClr val="F2F2F2"/>
                    </a:solidFill>
                  </a:tcPr>
                </a:tc>
                <a:tc>
                  <a:txBody>
                    <a:bodyPr/>
                    <a:lstStyle/>
                    <a:p>
                      <a:r>
                        <a:rPr sz="800">
                          <a:solidFill>
                            <a:srgbClr val="404040"/>
                          </a:solidFill>
                          <a:latin typeface="Calibri"/>
                        </a:rPr>
                        <a:t>Embedded in entity names (fragmented)</a:t>
                      </a:r>
                    </a:p>
                  </a:txBody>
                  <a:tcPr>
                    <a:solidFill>
                      <a:srgbClr val="F2F2F2"/>
                    </a:solidFill>
                  </a:tcPr>
                </a:tc>
                <a:tc>
                  <a:txBody>
                    <a:bodyPr/>
                    <a:lstStyle/>
                    <a:p>
                      <a:r>
                        <a:rPr sz="800">
                          <a:solidFill>
                            <a:srgbClr val="404040"/>
                          </a:solidFill>
                          <a:latin typeface="Calibri"/>
                        </a:rPr>
                        <a:t>Structured has_metric triples (598)</a:t>
                      </a:r>
                    </a:p>
                  </a:txBody>
                  <a:tcPr>
                    <a:solidFill>
                      <a:srgbClr val="F2F2F2"/>
                    </a:solidFill>
                  </a:tcPr>
                </a:tc>
                <a:tc>
                  <a:txBody>
                    <a:bodyPr/>
                    <a:lstStyle/>
                    <a:p>
                      <a:r>
                        <a:rPr sz="800">
                          <a:solidFill>
                            <a:srgbClr val="404040"/>
                          </a:solidFill>
                          <a:latin typeface="Calibri"/>
                        </a:rPr>
                        <a:t>Cross-study benchmarking</a:t>
                      </a:r>
                    </a:p>
                  </a:txBody>
                  <a:tcPr>
                    <a:solidFill>
                      <a:srgbClr val="F2F2F2"/>
                    </a:solidFill>
                  </a:tcPr>
                </a:tc>
              </a:tr>
              <a:tr h="313047">
                <a:tc>
                  <a:txBody>
                    <a:bodyPr/>
                    <a:lstStyle/>
                    <a:p>
                      <a:r>
                        <a:rPr sz="800">
                          <a:solidFill>
                            <a:srgbClr val="404040"/>
                          </a:solidFill>
                          <a:latin typeface="Calibri"/>
                        </a:rPr>
                        <a:t>Query interface</a:t>
                      </a:r>
                    </a:p>
                  </a:txBody>
                  <a:tcPr>
                    <a:solidFill>
                      <a:srgbClr val="FFFFFF"/>
                    </a:solidFill>
                  </a:tcPr>
                </a:tc>
                <a:tc>
                  <a:txBody>
                    <a:bodyPr/>
                    <a:lstStyle/>
                    <a:p>
                      <a:r>
                        <a:rPr sz="800">
                          <a:solidFill>
                            <a:srgbClr val="404040"/>
                          </a:solidFill>
                          <a:latin typeface="Calibri"/>
                        </a:rPr>
                        <a:t>Keyword / exact node name</a:t>
                      </a:r>
                    </a:p>
                  </a:txBody>
                  <a:tcPr>
                    <a:solidFill>
                      <a:srgbClr val="FFFFFF"/>
                    </a:solidFill>
                  </a:tcPr>
                </a:tc>
                <a:tc>
                  <a:txBody>
                    <a:bodyPr/>
                    <a:lstStyle/>
                    <a:p>
                      <a:r>
                        <a:rPr sz="800">
                          <a:solidFill>
                            <a:srgbClr val="404040"/>
                          </a:solidFill>
                          <a:latin typeface="Calibri"/>
                        </a:rPr>
                        <a:t>Semantic NL search (384-dim embeddings)</a:t>
                      </a:r>
                    </a:p>
                  </a:txBody>
                  <a:tcPr>
                    <a:solidFill>
                      <a:srgbClr val="FFFFFF"/>
                    </a:solidFill>
                  </a:tcPr>
                </a:tc>
                <a:tc>
                  <a:txBody>
                    <a:bodyPr/>
                    <a:lstStyle/>
                    <a:p>
                      <a:r>
                        <a:rPr sz="800">
                          <a:solidFill>
                            <a:srgbClr val="404040"/>
                          </a:solidFill>
                          <a:latin typeface="Calibri"/>
                        </a:rPr>
                        <a:t>Accessible to non-experts</a:t>
                      </a:r>
                    </a:p>
                  </a:txBody>
                  <a:tcPr>
                    <a:solidFill>
                      <a:srgbClr val="FFFFFF"/>
                    </a:solidFill>
                  </a:tcPr>
                </a:tc>
              </a:tr>
              <a:tr h="313047">
                <a:tc>
                  <a:txBody>
                    <a:bodyPr/>
                    <a:lstStyle/>
                    <a:p>
                      <a:r>
                        <a:rPr sz="800">
                          <a:solidFill>
                            <a:srgbClr val="404040"/>
                          </a:solidFill>
                          <a:latin typeface="Calibri"/>
                        </a:rPr>
                        <a:t>Hallucination risk</a:t>
                      </a:r>
                    </a:p>
                  </a:txBody>
                  <a:tcPr>
                    <a:solidFill>
                      <a:srgbClr val="F2F2F2"/>
                    </a:solidFill>
                  </a:tcPr>
                </a:tc>
                <a:tc>
                  <a:txBody>
                    <a:bodyPr/>
                    <a:lstStyle/>
                    <a:p>
                      <a:r>
                        <a:rPr sz="800">
                          <a:solidFill>
                            <a:srgbClr val="404040"/>
                          </a:solidFill>
                          <a:latin typeface="Calibri"/>
                        </a:rPr>
                        <a:t>Moderate — ungrounded synthesis</a:t>
                      </a:r>
                    </a:p>
                  </a:txBody>
                  <a:tcPr>
                    <a:solidFill>
                      <a:srgbClr val="F2F2F2"/>
                    </a:solidFill>
                  </a:tcPr>
                </a:tc>
                <a:tc>
                  <a:txBody>
                    <a:bodyPr/>
                    <a:lstStyle/>
                    <a:p>
                      <a:r>
                        <a:rPr sz="800">
                          <a:solidFill>
                            <a:srgbClr val="404040"/>
                          </a:solidFill>
                          <a:latin typeface="Calibri"/>
                        </a:rPr>
                        <a:t>Low — anti-hallucination + PMID tracing</a:t>
                      </a:r>
                    </a:p>
                  </a:txBody>
                  <a:tcPr>
                    <a:solidFill>
                      <a:srgbClr val="F2F2F2"/>
                    </a:solidFill>
                  </a:tcPr>
                </a:tc>
                <a:tc>
                  <a:txBody>
                    <a:bodyPr/>
                    <a:lstStyle/>
                    <a:p>
                      <a:r>
                        <a:rPr sz="800">
                          <a:solidFill>
                            <a:srgbClr val="404040"/>
                          </a:solidFill>
                          <a:latin typeface="Calibri"/>
                        </a:rPr>
                        <a:t>Every claim verifiable</a:t>
                      </a:r>
                    </a:p>
                  </a:txBody>
                  <a:tcPr>
                    <a:solidFill>
                      <a:srgbClr val="F2F2F2"/>
                    </a:solidFill>
                  </a:tcPr>
                </a:tc>
              </a:tr>
              <a:tr h="313047">
                <a:tc>
                  <a:txBody>
                    <a:bodyPr/>
                    <a:lstStyle/>
                    <a:p>
                      <a:r>
                        <a:rPr sz="800">
                          <a:solidFill>
                            <a:srgbClr val="404040"/>
                          </a:solidFill>
                          <a:latin typeface="Calibri"/>
                        </a:rPr>
                        <a:t>Graph structure</a:t>
                      </a:r>
                    </a:p>
                  </a:txBody>
                  <a:tcPr>
                    <a:solidFill>
                      <a:srgbClr val="FFFFFF"/>
                    </a:solidFill>
                  </a:tcPr>
                </a:tc>
                <a:tc>
                  <a:txBody>
                    <a:bodyPr/>
                    <a:lstStyle/>
                    <a:p>
                      <a:r>
                        <a:rPr sz="800">
                          <a:solidFill>
                            <a:srgbClr val="404040"/>
                          </a:solidFill>
                          <a:latin typeface="Calibri"/>
                        </a:rPr>
                        <a:t>Undirected</a:t>
                      </a:r>
                    </a:p>
                  </a:txBody>
                  <a:tcPr>
                    <a:solidFill>
                      <a:srgbClr val="FFFFFF"/>
                    </a:solidFill>
                  </a:tcPr>
                </a:tc>
                <a:tc>
                  <a:txBody>
                    <a:bodyPr/>
                    <a:lstStyle/>
                    <a:p>
                      <a:r>
                        <a:rPr sz="800">
                          <a:solidFill>
                            <a:srgbClr val="404040"/>
                          </a:solidFill>
                          <a:latin typeface="Calibri"/>
                        </a:rPr>
                        <a:t>Directed multigraph, typed edges</a:t>
                      </a:r>
                    </a:p>
                  </a:txBody>
                  <a:tcPr>
                    <a:solidFill>
                      <a:srgbClr val="FFFFFF"/>
                    </a:solidFill>
                  </a:tcPr>
                </a:tc>
                <a:tc>
                  <a:txBody>
                    <a:bodyPr/>
                    <a:lstStyle/>
                    <a:p>
                      <a:r>
                        <a:rPr sz="800">
                          <a:solidFill>
                            <a:srgbClr val="404040"/>
                          </a:solidFill>
                          <a:latin typeface="Calibri"/>
                        </a:rPr>
                        <a:t>Asymmetric relations preserved</a:t>
                      </a:r>
                    </a:p>
                  </a:txBody>
                  <a:tcPr>
                    <a:solidFill>
                      <a:srgbClr val="FFFFFF"/>
                    </a:solidFill>
                  </a:tcPr>
                </a:tc>
              </a:tr>
              <a:tr h="313047">
                <a:tc>
                  <a:txBody>
                    <a:bodyPr/>
                    <a:lstStyle/>
                    <a:p>
                      <a:r>
                        <a:rPr sz="800">
                          <a:solidFill>
                            <a:srgbClr val="404040"/>
                          </a:solidFill>
                          <a:latin typeface="Calibri"/>
                        </a:rPr>
                        <a:t>LLM infrastructure</a:t>
                      </a:r>
                    </a:p>
                  </a:txBody>
                  <a:tcPr>
                    <a:solidFill>
                      <a:srgbClr val="F2F2F2"/>
                    </a:solidFill>
                  </a:tcPr>
                </a:tc>
                <a:tc>
                  <a:txBody>
                    <a:bodyPr/>
                    <a:lstStyle/>
                    <a:p>
                      <a:r>
                        <a:rPr sz="800">
                          <a:solidFill>
                            <a:srgbClr val="404040"/>
                          </a:solidFill>
                          <a:latin typeface="Calibri"/>
                        </a:rPr>
                        <a:t>Single provider</a:t>
                      </a:r>
                    </a:p>
                  </a:txBody>
                  <a:tcPr>
                    <a:solidFill>
                      <a:srgbClr val="F2F2F2"/>
                    </a:solidFill>
                  </a:tcPr>
                </a:tc>
                <a:tc>
                  <a:txBody>
                    <a:bodyPr/>
                    <a:lstStyle/>
                    <a:p>
                      <a:r>
                        <a:rPr sz="800">
                          <a:solidFill>
                            <a:srgbClr val="404040"/>
                          </a:solidFill>
                          <a:latin typeface="Calibri"/>
                        </a:rPr>
                        <a:t>Groq + Cerebras, 13 models, failover</a:t>
                      </a:r>
                    </a:p>
                  </a:txBody>
                  <a:tcPr>
                    <a:solidFill>
                      <a:srgbClr val="F2F2F2"/>
                    </a:solidFill>
                  </a:tcPr>
                </a:tc>
                <a:tc>
                  <a:txBody>
                    <a:bodyPr/>
                    <a:lstStyle/>
                    <a:p>
                      <a:r>
                        <a:rPr sz="800">
                          <a:solidFill>
                            <a:srgbClr val="404040"/>
                          </a:solidFill>
                          <a:latin typeface="Calibri"/>
                        </a:rPr>
                        <a:t>Reliable at scale</a:t>
                      </a:r>
                    </a:p>
                  </a:txBody>
                  <a:tcPr>
                    <a:solidFill>
                      <a:srgbClr val="F2F2F2"/>
                    </a:solidFill>
                  </a:tcPr>
                </a:tc>
              </a:tr>
              <a:tr h="313047">
                <a:tc>
                  <a:txBody>
                    <a:bodyPr/>
                    <a:lstStyle/>
                    <a:p>
                      <a:r>
                        <a:rPr sz="800">
                          <a:solidFill>
                            <a:srgbClr val="404040"/>
                          </a:solidFill>
                          <a:latin typeface="Calibri"/>
                        </a:rPr>
                        <a:t>Deployment</a:t>
                      </a:r>
                    </a:p>
                  </a:txBody>
                  <a:tcPr>
                    <a:solidFill>
                      <a:srgbClr val="FFFFFF"/>
                    </a:solidFill>
                  </a:tcPr>
                </a:tc>
                <a:tc>
                  <a:txBody>
                    <a:bodyPr/>
                    <a:lstStyle/>
                    <a:p>
                      <a:r>
                        <a:rPr sz="800">
                          <a:solidFill>
                            <a:srgbClr val="404040"/>
                          </a:solidFill>
                          <a:latin typeface="Calibri"/>
                        </a:rPr>
                        <a:t>Local Python scripts</a:t>
                      </a:r>
                    </a:p>
                  </a:txBody>
                  <a:tcPr>
                    <a:solidFill>
                      <a:srgbClr val="FFFFFF"/>
                    </a:solidFill>
                  </a:tcPr>
                </a:tc>
                <a:tc>
                  <a:txBody>
                    <a:bodyPr/>
                    <a:lstStyle/>
                    <a:p>
                      <a:r>
                        <a:rPr sz="800">
                          <a:solidFill>
                            <a:srgbClr val="404040"/>
                          </a:solidFill>
                          <a:latin typeface="Calibri"/>
                        </a:rPr>
                        <a:t>FastAPI web application</a:t>
                      </a:r>
                    </a:p>
                  </a:txBody>
                  <a:tcPr>
                    <a:solidFill>
                      <a:srgbClr val="FFFFFF"/>
                    </a:solidFill>
                  </a:tcPr>
                </a:tc>
                <a:tc>
                  <a:txBody>
                    <a:bodyPr/>
                    <a:lstStyle/>
                    <a:p>
                      <a:r>
                        <a:rPr sz="800">
                          <a:solidFill>
                            <a:srgbClr val="404040"/>
                          </a:solidFill>
                          <a:latin typeface="Calibri"/>
                        </a:rPr>
                        <a:t>Production-ready</a:t>
                      </a:r>
                    </a:p>
                  </a:txBody>
                  <a:tcPr>
                    <a:solidFill>
                      <a:srgbClr val="FFFFFF"/>
                    </a:solidFill>
                  </a:tcPr>
                </a:tc>
              </a:tr>
              <a:tr h="313047">
                <a:tc>
                  <a:txBody>
                    <a:bodyPr/>
                    <a:lstStyle/>
                    <a:p>
                      <a:r>
                        <a:rPr sz="800">
                          <a:solidFill>
                            <a:srgbClr val="404040"/>
                          </a:solidFill>
                          <a:latin typeface="Calibri"/>
                        </a:rPr>
                        <a:t>Entities extracted</a:t>
                      </a:r>
                    </a:p>
                  </a:txBody>
                  <a:tcPr>
                    <a:solidFill>
                      <a:srgbClr val="F2F2F2"/>
                    </a:solidFill>
                  </a:tcPr>
                </a:tc>
                <a:tc>
                  <a:txBody>
                    <a:bodyPr/>
                    <a:lstStyle/>
                    <a:p>
                      <a:r>
                        <a:rPr sz="800">
                          <a:solidFill>
                            <a:srgbClr val="404040"/>
                          </a:solidFill>
                          <a:latin typeface="Calibri"/>
                        </a:rPr>
                        <a:t>180+ nodes (Rhodococcus)</a:t>
                      </a:r>
                    </a:p>
                  </a:txBody>
                  <a:tcPr>
                    <a:solidFill>
                      <a:srgbClr val="F2F2F2"/>
                    </a:solidFill>
                  </a:tcPr>
                </a:tc>
                <a:tc>
                  <a:txBody>
                    <a:bodyPr/>
                    <a:lstStyle/>
                    <a:p>
                      <a:r>
                        <a:rPr sz="800">
                          <a:solidFill>
                            <a:srgbClr val="404040"/>
                          </a:solidFill>
                          <a:latin typeface="Calibri"/>
                        </a:rPr>
                        <a:t>2,996 normalized entities</a:t>
                      </a:r>
                    </a:p>
                  </a:txBody>
                  <a:tcPr>
                    <a:solidFill>
                      <a:srgbClr val="F2F2F2"/>
                    </a:solidFill>
                  </a:tcPr>
                </a:tc>
                <a:tc>
                  <a:txBody>
                    <a:bodyPr/>
                    <a:lstStyle/>
                    <a:p>
                      <a:r>
                        <a:rPr sz="800">
                          <a:solidFill>
                            <a:srgbClr val="404040"/>
                          </a:solidFill>
                          <a:latin typeface="Calibri"/>
                        </a:rPr>
                        <a:t>~16× more</a:t>
                      </a:r>
                    </a:p>
                  </a:txBody>
                  <a:tcPr>
                    <a:solidFill>
                      <a:srgbClr val="F2F2F2"/>
                    </a:solidFill>
                  </a:tcPr>
                </a:tc>
              </a:tr>
              <a:tr h="313047">
                <a:tc>
                  <a:txBody>
                    <a:bodyPr/>
                    <a:lstStyle/>
                    <a:p>
                      <a:r>
                        <a:rPr sz="800">
                          <a:solidFill>
                            <a:srgbClr val="404040"/>
                          </a:solidFill>
                          <a:latin typeface="Calibri"/>
                        </a:rPr>
                        <a:t>Triples extracted</a:t>
                      </a:r>
                    </a:p>
                  </a:txBody>
                  <a:tcPr>
                    <a:solidFill>
                      <a:srgbClr val="FFFFFF"/>
                    </a:solidFill>
                  </a:tcPr>
                </a:tc>
                <a:tc>
                  <a:txBody>
                    <a:bodyPr/>
                    <a:lstStyle/>
                    <a:p>
                      <a:r>
                        <a:rPr sz="800">
                          <a:solidFill>
                            <a:srgbClr val="404040"/>
                          </a:solidFill>
                          <a:latin typeface="Calibri"/>
                        </a:rPr>
                        <a:t>~400 untyped (est.)</a:t>
                      </a:r>
                    </a:p>
                  </a:txBody>
                  <a:tcPr>
                    <a:solidFill>
                      <a:srgbClr val="FFFFFF"/>
                    </a:solidFill>
                  </a:tcPr>
                </a:tc>
                <a:tc>
                  <a:txBody>
                    <a:bodyPr/>
                    <a:lstStyle/>
                    <a:p>
                      <a:r>
                        <a:rPr sz="800">
                          <a:solidFill>
                            <a:srgbClr val="404040"/>
                          </a:solidFill>
                          <a:latin typeface="Calibri"/>
                        </a:rPr>
                        <a:t>4,722 typed triples</a:t>
                      </a:r>
                    </a:p>
                  </a:txBody>
                  <a:tcPr>
                    <a:solidFill>
                      <a:srgbClr val="FFFFFF"/>
                    </a:solidFill>
                  </a:tcPr>
                </a:tc>
                <a:tc>
                  <a:txBody>
                    <a:bodyPr/>
                    <a:lstStyle/>
                    <a:p>
                      <a:r>
                        <a:rPr sz="800">
                          <a:solidFill>
                            <a:srgbClr val="404040"/>
                          </a:solidFill>
                          <a:latin typeface="Calibri"/>
                        </a:rPr>
                        <a:t>~12× more, all typed</a:t>
                      </a:r>
                    </a:p>
                  </a:txBody>
                  <a:tcPr>
                    <a:solidFill>
                      <a:srgbClr val="FFFFFF"/>
                    </a:solidFill>
                  </a:tcPr>
                </a:tc>
              </a:tr>
              <a:tr h="313056">
                <a:tc>
                  <a:txBody>
                    <a:bodyPr/>
                    <a:lstStyle/>
                    <a:p>
                      <a:r>
                        <a:rPr sz="800">
                          <a:solidFill>
                            <a:srgbClr val="404040"/>
                          </a:solidFill>
                          <a:latin typeface="Calibri"/>
                        </a:rPr>
                        <a:t>Stability metric</a:t>
                      </a:r>
                    </a:p>
                  </a:txBody>
                  <a:tcPr>
                    <a:solidFill>
                      <a:srgbClr val="F2F2F2"/>
                    </a:solidFill>
                  </a:tcPr>
                </a:tc>
                <a:tc>
                  <a:txBody>
                    <a:bodyPr/>
                    <a:lstStyle/>
                    <a:p>
                      <a:r>
                        <a:rPr sz="800">
                          <a:solidFill>
                            <a:srgbClr val="404040"/>
                          </a:solidFill>
                          <a:latin typeface="Calibri"/>
                        </a:rPr>
                        <a:t>None</a:t>
                      </a:r>
                    </a:p>
                  </a:txBody>
                  <a:tcPr>
                    <a:solidFill>
                      <a:srgbClr val="F2F2F2"/>
                    </a:solidFill>
                  </a:tcPr>
                </a:tc>
                <a:tc>
                  <a:txBody>
                    <a:bodyPr/>
                    <a:lstStyle/>
                    <a:p>
                      <a:r>
                        <a:rPr sz="800">
                          <a:solidFill>
                            <a:srgbClr val="404040"/>
                          </a:solidFill>
                          <a:latin typeface="Calibri"/>
                        </a:rPr>
                        <a:t>Jaccard score per article</a:t>
                      </a:r>
                    </a:p>
                  </a:txBody>
                  <a:tcPr>
                    <a:solidFill>
                      <a:srgbClr val="F2F2F2"/>
                    </a:solidFill>
                  </a:tcPr>
                </a:tc>
                <a:tc>
                  <a:txBody>
                    <a:bodyPr/>
                    <a:lstStyle/>
                    <a:p>
                      <a:r>
                        <a:rPr sz="800">
                          <a:solidFill>
                            <a:srgbClr val="404040"/>
                          </a:solidFill>
                          <a:latin typeface="Calibri"/>
                        </a:rPr>
                        <a:t>Per-article quality signal</a:t>
                      </a:r>
                    </a:p>
                  </a:txBody>
                  <a:tcPr>
                    <a:solidFill>
                      <a:srgbClr val="F2F2F2"/>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Conclusion</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Summary of Contributions &amp; Validated Results</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6304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a:t>
            </a:r>
          </a:p>
        </p:txBody>
      </p:sp>
      <p:sp>
        <p:nvSpPr>
          <p:cNvPr id="7" name="TextBox 6"/>
          <p:cNvSpPr txBox="1"/>
          <p:nvPr/>
        </p:nvSpPr>
        <p:spPr>
          <a:xfrm>
            <a:off x="868680" y="1463040"/>
            <a:ext cx="11064240" cy="384048"/>
          </a:xfrm>
          <a:prstGeom prst="rect">
            <a:avLst/>
          </a:prstGeom>
          <a:noFill/>
        </p:spPr>
        <p:txBody>
          <a:bodyPr wrap="square">
            <a:spAutoFit/>
          </a:bodyPr>
          <a:lstStyle/>
          <a:p>
            <a:pPr algn="l"/>
            <a:r>
              <a:rPr sz="1400" b="1" i="0">
                <a:solidFill>
                  <a:srgbClr val="1F3864"/>
                </a:solidFill>
                <a:latin typeface="Calibri"/>
              </a:rPr>
              <a:t>All 4 BTP1 Gaps Directly Addressed</a:t>
            </a:r>
          </a:p>
        </p:txBody>
      </p:sp>
      <p:sp>
        <p:nvSpPr>
          <p:cNvPr id="8" name="TextBox 7"/>
          <p:cNvSpPr txBox="1"/>
          <p:nvPr/>
        </p:nvSpPr>
        <p:spPr>
          <a:xfrm>
            <a:off x="868680" y="1874520"/>
            <a:ext cx="11064240" cy="658368"/>
          </a:xfrm>
          <a:prstGeom prst="rect">
            <a:avLst/>
          </a:prstGeom>
          <a:noFill/>
        </p:spPr>
        <p:txBody>
          <a:bodyPr wrap="square">
            <a:spAutoFit/>
          </a:bodyPr>
          <a:lstStyle/>
          <a:p>
            <a:pPr algn="l"/>
            <a:r>
              <a:rPr sz="1100" b="0" i="0">
                <a:solidFill>
                  <a:srgbClr val="404040"/>
                </a:solidFill>
                <a:latin typeface="Calibri"/>
              </a:rPr>
              <a:t>Untyped → 13-relation ontology (73.5% canonical coverage).  Single-pass → 3+1 pass protocol.  Keyword queries → semantic embedding search.  Hallucination → strict PMID-level evidence grounding.</a:t>
            </a:r>
          </a:p>
        </p:txBody>
      </p:sp>
      <p:sp>
        <p:nvSpPr>
          <p:cNvPr id="9" name="Rounded Rectangle 8"/>
          <p:cNvSpPr/>
          <p:nvPr/>
        </p:nvSpPr>
        <p:spPr>
          <a:xfrm>
            <a:off x="274320" y="269748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2</a:t>
            </a:r>
          </a:p>
        </p:txBody>
      </p:sp>
      <p:sp>
        <p:nvSpPr>
          <p:cNvPr id="10" name="TextBox 9"/>
          <p:cNvSpPr txBox="1"/>
          <p:nvPr/>
        </p:nvSpPr>
        <p:spPr>
          <a:xfrm>
            <a:off x="868680" y="2697480"/>
            <a:ext cx="11064240" cy="384048"/>
          </a:xfrm>
          <a:prstGeom prst="rect">
            <a:avLst/>
          </a:prstGeom>
          <a:noFill/>
        </p:spPr>
        <p:txBody>
          <a:bodyPr wrap="square">
            <a:spAutoFit/>
          </a:bodyPr>
          <a:lstStyle/>
          <a:p>
            <a:pPr algn="l"/>
            <a:r>
              <a:rPr sz="1400" b="1" i="0">
                <a:solidFill>
                  <a:srgbClr val="1F3864"/>
                </a:solidFill>
                <a:latin typeface="Calibri"/>
              </a:rPr>
              <a:t>Quantified Extraction Gains (Ablation Study)</a:t>
            </a:r>
          </a:p>
        </p:txBody>
      </p:sp>
      <p:sp>
        <p:nvSpPr>
          <p:cNvPr id="11" name="TextBox 10"/>
          <p:cNvSpPr txBox="1"/>
          <p:nvPr/>
        </p:nvSpPr>
        <p:spPr>
          <a:xfrm>
            <a:off x="868680" y="3108960"/>
            <a:ext cx="11064240" cy="658368"/>
          </a:xfrm>
          <a:prstGeom prst="rect">
            <a:avLst/>
          </a:prstGeom>
          <a:noFill/>
        </p:spPr>
        <p:txBody>
          <a:bodyPr wrap="square">
            <a:spAutoFit/>
          </a:bodyPr>
          <a:lstStyle/>
          <a:p>
            <a:pPr algn="l"/>
            <a:r>
              <a:rPr sz="1100" b="0" i="0">
                <a:solidFill>
                  <a:srgbClr val="404040"/>
                </a:solidFill>
                <a:latin typeface="Calibri"/>
              </a:rPr>
              <a:t>4,722 typed triples from 226 abstracts.  170.6% improvement (855 vs. 316 triples, 15 articles).  Per-pass: 45.7% / 35.3% / 18.9% — diminishing returns confirm 3-pass is optimal.</a:t>
            </a:r>
          </a:p>
        </p:txBody>
      </p:sp>
      <p:sp>
        <p:nvSpPr>
          <p:cNvPr id="12" name="Rounded Rectangle 11"/>
          <p:cNvSpPr/>
          <p:nvPr/>
        </p:nvSpPr>
        <p:spPr>
          <a:xfrm>
            <a:off x="274320" y="393192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3</a:t>
            </a:r>
          </a:p>
        </p:txBody>
      </p:sp>
      <p:sp>
        <p:nvSpPr>
          <p:cNvPr id="13" name="TextBox 12"/>
          <p:cNvSpPr txBox="1"/>
          <p:nvPr/>
        </p:nvSpPr>
        <p:spPr>
          <a:xfrm>
            <a:off x="868680" y="3931920"/>
            <a:ext cx="11064240" cy="384048"/>
          </a:xfrm>
          <a:prstGeom prst="rect">
            <a:avLst/>
          </a:prstGeom>
          <a:noFill/>
        </p:spPr>
        <p:txBody>
          <a:bodyPr wrap="square">
            <a:spAutoFit/>
          </a:bodyPr>
          <a:lstStyle/>
          <a:p>
            <a:pPr algn="l"/>
            <a:r>
              <a:rPr sz="1400" b="1" i="0">
                <a:solidFill>
                  <a:srgbClr val="1F3864"/>
                </a:solidFill>
                <a:latin typeface="Calibri"/>
              </a:rPr>
              <a:t>Structured Metric Capture — Cross-Study Benchmarking</a:t>
            </a:r>
          </a:p>
        </p:txBody>
      </p:sp>
      <p:sp>
        <p:nvSpPr>
          <p:cNvPr id="14" name="TextBox 13"/>
          <p:cNvSpPr txBox="1"/>
          <p:nvPr/>
        </p:nvSpPr>
        <p:spPr>
          <a:xfrm>
            <a:off x="868680" y="4343400"/>
            <a:ext cx="11064240" cy="658368"/>
          </a:xfrm>
          <a:prstGeom prst="rect">
            <a:avLst/>
          </a:prstGeom>
          <a:noFill/>
        </p:spPr>
        <p:txBody>
          <a:bodyPr wrap="square">
            <a:spAutoFit/>
          </a:bodyPr>
          <a:lstStyle/>
          <a:p>
            <a:pPr algn="l"/>
            <a:r>
              <a:rPr sz="1100" b="0" i="0">
                <a:solidFill>
                  <a:srgbClr val="404040"/>
                </a:solidFill>
                <a:latin typeface="Calibri"/>
              </a:rPr>
              <a:t>598 has_metric triples = sortable performance database.  11.3-fold, 107.22 mg/L, 142 mg/L, 225 mg/L, 78.9% — all traceable to source PMIDs. Unique vs. BTP1.</a:t>
            </a:r>
          </a:p>
        </p:txBody>
      </p:sp>
      <p:sp>
        <p:nvSpPr>
          <p:cNvPr id="15" name="Rounded Rectangle 14"/>
          <p:cNvSpPr/>
          <p:nvPr/>
        </p:nvSpPr>
        <p:spPr>
          <a:xfrm>
            <a:off x="274320" y="5166360"/>
            <a:ext cx="457200" cy="411480"/>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4</a:t>
            </a:r>
          </a:p>
        </p:txBody>
      </p:sp>
      <p:sp>
        <p:nvSpPr>
          <p:cNvPr id="16" name="TextBox 15"/>
          <p:cNvSpPr txBox="1"/>
          <p:nvPr/>
        </p:nvSpPr>
        <p:spPr>
          <a:xfrm>
            <a:off x="868680" y="5166360"/>
            <a:ext cx="11064240" cy="384048"/>
          </a:xfrm>
          <a:prstGeom prst="rect">
            <a:avLst/>
          </a:prstGeom>
          <a:noFill/>
        </p:spPr>
        <p:txBody>
          <a:bodyPr wrap="square">
            <a:spAutoFit/>
          </a:bodyPr>
          <a:lstStyle/>
          <a:p>
            <a:pPr algn="l"/>
            <a:r>
              <a:rPr sz="1400" b="1" i="0">
                <a:solidFill>
                  <a:srgbClr val="1F3864"/>
                </a:solidFill>
                <a:latin typeface="Calibri"/>
              </a:rPr>
              <a:t>Production-Ready Deployment — Free-Tier Infrastructure</a:t>
            </a:r>
          </a:p>
        </p:txBody>
      </p:sp>
      <p:sp>
        <p:nvSpPr>
          <p:cNvPr id="17" name="TextBox 16"/>
          <p:cNvSpPr txBox="1"/>
          <p:nvPr/>
        </p:nvSpPr>
        <p:spPr>
          <a:xfrm>
            <a:off x="868680" y="5577840"/>
            <a:ext cx="11064240" cy="658368"/>
          </a:xfrm>
          <a:prstGeom prst="rect">
            <a:avLst/>
          </a:prstGeom>
          <a:noFill/>
        </p:spPr>
        <p:txBody>
          <a:bodyPr wrap="square">
            <a:spAutoFit/>
          </a:bodyPr>
          <a:lstStyle/>
          <a:p>
            <a:pPr algn="l"/>
            <a:r>
              <a:rPr sz="1100" b="0" i="0">
                <a:solidFill>
                  <a:srgbClr val="404040"/>
                </a:solidFill>
                <a:latin typeface="Calibri"/>
              </a:rPr>
              <a:t>FastAPI web app.  Groq + Cerebras (13 models, automatic failover).  No dedicated GPU.  Codebase: github.com/Up14/Knowledge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164592"/>
            <a:ext cx="2377440" cy="384048"/>
          </a:xfrm>
          <a:prstGeom prst="round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Future Work</a:t>
            </a:r>
          </a:p>
        </p:txBody>
      </p:sp>
      <p:sp>
        <p:nvSpPr>
          <p:cNvPr id="4" name="TextBox 3"/>
          <p:cNvSpPr txBox="1"/>
          <p:nvPr/>
        </p:nvSpPr>
        <p:spPr>
          <a:xfrm>
            <a:off x="228600" y="658368"/>
            <a:ext cx="11731752" cy="566928"/>
          </a:xfrm>
          <a:prstGeom prst="rect">
            <a:avLst/>
          </a:prstGeom>
          <a:noFill/>
        </p:spPr>
        <p:txBody>
          <a:bodyPr wrap="square">
            <a:spAutoFit/>
          </a:bodyPr>
          <a:lstStyle/>
          <a:p>
            <a:pPr algn="l"/>
            <a:r>
              <a:rPr sz="2200" b="1" i="0">
                <a:solidFill>
                  <a:srgbClr val="000000"/>
                </a:solidFill>
                <a:latin typeface="Calibri"/>
              </a:rPr>
              <a:t>Planned Extensions to KGMiner</a:t>
            </a:r>
          </a:p>
        </p:txBody>
      </p:sp>
      <p:sp>
        <p:nvSpPr>
          <p:cNvPr id="5" name="Rectangle 4"/>
          <p:cNvSpPr/>
          <p:nvPr/>
        </p:nvSpPr>
        <p:spPr>
          <a:xfrm>
            <a:off x="228600" y="1280160"/>
            <a:ext cx="11731752" cy="36576"/>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 y="1444752"/>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1536192"/>
            <a:ext cx="5349240" cy="438912"/>
          </a:xfrm>
          <a:prstGeom prst="rect">
            <a:avLst/>
          </a:prstGeom>
          <a:noFill/>
        </p:spPr>
        <p:txBody>
          <a:bodyPr wrap="square">
            <a:spAutoFit/>
          </a:bodyPr>
          <a:lstStyle/>
          <a:p>
            <a:pPr algn="l"/>
            <a:r>
              <a:rPr sz="1200" b="1" i="0">
                <a:solidFill>
                  <a:srgbClr val="1F3864"/>
                </a:solidFill>
                <a:latin typeface="Calibri"/>
              </a:rPr>
              <a:t>Ontology Expansion</a:t>
            </a:r>
          </a:p>
        </p:txBody>
      </p:sp>
      <p:sp>
        <p:nvSpPr>
          <p:cNvPr id="8" name="TextBox 7"/>
          <p:cNvSpPr txBox="1"/>
          <p:nvPr/>
        </p:nvSpPr>
        <p:spPr>
          <a:xfrm>
            <a:off x="438912" y="2011680"/>
            <a:ext cx="5349240" cy="987552"/>
          </a:xfrm>
          <a:prstGeom prst="rect">
            <a:avLst/>
          </a:prstGeom>
          <a:noFill/>
        </p:spPr>
        <p:txBody>
          <a:bodyPr wrap="square">
            <a:spAutoFit/>
          </a:bodyPr>
          <a:lstStyle/>
          <a:p>
            <a:pPr algn="l"/>
            <a:r>
              <a:rPr sz="1000" b="0" i="0">
                <a:solidFill>
                  <a:srgbClr val="404040"/>
                </a:solidFill>
                <a:latin typeface="Calibri"/>
              </a:rPr>
              <a:t>13 relations cover 73.5%. Analysis of 512 non-canonical strings → add 5-7 types (is_substrate_of, competes_with, is_precursor_to) → coverage above 85%.</a:t>
            </a:r>
          </a:p>
        </p:txBody>
      </p:sp>
      <p:sp>
        <p:nvSpPr>
          <p:cNvPr id="9" name="Rounded Rectangle 8"/>
          <p:cNvSpPr/>
          <p:nvPr/>
        </p:nvSpPr>
        <p:spPr>
          <a:xfrm>
            <a:off x="6355080" y="1444752"/>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1536192"/>
            <a:ext cx="5349240" cy="438912"/>
          </a:xfrm>
          <a:prstGeom prst="rect">
            <a:avLst/>
          </a:prstGeom>
          <a:noFill/>
        </p:spPr>
        <p:txBody>
          <a:bodyPr wrap="square">
            <a:spAutoFit/>
          </a:bodyPr>
          <a:lstStyle/>
          <a:p>
            <a:pPr algn="l"/>
            <a:r>
              <a:rPr sz="1200" b="1" i="0">
                <a:solidFill>
                  <a:srgbClr val="1F3864"/>
                </a:solidFill>
                <a:latin typeface="Calibri"/>
              </a:rPr>
              <a:t>Full-Text Processing</a:t>
            </a:r>
          </a:p>
        </p:txBody>
      </p:sp>
      <p:sp>
        <p:nvSpPr>
          <p:cNvPr id="11" name="TextBox 10"/>
          <p:cNvSpPr txBox="1"/>
          <p:nvPr/>
        </p:nvSpPr>
        <p:spPr>
          <a:xfrm>
            <a:off x="6519672" y="2011680"/>
            <a:ext cx="5349240" cy="987552"/>
          </a:xfrm>
          <a:prstGeom prst="rect">
            <a:avLst/>
          </a:prstGeom>
          <a:noFill/>
        </p:spPr>
        <p:txBody>
          <a:bodyPr wrap="square">
            <a:spAutoFit/>
          </a:bodyPr>
          <a:lstStyle/>
          <a:p>
            <a:pPr algn="l"/>
            <a:r>
              <a:rPr sz="1000" b="0" i="0">
                <a:solidFill>
                  <a:srgbClr val="404040"/>
                </a:solidFill>
                <a:latin typeface="Calibri"/>
              </a:rPr>
              <a:t>Currently abstracts only. PubMed Central Open Access would give methods + results sections → higher triple density and metric capture.</a:t>
            </a:r>
          </a:p>
        </p:txBody>
      </p:sp>
      <p:sp>
        <p:nvSpPr>
          <p:cNvPr id="12" name="Rounded Rectangle 11"/>
          <p:cNvSpPr/>
          <p:nvPr/>
        </p:nvSpPr>
        <p:spPr>
          <a:xfrm>
            <a:off x="274320" y="3200400"/>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291840"/>
            <a:ext cx="5349240" cy="438912"/>
          </a:xfrm>
          <a:prstGeom prst="rect">
            <a:avLst/>
          </a:prstGeom>
          <a:noFill/>
        </p:spPr>
        <p:txBody>
          <a:bodyPr wrap="square">
            <a:spAutoFit/>
          </a:bodyPr>
          <a:lstStyle/>
          <a:p>
            <a:pPr algn="l"/>
            <a:r>
              <a:rPr sz="1200" b="1" i="0">
                <a:solidFill>
                  <a:srgbClr val="1F3864"/>
                </a:solidFill>
                <a:latin typeface="Calibri"/>
              </a:rPr>
              <a:t>Dynamic Graph Database (Neo4j)</a:t>
            </a:r>
          </a:p>
        </p:txBody>
      </p:sp>
      <p:sp>
        <p:nvSpPr>
          <p:cNvPr id="14" name="TextBox 13"/>
          <p:cNvSpPr txBox="1"/>
          <p:nvPr/>
        </p:nvSpPr>
        <p:spPr>
          <a:xfrm>
            <a:off x="438912" y="3767328"/>
            <a:ext cx="5349240" cy="987552"/>
          </a:xfrm>
          <a:prstGeom prst="rect">
            <a:avLst/>
          </a:prstGeom>
          <a:noFill/>
        </p:spPr>
        <p:txBody>
          <a:bodyPr wrap="square">
            <a:spAutoFit/>
          </a:bodyPr>
          <a:lstStyle/>
          <a:p>
            <a:pPr algn="l"/>
            <a:r>
              <a:rPr sz="1000" b="0" i="0">
                <a:solidFill>
                  <a:srgbClr val="404040"/>
                </a:solidFill>
                <a:latin typeface="Calibri"/>
              </a:rPr>
              <a:t>Replace NetworkX with Neo4j for Cypher queries, multi-hop path finding (glucose → beta-carotene shortest route), and real-time updates.</a:t>
            </a:r>
          </a:p>
        </p:txBody>
      </p:sp>
      <p:sp>
        <p:nvSpPr>
          <p:cNvPr id="15" name="Rounded Rectangle 14"/>
          <p:cNvSpPr/>
          <p:nvPr/>
        </p:nvSpPr>
        <p:spPr>
          <a:xfrm>
            <a:off x="6355080" y="3200400"/>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3291840"/>
            <a:ext cx="5349240" cy="438912"/>
          </a:xfrm>
          <a:prstGeom prst="rect">
            <a:avLst/>
          </a:prstGeom>
          <a:noFill/>
        </p:spPr>
        <p:txBody>
          <a:bodyPr wrap="square">
            <a:spAutoFit/>
          </a:bodyPr>
          <a:lstStyle/>
          <a:p>
            <a:pPr algn="l"/>
            <a:r>
              <a:rPr sz="1200" b="1" i="0">
                <a:solidFill>
                  <a:srgbClr val="1F3864"/>
                </a:solidFill>
                <a:latin typeface="Calibri"/>
              </a:rPr>
              <a:t>Hypothesis Generation Module</a:t>
            </a:r>
          </a:p>
        </p:txBody>
      </p:sp>
      <p:sp>
        <p:nvSpPr>
          <p:cNvPr id="17" name="TextBox 16"/>
          <p:cNvSpPr txBox="1"/>
          <p:nvPr/>
        </p:nvSpPr>
        <p:spPr>
          <a:xfrm>
            <a:off x="6519672" y="3767328"/>
            <a:ext cx="5349240" cy="987552"/>
          </a:xfrm>
          <a:prstGeom prst="rect">
            <a:avLst/>
          </a:prstGeom>
          <a:noFill/>
        </p:spPr>
        <p:txBody>
          <a:bodyPr wrap="square">
            <a:spAutoFit/>
          </a:bodyPr>
          <a:lstStyle/>
          <a:p>
            <a:pPr algn="l"/>
            <a:r>
              <a:rPr sz="1000" b="0" i="0">
                <a:solidFill>
                  <a:srgbClr val="404040"/>
                </a:solidFill>
                <a:latin typeface="Calibri"/>
              </a:rPr>
              <a:t>If Org A has_capability lipid accumulation AND Org B produces beta-carotene → suggest testing Org A as host. Closes the DBTL loop.</a:t>
            </a:r>
          </a:p>
        </p:txBody>
      </p:sp>
      <p:sp>
        <p:nvSpPr>
          <p:cNvPr id="18" name="Rounded Rectangle 17"/>
          <p:cNvSpPr/>
          <p:nvPr/>
        </p:nvSpPr>
        <p:spPr>
          <a:xfrm>
            <a:off x="274320" y="4956048"/>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5047488"/>
            <a:ext cx="5349240" cy="438912"/>
          </a:xfrm>
          <a:prstGeom prst="rect">
            <a:avLst/>
          </a:prstGeom>
          <a:noFill/>
        </p:spPr>
        <p:txBody>
          <a:bodyPr wrap="square">
            <a:spAutoFit/>
          </a:bodyPr>
          <a:lstStyle/>
          <a:p>
            <a:pPr algn="l"/>
            <a:r>
              <a:rPr sz="1200" b="1" i="0">
                <a:solidFill>
                  <a:srgbClr val="1F3864"/>
                </a:solidFill>
                <a:latin typeface="Calibri"/>
              </a:rPr>
              <a:t>Cross-Domain Validation</a:t>
            </a:r>
          </a:p>
        </p:txBody>
      </p:sp>
      <p:sp>
        <p:nvSpPr>
          <p:cNvPr id="20" name="TextBox 19"/>
          <p:cNvSpPr txBox="1"/>
          <p:nvPr/>
        </p:nvSpPr>
        <p:spPr>
          <a:xfrm>
            <a:off x="438912" y="5522976"/>
            <a:ext cx="5349240" cy="987552"/>
          </a:xfrm>
          <a:prstGeom prst="rect">
            <a:avLst/>
          </a:prstGeom>
          <a:noFill/>
        </p:spPr>
        <p:txBody>
          <a:bodyPr wrap="square">
            <a:spAutoFit/>
          </a:bodyPr>
          <a:lstStyle/>
          <a:p>
            <a:pPr algn="l"/>
            <a:r>
              <a:rPr sz="1000" b="0" i="0">
                <a:solidFill>
                  <a:srgbClr val="404040"/>
                </a:solidFill>
                <a:latin typeface="Calibri"/>
              </a:rPr>
              <a:t>Validate against BRENDA, MetaCyc, ChEMBL for rigorous precision/recall beyond the 15-article ablation used here.</a:t>
            </a:r>
          </a:p>
        </p:txBody>
      </p:sp>
      <p:sp>
        <p:nvSpPr>
          <p:cNvPr id="21" name="Rounded Rectangle 20"/>
          <p:cNvSpPr/>
          <p:nvPr/>
        </p:nvSpPr>
        <p:spPr>
          <a:xfrm>
            <a:off x="6355080" y="4956048"/>
            <a:ext cx="5669280" cy="1627632"/>
          </a:xfrm>
          <a:prstGeom prst="roundRect">
            <a:avLst/>
          </a:prstGeom>
          <a:solidFill>
            <a:srgbClr val="F2F2F2"/>
          </a:solidFill>
          <a:ln w="10160">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5047488"/>
            <a:ext cx="5349240" cy="438912"/>
          </a:xfrm>
          <a:prstGeom prst="rect">
            <a:avLst/>
          </a:prstGeom>
          <a:noFill/>
        </p:spPr>
        <p:txBody>
          <a:bodyPr wrap="square">
            <a:spAutoFit/>
          </a:bodyPr>
          <a:lstStyle/>
          <a:p>
            <a:pPr algn="l"/>
            <a:r>
              <a:rPr sz="1200" b="1" i="0">
                <a:solidFill>
                  <a:srgbClr val="1F3864"/>
                </a:solidFill>
                <a:latin typeface="Calibri"/>
              </a:rPr>
              <a:t>Real-Time Literature Monitoring</a:t>
            </a:r>
          </a:p>
        </p:txBody>
      </p:sp>
      <p:sp>
        <p:nvSpPr>
          <p:cNvPr id="23" name="TextBox 22"/>
          <p:cNvSpPr txBox="1"/>
          <p:nvPr/>
        </p:nvSpPr>
        <p:spPr>
          <a:xfrm>
            <a:off x="6519672" y="5522976"/>
            <a:ext cx="5349240" cy="987552"/>
          </a:xfrm>
          <a:prstGeom prst="rect">
            <a:avLst/>
          </a:prstGeom>
          <a:noFill/>
        </p:spPr>
        <p:txBody>
          <a:bodyPr wrap="square">
            <a:spAutoFit/>
          </a:bodyPr>
          <a:lstStyle/>
          <a:p>
            <a:pPr algn="l"/>
            <a:r>
              <a:rPr sz="1000" b="0" i="0">
                <a:solidFill>
                  <a:srgbClr val="404040"/>
                </a:solidFill>
                <a:latin typeface="Calibri"/>
              </a:rPr>
              <a:t>PubMed E-utilities notifications → auto-process new publications → 'living' knowledge bases that grow with the field.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200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it_logo.png"/>
          <p:cNvPicPr>
            <a:picLocks noChangeAspect="1"/>
          </p:cNvPicPr>
          <p:nvPr/>
        </p:nvPicPr>
        <p:blipFill>
          <a:blip r:embed="rId2"/>
          <a:stretch>
            <a:fillRect/>
          </a:stretch>
        </p:blipFill>
        <p:spPr>
          <a:xfrm>
            <a:off x="5394960" y="640080"/>
            <a:ext cx="1399032" cy="1399032"/>
          </a:xfrm>
          <a:prstGeom prst="rect">
            <a:avLst/>
          </a:prstGeom>
        </p:spPr>
      </p:pic>
      <p:sp>
        <p:nvSpPr>
          <p:cNvPr id="5" name="TextBox 4"/>
          <p:cNvSpPr txBox="1"/>
          <p:nvPr/>
        </p:nvSpPr>
        <p:spPr>
          <a:xfrm>
            <a:off x="0" y="2331720"/>
            <a:ext cx="12188952" cy="914400"/>
          </a:xfrm>
          <a:prstGeom prst="rect">
            <a:avLst/>
          </a:prstGeom>
          <a:noFill/>
        </p:spPr>
        <p:txBody>
          <a:bodyPr wrap="square">
            <a:spAutoFit/>
          </a:bodyPr>
          <a:lstStyle/>
          <a:p>
            <a:pPr algn="ctr"/>
            <a:r>
              <a:rPr sz="4000" b="1" i="0">
                <a:solidFill>
                  <a:srgbClr val="1F3864"/>
                </a:solidFill>
                <a:latin typeface="Calibri"/>
              </a:rPr>
              <a:t>Thank You</a:t>
            </a:r>
          </a:p>
        </p:txBody>
      </p:sp>
      <p:sp>
        <p:nvSpPr>
          <p:cNvPr id="6" name="Rectangle 5"/>
          <p:cNvSpPr/>
          <p:nvPr/>
        </p:nvSpPr>
        <p:spPr>
          <a:xfrm>
            <a:off x="3200400" y="3383280"/>
            <a:ext cx="5788152" cy="54864"/>
          </a:xfrm>
          <a:prstGeom prst="rect">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566160"/>
            <a:ext cx="12188952" cy="475488"/>
          </a:xfrm>
          <a:prstGeom prst="rect">
            <a:avLst/>
          </a:prstGeom>
          <a:noFill/>
        </p:spPr>
        <p:txBody>
          <a:bodyPr wrap="square">
            <a:spAutoFit/>
          </a:bodyPr>
          <a:lstStyle/>
          <a:p>
            <a:pPr algn="ctr"/>
            <a:r>
              <a:rPr sz="1600" b="0" i="0">
                <a:solidFill>
                  <a:srgbClr val="404040"/>
                </a:solidFill>
                <a:latin typeface="Calibri"/>
              </a:rPr>
              <a:t>KGMiner — BTP2 Presentation</a:t>
            </a:r>
          </a:p>
        </p:txBody>
      </p:sp>
      <p:sp>
        <p:nvSpPr>
          <p:cNvPr id="8" name="TextBox 7"/>
          <p:cNvSpPr txBox="1"/>
          <p:nvPr/>
        </p:nvSpPr>
        <p:spPr>
          <a:xfrm>
            <a:off x="0" y="4206240"/>
            <a:ext cx="12188952" cy="731520"/>
          </a:xfrm>
          <a:prstGeom prst="rect">
            <a:avLst/>
          </a:prstGeom>
          <a:noFill/>
        </p:spPr>
        <p:txBody>
          <a:bodyPr wrap="square">
            <a:spAutoFit/>
          </a:bodyPr>
          <a:lstStyle/>
          <a:p>
            <a:pPr algn="ctr"/>
            <a:r>
              <a:rPr sz="1400" b="0" i="0">
                <a:solidFill>
                  <a:srgbClr val="404040"/>
                </a:solidFill>
                <a:latin typeface="Calibri"/>
              </a:rPr>
              <a:t>Upanshu Jain  |  Roll: 22BT10035
Dept. of Biotechnology &amp; Biochemical Engineering</a:t>
            </a:r>
          </a:p>
        </p:txBody>
      </p:sp>
      <p:sp>
        <p:nvSpPr>
          <p:cNvPr id="9" name="TextBox 8"/>
          <p:cNvSpPr txBox="1"/>
          <p:nvPr/>
        </p:nvSpPr>
        <p:spPr>
          <a:xfrm>
            <a:off x="0" y="5047488"/>
            <a:ext cx="12188952" cy="457200"/>
          </a:xfrm>
          <a:prstGeom prst="rect">
            <a:avLst/>
          </a:prstGeom>
          <a:noFill/>
        </p:spPr>
        <p:txBody>
          <a:bodyPr wrap="square">
            <a:spAutoFit/>
          </a:bodyPr>
          <a:lstStyle/>
          <a:p>
            <a:pPr algn="ctr"/>
            <a:r>
              <a:rPr sz="1200" b="0" i="0">
                <a:solidFill>
                  <a:srgbClr val="404040"/>
                </a:solidFill>
                <a:latin typeface="Calibri"/>
              </a:rPr>
              <a:t>Supervisor: Prof. Amit Ghosh  |  Energy Science &amp; Engineering  |  IIT Kharagpur</a:t>
            </a:r>
          </a:p>
        </p:txBody>
      </p:sp>
      <p:sp>
        <p:nvSpPr>
          <p:cNvPr id="10" name="TextBox 9"/>
          <p:cNvSpPr txBox="1"/>
          <p:nvPr/>
        </p:nvSpPr>
        <p:spPr>
          <a:xfrm>
            <a:off x="0" y="5623560"/>
            <a:ext cx="12188952" cy="365760"/>
          </a:xfrm>
          <a:prstGeom prst="rect">
            <a:avLst/>
          </a:prstGeom>
          <a:noFill/>
        </p:spPr>
        <p:txBody>
          <a:bodyPr wrap="square">
            <a:spAutoFit/>
          </a:bodyPr>
          <a:lstStyle/>
          <a:p>
            <a:pPr algn="ctr"/>
            <a:r>
              <a:rPr sz="1100" b="0" i="1">
                <a:solidFill>
                  <a:srgbClr val="4472C4"/>
                </a:solidFill>
                <a:latin typeface="Calibri"/>
              </a:rPr>
              <a:t>github.com/Up14/Knowledge  |  Spring 2025-26</a:t>
            </a:r>
          </a:p>
        </p:txBody>
      </p:sp>
      <p:sp>
        <p:nvSpPr>
          <p:cNvPr id="11" name="Rectangle 10"/>
          <p:cNvSpPr/>
          <p:nvPr/>
        </p:nvSpPr>
        <p:spPr>
          <a:xfrm>
            <a:off x="0" y="6537960"/>
            <a:ext cx="12188952" cy="3200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